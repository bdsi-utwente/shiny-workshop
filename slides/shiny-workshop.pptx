
<file path=[Content_Types].xml><?xml version="1.0" encoding="utf-8"?>
<Types xmlns="http://schemas.openxmlformats.org/package/2006/content-types">
  <Default Extension="xml" ContentType="application/xml"/>
  <Default Extension="gif" ContentType="image/gif"/>
  <Default Extension="jpg" ContentType="image/jpeg"/>
  <Default Extension="svg" ContentType="image/svg+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21.xml" ContentType="application/vnd.openxmlformats-officedocument.presentationml.notesSlide+xml"/>
  <Override PartName="/ppt/notesSlides/notesSlide14.xml" ContentType="application/vnd.openxmlformats-officedocument.presentationml.notesSlide+xml"/>
  <Override PartName="/ppt/slides/slide24.xml" ContentType="application/vnd.openxmlformats-officedocument.presentationml.slide+xml"/>
  <Override PartName="/ppt/slides/slide23.xml" ContentType="application/vnd.openxmlformats-officedocument.presentationml.slide+xml"/>
  <Override PartName="/ppt/notesSlides/notesSlide20.xml" ContentType="application/vnd.openxmlformats-officedocument.presentationml.notesSlide+xml"/>
  <Override PartName="/ppt/notesSlides/notesSlide10.xml" ContentType="application/vnd.openxmlformats-officedocument.presentationml.notesSlide+xml"/>
  <Override PartName="/ppt/slides/slide21.xml" ContentType="application/vnd.openxmlformats-officedocument.presentationml.slide+xml"/>
  <Override PartName="/ppt/slides/slide20.xml" ContentType="application/vnd.openxmlformats-officedocument.presentationml.slide+xml"/>
  <Override PartName="/ppt/slideLayouts/slideLayout3.xml" ContentType="application/vnd.openxmlformats-officedocument.presentationml.slideLayout+xml"/>
  <Override PartName="/ppt/notesSlides/notesSlide22.xml" ContentType="application/vnd.openxmlformats-officedocument.presentationml.notesSlide+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theme/theme3.xml" ContentType="application/vnd.openxmlformats-officedocument.theme+xml"/>
  <Override PartName="/ppt/theme/theme1.xml" ContentType="application/vnd.openxmlformats-officedocument.theme+xml"/>
  <Override PartName="/ppt/slideLayouts/slideLayout9.xml" ContentType="application/vnd.openxmlformats-officedocument.presentationml.slideLayout+xml"/>
  <Override PartName="/ppt/slides/slide3.xml" ContentType="application/vnd.openxmlformats-officedocument.presentationml.slide+xml"/>
  <Override PartName="/ppt/notesSlides/notesSlide7.xml" ContentType="application/vnd.openxmlformats-officedocument.presentationml.notesSlide+xml"/>
  <Override PartName="/ppt/presentation.xml" ContentType="application/vnd.openxmlformats-officedocument.presentationml.presentation.main+xml"/>
  <Override PartName="/ppt/slides/slide8.xml" ContentType="application/vnd.openxmlformats-officedocument.presentationml.slide+xml"/>
  <Override PartName="/ppt/viewProps.xml" ContentType="application/vnd.openxmlformats-officedocument.presentationml.viewProps+xml"/>
  <Override PartName="/ppt/slideMasters/slideMaster1.xml" ContentType="application/vnd.openxmlformats-officedocument.presentationml.slideMaster+xml"/>
  <Override PartName="/ppt/slides/slide2.xml" ContentType="application/vnd.openxmlformats-officedocument.presentationml.slide+xml"/>
  <Override PartName="/docProps/core.xml" ContentType="application/vnd.openxmlformats-package.core-properties+xml"/>
  <Override PartName="/ppt/notesSlides/notesSlide19.xml" ContentType="application/vnd.openxmlformats-officedocument.presentationml.notesSlide+xml"/>
  <Override PartName="/customXml/itemProps3.xml" ContentType="application/vnd.openxmlformats-officedocument.customXmlProperties+xml"/>
  <Override PartName="/ppt/notesSlides/notesSlide11.xml" ContentType="application/vnd.openxmlformats-officedocument.presentationml.notesSlide+xml"/>
  <Override PartName="/ppt/slides/slide10.xml" ContentType="application/vnd.openxmlformats-officedocument.presentationml.slide+xml"/>
  <Override PartName="/docProps/app.xml" ContentType="application/vnd.openxmlformats-officedocument.extended-properties+xml"/>
  <Override PartName="/ppt/notesSlides/notesSlide4.xml" ContentType="application/vnd.openxmlformats-officedocument.presentationml.notesSlide+xml"/>
  <Override PartName="/ppt/tableStyles.xml" ContentType="application/vnd.openxmlformats-officedocument.presentationml.tableStyles+xml"/>
  <Override PartName="/ppt/slides/slide17.xml" ContentType="application/vnd.openxmlformats-officedocument.presentationml.slide+xml"/>
  <Override PartName="/ppt/slides/slide12.xml" ContentType="application/vnd.openxmlformats-officedocument.presentationml.slide+xml"/>
  <Override PartName="/customXml/itemProps2.xml" ContentType="application/vnd.openxmlformats-officedocument.customXmlProperties+xml"/>
  <Override PartName="/customXml/itemProps1.xml" ContentType="application/vnd.openxmlformats-officedocument.customXmlProperties+xml"/>
  <Override PartName="/ppt/notesSlides/notesSlide6.xml" ContentType="application/vnd.openxmlformats-officedocument.presentationml.notesSlide+xml"/>
  <Override PartName="/ppt/slides/slide4.xml" ContentType="application/vnd.openxmlformats-officedocument.presentationml.slide+xml"/>
  <Override PartName="/ppt/slideLayouts/slideLayout2.xml" ContentType="application/vnd.openxmlformats-officedocument.presentationml.slideLayout+xml"/>
  <Override PartName="/ppt/presProps.xml" ContentType="application/vnd.openxmlformats-officedocument.presentationml.presProps+xml"/>
  <Override PartName="/ppt/slideLayouts/slideLayout5.xml" ContentType="application/vnd.openxmlformats-officedocument.presentationml.slideLayout+xml"/>
  <Override PartName="/ppt/slides/slide7.xml" ContentType="application/vnd.openxmlformats-officedocument.presentationml.slide+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docProps/custom.xml" ContentType="application/vnd.openxmlformats-officedocument.custom-properties+xml"/>
  <Override PartName="/ppt/slideMasters/slideMaster2.xml" ContentType="application/vnd.openxmlformats-officedocument.presentationml.slideMaster+xml"/>
  <Override PartName="/ppt/slides/slide5.xml" ContentType="application/vnd.openxmlformats-officedocument.presentationml.slide+xml"/>
  <Override PartName="/ppt/theme/theme2.xml" ContentType="application/vnd.openxmlformats-officedocument.theme+xml"/>
  <Override PartName="/ppt/slides/slide13.xml" ContentType="application/vnd.openxmlformats-officedocument.presentationml.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slides/slide6.xml" ContentType="application/vnd.openxmlformats-officedocument.presentationml.slide+xml"/>
  <Override PartName="/ppt/slides/slide1.xml" ContentType="application/vnd.openxmlformats-officedocument.presentationml.slide+xml"/>
  <Override PartName="/ppt/notesSlides/notesSlide13.xml" ContentType="application/vnd.openxmlformats-officedocument.presentationml.notesSlide+xml"/>
  <Override PartName="/ppt/slides/slide9.xml" ContentType="application/vnd.openxmlformats-officedocument.presentationml.slide+xml"/>
  <Override PartName="/ppt/slides/slide11.xml" ContentType="application/vnd.openxmlformats-officedocument.presentationml.slide+xml"/>
  <Override PartName="/ppt/notesSlides/notesSlide15.xml" ContentType="application/vnd.openxmlformats-officedocument.presentationml.notesSlide+xml"/>
  <Override PartName="/ppt/slides/slide14.xml" ContentType="application/vnd.openxmlformats-officedocument.presentationml.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notesSlides/notesSlide17.xml" ContentType="application/vnd.openxmlformats-officedocument.presentationml.notesSlide+xml"/>
  <Override PartName="/ppt/slides/slide22.xml" ContentType="application/vnd.openxmlformats-officedocument.presentationml.slide+xml"/>
  <Override PartName="/ppt/slides/slide19.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showSpecialPlsOnTitleSld="0">
  <p:sldMasterIdLst>
    <p:sldMasterId id="2147483648" r:id="rId4"/>
    <p:sldMasterId id="2147483655" r:id="rId5"/>
  </p:sldMasterIdLst>
  <p:notesMasterIdLst>
    <p:notesMasterId r:id="rId33"/>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Lst>
  <p:sldSz cx="12192000" cy="6858000"/>
  <p:notesSz cx="6858000" cy="9144000"/>
  <p:custDataLst>
    <p:custData r:id="rId1"/>
    <p:custData r:id="rId2"/>
    <p:custData r:id="rId3"/>
  </p:custDataLst>
  <p:defaultText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19" d="100"/>
          <a:sy n="119" d="100"/>
        </p:scale>
        <p:origin x="1548" y="126"/>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theme" Target="theme/theme1.xml"/><Relationship Id="rId7" Type="http://schemas.openxmlformats.org/officeDocument/2006/relationships/theme" Target="theme/theme2.xml"/><Relationship Id="rId8" Type="http://schemas.openxmlformats.org/officeDocument/2006/relationships/theme" Target="theme/theme3.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notesMaster" Target="notesMasters/notesMaster1.xml"/><Relationship Id="rId34" Type="http://schemas.openxmlformats.org/officeDocument/2006/relationships/presProps" Target="presProps.xml" /><Relationship Id="rId35" Type="http://schemas.openxmlformats.org/officeDocument/2006/relationships/tableStyles" Target="tableStyles.xml" /><Relationship Id="rId36"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82546878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a:p>
        </p:txBody>
      </p:sp>
      <p:sp>
        <p:nvSpPr>
          <p:cNvPr id="1911297705"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C192C1EE-9FB9-4797-86C2-7306F5547C9A}" type="datetimeFigureOut">
              <a:rPr/>
              <a:t>19/10/2025</a:t>
            </a:fld>
            <a:endParaRPr/>
          </a:p>
        </p:txBody>
      </p:sp>
      <p:sp>
        <p:nvSpPr>
          <p:cNvPr id="953019793"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a:p>
        </p:txBody>
      </p:sp>
      <p:sp>
        <p:nvSpPr>
          <p:cNvPr id="1757605117"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8864292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54700216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B3C92FBA-C01C-4DAA-B6A9-47A1B3A2B610}" type="slidenum">
              <a:rPr/>
              <a:t>‹#›</a:t>
            </a:fld>
            <a:endParaRPr/>
          </a:p>
        </p:txBody>
      </p:sp>
    </p:spTree>
  </p:cSld>
  <p:clrMap bg1="lt1" tx1="dk1" bg2="lt2" tx2="dk2" accent1="accent1" accent2="accent2" accent3="accent3" accent4="accent4" accent5="accent5" accent6="accent6" hlink="hlink" folHlink="folHlink"/>
  <p:hf dt="0" ftr="0" hdr="0" sldNum="1"/>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0405824" name="Slide Image Placeholder 1"/>
          <p:cNvSpPr>
            <a:spLocks noChangeAspect="1" noGrp="1" noRot="1"/>
          </p:cNvSpPr>
          <p:nvPr>
            <p:ph type="sldImg"/>
          </p:nvPr>
        </p:nvSpPr>
        <p:spPr bwMode="auto"/>
      </p:sp>
      <p:sp>
        <p:nvSpPr>
          <p:cNvPr id="2064239631" name="Notes Placeholder 2"/>
          <p:cNvSpPr>
            <a:spLocks noGrp="1"/>
          </p:cNvSpPr>
          <p:nvPr>
            <p:ph type="body" idx="1"/>
          </p:nvPr>
        </p:nvSpPr>
        <p:spPr bwMode="auto"/>
        <p:txBody>
          <a:bodyPr/>
          <a:lstStyle/>
          <a:p>
            <a:pPr>
              <a:defRPr/>
            </a:pPr>
            <a:endParaRPr/>
          </a:p>
        </p:txBody>
      </p:sp>
      <p:sp>
        <p:nvSpPr>
          <p:cNvPr id="1775854095" name="Slide Number Placeholder 3"/>
          <p:cNvSpPr>
            <a:spLocks noGrp="1"/>
          </p:cNvSpPr>
          <p:nvPr>
            <p:ph type="sldNum" sz="quarter" idx="10"/>
          </p:nvPr>
        </p:nvSpPr>
        <p:spPr bwMode="auto"/>
        <p:txBody>
          <a:bodyPr/>
          <a:lstStyle/>
          <a:p>
            <a:pPr>
              <a:defRPr/>
            </a:pPr>
            <a:fld id="{04BF442D-9C4D-4319-AD4C-D00079C0AF31}"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2428721" name="Slide Image Placeholder 1"/>
          <p:cNvSpPr>
            <a:spLocks noChangeAspect="1" noGrp="1" noRot="1"/>
          </p:cNvSpPr>
          <p:nvPr>
            <p:ph type="sldImg"/>
          </p:nvPr>
        </p:nvSpPr>
        <p:spPr bwMode="auto"/>
      </p:sp>
      <p:sp>
        <p:nvSpPr>
          <p:cNvPr id="307446456" name="Notes Placeholder 2"/>
          <p:cNvSpPr>
            <a:spLocks noGrp="1"/>
          </p:cNvSpPr>
          <p:nvPr>
            <p:ph type="body" idx="1"/>
          </p:nvPr>
        </p:nvSpPr>
        <p:spPr bwMode="auto"/>
        <p:txBody>
          <a:bodyPr/>
          <a:lstStyle/>
          <a:p>
            <a:pPr marL="228600" indent="-228600">
              <a:buAutoNum type="arabicPeriod"/>
              <a:defRPr/>
            </a:pPr>
            <a:r>
              <a:rPr lang="en-GB"/>
              <a:t>Quick intro to what shiny does and how it does it</a:t>
            </a:r>
            <a:endParaRPr/>
          </a:p>
          <a:p>
            <a:pPr marL="228600" indent="-228600">
              <a:buAutoNum type="arabicPeriod"/>
              <a:defRPr/>
            </a:pPr>
            <a:r>
              <a:rPr lang="en-GB"/>
              <a:t>Group “hello world” minimal app</a:t>
            </a:r>
            <a:endParaRPr/>
          </a:p>
          <a:p>
            <a:pPr marL="228600" indent="-228600">
              <a:buAutoNum type="arabicPeriod"/>
              <a:defRPr/>
            </a:pPr>
            <a:r>
              <a:rPr lang="en-GB"/>
              <a:t>Practical, work on your own app, I may highlight some concepts with examples</a:t>
            </a:r>
            <a:endParaRPr/>
          </a:p>
        </p:txBody>
      </p:sp>
      <p:sp>
        <p:nvSpPr>
          <p:cNvPr id="303448301" name="Slide Number Placeholder 3"/>
          <p:cNvSpPr>
            <a:spLocks noGrp="1"/>
          </p:cNvSpPr>
          <p:nvPr>
            <p:ph type="sldNum" sz="quarter" idx="5"/>
          </p:nvPr>
        </p:nvSpPr>
        <p:spPr bwMode="auto"/>
        <p:txBody>
          <a:bodyPr/>
          <a:lstStyle/>
          <a:p>
            <a:pPr>
              <a:defRPr/>
            </a:pPr>
            <a:fld id="{B3C92FBA-C01C-4DAA-B6A9-47A1B3A2B610}"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84236386" name="Slide Image Placeholder 1"/>
          <p:cNvSpPr>
            <a:spLocks noChangeAspect="1" noGrp="1" noRot="1"/>
          </p:cNvSpPr>
          <p:nvPr>
            <p:ph type="sldImg"/>
          </p:nvPr>
        </p:nvSpPr>
        <p:spPr bwMode="auto"/>
      </p:sp>
      <p:sp>
        <p:nvSpPr>
          <p:cNvPr id="220816137" name="Notes Placeholder 2"/>
          <p:cNvSpPr>
            <a:spLocks noGrp="1"/>
          </p:cNvSpPr>
          <p:nvPr>
            <p:ph type="body" idx="1"/>
          </p:nvPr>
        </p:nvSpPr>
        <p:spPr bwMode="auto"/>
        <p:txBody>
          <a:bodyPr/>
          <a:lstStyle/>
          <a:p>
            <a:pPr>
              <a:defRPr/>
            </a:pPr>
            <a:endParaRPr/>
          </a:p>
        </p:txBody>
      </p:sp>
      <p:sp>
        <p:nvSpPr>
          <p:cNvPr id="1168856576" name="Slide Number Placeholder 3"/>
          <p:cNvSpPr>
            <a:spLocks noGrp="1"/>
          </p:cNvSpPr>
          <p:nvPr>
            <p:ph type="sldNum" sz="quarter" idx="10"/>
          </p:nvPr>
        </p:nvSpPr>
        <p:spPr bwMode="auto"/>
        <p:txBody>
          <a:bodyPr/>
          <a:lstStyle/>
          <a:p>
            <a:pPr>
              <a:defRPr/>
            </a:pPr>
            <a:fld id="{0C73E789-C699-0A77-52CA-026AD625C877}"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81756012" name="Slide Image Placeholder 1"/>
          <p:cNvSpPr>
            <a:spLocks noChangeAspect="1" noGrp="1" noRot="1"/>
          </p:cNvSpPr>
          <p:nvPr>
            <p:ph type="sldImg"/>
          </p:nvPr>
        </p:nvSpPr>
        <p:spPr bwMode="auto"/>
      </p:sp>
      <p:sp>
        <p:nvSpPr>
          <p:cNvPr id="1726436448" name="Notes Placeholder 2"/>
          <p:cNvSpPr>
            <a:spLocks noGrp="1"/>
          </p:cNvSpPr>
          <p:nvPr>
            <p:ph type="body" idx="1"/>
          </p:nvPr>
        </p:nvSpPr>
        <p:spPr bwMode="auto"/>
        <p:txBody>
          <a:bodyPr/>
          <a:lstStyle/>
          <a:p>
            <a:pPr>
              <a:defRPr/>
            </a:pPr>
            <a:endParaRPr/>
          </a:p>
        </p:txBody>
      </p:sp>
      <p:sp>
        <p:nvSpPr>
          <p:cNvPr id="1046086008" name="Slide Number Placeholder 3"/>
          <p:cNvSpPr>
            <a:spLocks noGrp="1"/>
          </p:cNvSpPr>
          <p:nvPr>
            <p:ph type="sldNum" sz="quarter" idx="10"/>
          </p:nvPr>
        </p:nvSpPr>
        <p:spPr bwMode="auto"/>
        <p:txBody>
          <a:bodyPr/>
          <a:lstStyle/>
          <a:p>
            <a:pPr>
              <a:defRPr/>
            </a:pPr>
            <a:fld id="{F79E7E59-997D-3655-CD31-EB369648EC0A}"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53478623" name="Slide Image Placeholder 1"/>
          <p:cNvSpPr>
            <a:spLocks noChangeAspect="1" noGrp="1" noRot="1"/>
          </p:cNvSpPr>
          <p:nvPr>
            <p:ph type="sldImg"/>
          </p:nvPr>
        </p:nvSpPr>
        <p:spPr bwMode="auto"/>
      </p:sp>
      <p:sp>
        <p:nvSpPr>
          <p:cNvPr id="607574041" name="Notes Placeholder 2"/>
          <p:cNvSpPr>
            <a:spLocks noGrp="1"/>
          </p:cNvSpPr>
          <p:nvPr>
            <p:ph type="body" idx="1"/>
          </p:nvPr>
        </p:nvSpPr>
        <p:spPr bwMode="auto"/>
        <p:txBody>
          <a:bodyPr/>
          <a:lstStyle/>
          <a:p>
            <a:pPr>
              <a:defRPr/>
            </a:pPr>
            <a:r>
              <a:rPr lang="en-GB"/>
              <a:t>Shiny is a WEBSERVER. You don’t interact directly with it like a normal script, you open the app in a browser and it connects to the server. </a:t>
            </a:r>
            <a:br>
              <a:rPr lang="en-GB"/>
            </a:br>
            <a:br>
              <a:rPr lang="en-GB"/>
            </a:br>
            <a:r>
              <a:rPr lang="en-GB"/>
              <a:t>The server can be your own laptop, or a server somewhere else.</a:t>
            </a:r>
            <a:endParaRPr/>
          </a:p>
        </p:txBody>
      </p:sp>
      <p:sp>
        <p:nvSpPr>
          <p:cNvPr id="1332093343" name="Slide Number Placeholder 3"/>
          <p:cNvSpPr>
            <a:spLocks noGrp="1"/>
          </p:cNvSpPr>
          <p:nvPr>
            <p:ph type="sldNum" sz="quarter" idx="5"/>
          </p:nvPr>
        </p:nvSpPr>
        <p:spPr bwMode="auto"/>
        <p:txBody>
          <a:bodyPr/>
          <a:lstStyle/>
          <a:p>
            <a:pPr>
              <a:defRPr/>
            </a:pPr>
            <a:fld id="{B3C92FBA-C01C-4DAA-B6A9-47A1B3A2B610}"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26419204" name="Slide Image Placeholder 1"/>
          <p:cNvSpPr>
            <a:spLocks noChangeAspect="1" noGrp="1" noRot="1"/>
          </p:cNvSpPr>
          <p:nvPr>
            <p:ph type="sldImg"/>
          </p:nvPr>
        </p:nvSpPr>
        <p:spPr bwMode="auto"/>
      </p:sp>
      <p:sp>
        <p:nvSpPr>
          <p:cNvPr id="1693331204" name="Notes Placeholder 2"/>
          <p:cNvSpPr>
            <a:spLocks noGrp="1"/>
          </p:cNvSpPr>
          <p:nvPr>
            <p:ph type="body" idx="1"/>
          </p:nvPr>
        </p:nvSpPr>
        <p:spPr bwMode="auto"/>
        <p:txBody>
          <a:bodyPr/>
          <a:lstStyle/>
          <a:p>
            <a:pPr>
              <a:defRPr/>
            </a:pPr>
            <a:r>
              <a:rPr lang="en-GB"/>
              <a:t>If you’re like me it could be an old server in your attic (though I don’t have to be there for it to work – remember, it’s a webserver)</a:t>
            </a:r>
            <a:endParaRPr/>
          </a:p>
        </p:txBody>
      </p:sp>
      <p:sp>
        <p:nvSpPr>
          <p:cNvPr id="116412654" name="Slide Number Placeholder 3"/>
          <p:cNvSpPr>
            <a:spLocks noGrp="1"/>
          </p:cNvSpPr>
          <p:nvPr>
            <p:ph type="sldNum" sz="quarter" idx="5"/>
          </p:nvPr>
        </p:nvSpPr>
        <p:spPr bwMode="auto"/>
        <p:txBody>
          <a:bodyPr/>
          <a:lstStyle/>
          <a:p>
            <a:pPr>
              <a:defRPr/>
            </a:pPr>
            <a:fld id="{B3C92FBA-C01C-4DAA-B6A9-47A1B3A2B610}" type="slidenum">
              <a:rP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8173474" name="Slide Image Placeholder 1"/>
          <p:cNvSpPr>
            <a:spLocks noChangeAspect="1" noGrp="1" noRot="1"/>
          </p:cNvSpPr>
          <p:nvPr>
            <p:ph type="sldImg"/>
          </p:nvPr>
        </p:nvSpPr>
        <p:spPr bwMode="auto"/>
      </p:sp>
      <p:sp>
        <p:nvSpPr>
          <p:cNvPr id="1603896295" name="Notes Placeholder 2"/>
          <p:cNvSpPr>
            <a:spLocks noGrp="1"/>
          </p:cNvSpPr>
          <p:nvPr>
            <p:ph type="body" idx="1"/>
          </p:nvPr>
        </p:nvSpPr>
        <p:spPr bwMode="auto"/>
        <p:txBody>
          <a:bodyPr/>
          <a:lstStyle/>
          <a:p>
            <a:pPr>
              <a:defRPr/>
            </a:pPr>
            <a:r>
              <a:rPr lang="en-GB"/>
              <a:t>Or, more likely, it’s in “the cloud” somewhere. </a:t>
            </a:r>
            <a:endParaRPr/>
          </a:p>
          <a:p>
            <a:pPr>
              <a:defRPr/>
            </a:pPr>
            <a:endParaRPr lang="en-GB"/>
          </a:p>
          <a:p>
            <a:pPr>
              <a:defRPr/>
            </a:pPr>
            <a:r>
              <a:rPr lang="en-GB"/>
              <a:t>Keep in mind that the cloud just means </a:t>
            </a:r>
            <a:r>
              <a:rPr lang="en-GB" i="1"/>
              <a:t>someone else’s computer</a:t>
            </a:r>
            <a:r>
              <a:rPr lang="en-GB" i="0"/>
              <a:t>, so be careful with sensitive data!</a:t>
            </a:r>
            <a:endParaRPr/>
          </a:p>
        </p:txBody>
      </p:sp>
      <p:sp>
        <p:nvSpPr>
          <p:cNvPr id="2102251065" name="Slide Number Placeholder 3"/>
          <p:cNvSpPr>
            <a:spLocks noGrp="1"/>
          </p:cNvSpPr>
          <p:nvPr>
            <p:ph type="sldNum" sz="quarter" idx="5"/>
          </p:nvPr>
        </p:nvSpPr>
        <p:spPr bwMode="auto"/>
        <p:txBody>
          <a:bodyPr/>
          <a:lstStyle/>
          <a:p>
            <a:pPr>
              <a:defRPr/>
            </a:pPr>
            <a:fld id="{B3C92FBA-C01C-4DAA-B6A9-47A1B3A2B610}" type="slidenum">
              <a:rP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01035941" name="Slide Image Placeholder 1"/>
          <p:cNvSpPr>
            <a:spLocks noChangeAspect="1" noGrp="1" noRot="1"/>
          </p:cNvSpPr>
          <p:nvPr>
            <p:ph type="sldImg"/>
          </p:nvPr>
        </p:nvSpPr>
        <p:spPr bwMode="auto"/>
      </p:sp>
      <p:sp>
        <p:nvSpPr>
          <p:cNvPr id="990714660" name="Notes Placeholder 2"/>
          <p:cNvSpPr>
            <a:spLocks noGrp="1"/>
          </p:cNvSpPr>
          <p:nvPr>
            <p:ph type="body" idx="1"/>
          </p:nvPr>
        </p:nvSpPr>
        <p:spPr bwMode="auto"/>
        <p:txBody>
          <a:bodyPr/>
          <a:lstStyle/>
          <a:p>
            <a:pPr>
              <a:defRPr/>
            </a:pPr>
            <a:r>
              <a:rPr lang="en-GB"/>
              <a:t>The user interface uses common web tech, i.e. html, </a:t>
            </a:r>
            <a:r>
              <a:rPr lang="en-GB"/>
              <a:t>css</a:t>
            </a:r>
            <a:r>
              <a:rPr lang="en-GB"/>
              <a:t>, </a:t>
            </a:r>
            <a:r>
              <a:rPr lang="en-GB"/>
              <a:t>javascript</a:t>
            </a:r>
            <a:r>
              <a:rPr lang="en-GB"/>
              <a:t>.</a:t>
            </a:r>
            <a:endParaRPr/>
          </a:p>
        </p:txBody>
      </p:sp>
      <p:sp>
        <p:nvSpPr>
          <p:cNvPr id="1130993403" name="Slide Number Placeholder 3"/>
          <p:cNvSpPr>
            <a:spLocks noGrp="1"/>
          </p:cNvSpPr>
          <p:nvPr>
            <p:ph type="sldNum" sz="quarter" idx="5"/>
          </p:nvPr>
        </p:nvSpPr>
        <p:spPr bwMode="auto"/>
        <p:txBody>
          <a:bodyPr/>
          <a:lstStyle/>
          <a:p>
            <a:pPr>
              <a:defRPr/>
            </a:pPr>
            <a:fld id="{B3C92FBA-C01C-4DAA-B6A9-47A1B3A2B610}"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10332828" name="Slide Image Placeholder 1"/>
          <p:cNvSpPr>
            <a:spLocks noChangeAspect="1" noGrp="1" noRot="1"/>
          </p:cNvSpPr>
          <p:nvPr>
            <p:ph type="sldImg"/>
          </p:nvPr>
        </p:nvSpPr>
        <p:spPr bwMode="auto"/>
      </p:sp>
      <p:sp>
        <p:nvSpPr>
          <p:cNvPr id="1814284290" name="Notes Placeholder 2"/>
          <p:cNvSpPr>
            <a:spLocks noGrp="1"/>
          </p:cNvSpPr>
          <p:nvPr>
            <p:ph type="body" idx="1"/>
          </p:nvPr>
        </p:nvSpPr>
        <p:spPr bwMode="auto"/>
        <p:txBody>
          <a:bodyPr/>
          <a:lstStyle/>
          <a:p>
            <a:pPr>
              <a:defRPr/>
            </a:pPr>
            <a:r>
              <a:rPr lang="en-GB"/>
              <a:t>If you want to be specific, it uses bootstrap and react.</a:t>
            </a:r>
            <a:endParaRPr/>
          </a:p>
        </p:txBody>
      </p:sp>
      <p:sp>
        <p:nvSpPr>
          <p:cNvPr id="1020398061" name="Slide Number Placeholder 3"/>
          <p:cNvSpPr>
            <a:spLocks noGrp="1"/>
          </p:cNvSpPr>
          <p:nvPr>
            <p:ph type="sldNum" sz="quarter" idx="5"/>
          </p:nvPr>
        </p:nvSpPr>
        <p:spPr bwMode="auto"/>
        <p:txBody>
          <a:bodyPr/>
          <a:lstStyle/>
          <a:p>
            <a:pPr>
              <a:defRPr/>
            </a:pPr>
            <a:fld id="{B3C92FBA-C01C-4DAA-B6A9-47A1B3A2B610}" type="slidenum">
              <a:rP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934887" name="Slide Image Placeholder 1"/>
          <p:cNvSpPr>
            <a:spLocks noChangeAspect="1" noGrp="1" noRot="1"/>
          </p:cNvSpPr>
          <p:nvPr>
            <p:ph type="sldImg"/>
          </p:nvPr>
        </p:nvSpPr>
        <p:spPr bwMode="auto"/>
      </p:sp>
      <p:sp>
        <p:nvSpPr>
          <p:cNvPr id="301676592" name="Notes Placeholder 2"/>
          <p:cNvSpPr>
            <a:spLocks noGrp="1"/>
          </p:cNvSpPr>
          <p:nvPr>
            <p:ph type="body" idx="1"/>
          </p:nvPr>
        </p:nvSpPr>
        <p:spPr bwMode="auto"/>
        <p:txBody>
          <a:bodyPr/>
          <a:lstStyle/>
          <a:p>
            <a:pPr>
              <a:defRPr/>
            </a:pPr>
            <a:r>
              <a:rPr lang="en-GB"/>
              <a:t>But the good news is that most of the time, we don’t have to deal with any of that – shiny does it for us. </a:t>
            </a:r>
            <a:endParaRPr/>
          </a:p>
        </p:txBody>
      </p:sp>
      <p:sp>
        <p:nvSpPr>
          <p:cNvPr id="153228147" name="Slide Number Placeholder 3"/>
          <p:cNvSpPr>
            <a:spLocks noGrp="1"/>
          </p:cNvSpPr>
          <p:nvPr>
            <p:ph type="sldNum" sz="quarter" idx="5"/>
          </p:nvPr>
        </p:nvSpPr>
        <p:spPr bwMode="auto"/>
        <p:txBody>
          <a:bodyPr/>
          <a:lstStyle/>
          <a:p>
            <a:pPr>
              <a:defRPr/>
            </a:pPr>
            <a:fld id="{B3C92FBA-C01C-4DAA-B6A9-47A1B3A2B610}"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18521187" name="Slide Image Placeholder 1"/>
          <p:cNvSpPr>
            <a:spLocks noChangeAspect="1" noGrp="1" noRot="1"/>
          </p:cNvSpPr>
          <p:nvPr>
            <p:ph type="sldImg"/>
          </p:nvPr>
        </p:nvSpPr>
        <p:spPr bwMode="auto"/>
      </p:sp>
      <p:sp>
        <p:nvSpPr>
          <p:cNvPr id="1874107571" name="Notes Placeholder 2"/>
          <p:cNvSpPr>
            <a:spLocks noGrp="1"/>
          </p:cNvSpPr>
          <p:nvPr>
            <p:ph type="body" idx="1"/>
          </p:nvPr>
        </p:nvSpPr>
        <p:spPr bwMode="auto"/>
        <p:txBody>
          <a:bodyPr/>
          <a:lstStyle/>
          <a:p>
            <a:pPr>
              <a:defRPr/>
            </a:pPr>
            <a:r>
              <a:rPr lang="en-GB"/>
              <a:t>And on the server, we use “normal” R code in combination with shiny functions.</a:t>
            </a:r>
            <a:endParaRPr/>
          </a:p>
        </p:txBody>
      </p:sp>
      <p:sp>
        <p:nvSpPr>
          <p:cNvPr id="1427703241" name="Slide Number Placeholder 3"/>
          <p:cNvSpPr>
            <a:spLocks noGrp="1"/>
          </p:cNvSpPr>
          <p:nvPr>
            <p:ph type="sldNum" sz="quarter" idx="5"/>
          </p:nvPr>
        </p:nvSpPr>
        <p:spPr bwMode="auto"/>
        <p:txBody>
          <a:bodyPr/>
          <a:lstStyle/>
          <a:p>
            <a:pPr>
              <a:defRPr/>
            </a:pPr>
            <a:fld id="{B3C92FBA-C01C-4DAA-B6A9-47A1B3A2B610}" type="slidenum">
              <a:rPr/>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06602335" name="Slide Image Placeholder 1"/>
          <p:cNvSpPr>
            <a:spLocks noChangeAspect="1" noGrp="1" noRot="1"/>
          </p:cNvSpPr>
          <p:nvPr>
            <p:ph type="sldImg"/>
          </p:nvPr>
        </p:nvSpPr>
        <p:spPr bwMode="auto"/>
      </p:sp>
      <p:sp>
        <p:nvSpPr>
          <p:cNvPr id="1561801263" name="Notes Placeholder 2"/>
          <p:cNvSpPr>
            <a:spLocks noGrp="1"/>
          </p:cNvSpPr>
          <p:nvPr>
            <p:ph type="body" idx="1"/>
          </p:nvPr>
        </p:nvSpPr>
        <p:spPr bwMode="auto"/>
        <p:txBody>
          <a:bodyPr/>
          <a:lstStyle/>
          <a:p>
            <a:pPr>
              <a:defRPr/>
            </a:pPr>
            <a:r>
              <a:rPr lang="en-GB"/>
              <a:t>And on the server, we use “normal” R code in combination with shiny functions.</a:t>
            </a:r>
            <a:endParaRPr/>
          </a:p>
        </p:txBody>
      </p:sp>
      <p:sp>
        <p:nvSpPr>
          <p:cNvPr id="606519521" name="Slide Number Placeholder 3"/>
          <p:cNvSpPr>
            <a:spLocks noGrp="1"/>
          </p:cNvSpPr>
          <p:nvPr>
            <p:ph type="sldNum" sz="quarter" idx="5"/>
          </p:nvPr>
        </p:nvSpPr>
        <p:spPr bwMode="auto"/>
        <p:txBody>
          <a:bodyPr/>
          <a:lstStyle/>
          <a:p>
            <a:pPr>
              <a:defRPr/>
            </a:pPr>
            <a:fld id="{8CF6F88E-8AF4-5904-215C-28879C18D630}" type="slidenum">
              <a:rP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67963019" name="Slide Image Placeholder 1"/>
          <p:cNvSpPr>
            <a:spLocks noChangeAspect="1" noGrp="1" noRot="1"/>
          </p:cNvSpPr>
          <p:nvPr>
            <p:ph type="sldImg"/>
          </p:nvPr>
        </p:nvSpPr>
        <p:spPr bwMode="auto"/>
      </p:sp>
      <p:sp>
        <p:nvSpPr>
          <p:cNvPr id="351580616" name="Notes Placeholder 2"/>
          <p:cNvSpPr>
            <a:spLocks noGrp="1"/>
          </p:cNvSpPr>
          <p:nvPr>
            <p:ph type="body" idx="1"/>
          </p:nvPr>
        </p:nvSpPr>
        <p:spPr bwMode="auto"/>
        <p:txBody>
          <a:bodyPr/>
          <a:lstStyle/>
          <a:p>
            <a:pPr>
              <a:defRPr/>
            </a:pPr>
            <a:r>
              <a:rPr lang="en-GB"/>
              <a:t>As the user interface and the server code are two separate components, we typically save them as separate R files</a:t>
            </a:r>
            <a:endParaRPr/>
          </a:p>
        </p:txBody>
      </p:sp>
      <p:sp>
        <p:nvSpPr>
          <p:cNvPr id="531268624" name="Slide Number Placeholder 3"/>
          <p:cNvSpPr>
            <a:spLocks noGrp="1"/>
          </p:cNvSpPr>
          <p:nvPr>
            <p:ph type="sldNum" sz="quarter" idx="5"/>
          </p:nvPr>
        </p:nvSpPr>
        <p:spPr bwMode="auto"/>
        <p:txBody>
          <a:bodyPr/>
          <a:lstStyle/>
          <a:p>
            <a:pPr>
              <a:defRPr/>
            </a:pPr>
            <a:fld id="{B3C92FBA-C01C-4DAA-B6A9-47A1B3A2B610}" type="slidenum">
              <a:rP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82994111" name="Slide Image Placeholder 1"/>
          <p:cNvSpPr>
            <a:spLocks noChangeAspect="1" noGrp="1" noRot="1"/>
          </p:cNvSpPr>
          <p:nvPr>
            <p:ph type="sldImg"/>
          </p:nvPr>
        </p:nvSpPr>
        <p:spPr bwMode="auto"/>
      </p:sp>
      <p:sp>
        <p:nvSpPr>
          <p:cNvPr id="1092314324" name="Notes Placeholder 2"/>
          <p:cNvSpPr>
            <a:spLocks noGrp="1"/>
          </p:cNvSpPr>
          <p:nvPr>
            <p:ph type="body" idx="1"/>
          </p:nvPr>
        </p:nvSpPr>
        <p:spPr bwMode="auto"/>
        <p:txBody>
          <a:bodyPr/>
          <a:lstStyle/>
          <a:p>
            <a:pPr>
              <a:defRPr/>
            </a:pPr>
            <a:r>
              <a:rPr lang="en-GB"/>
              <a:t>Or, especially in smaller apps, we combine a </a:t>
            </a:r>
            <a:r>
              <a:rPr lang="en-GB"/>
              <a:t>ui</a:t>
            </a:r>
            <a:r>
              <a:rPr lang="en-GB"/>
              <a:t> object and server function in a single </a:t>
            </a:r>
            <a:r>
              <a:rPr lang="en-GB"/>
              <a:t>app.R</a:t>
            </a:r>
            <a:r>
              <a:rPr lang="en-GB"/>
              <a:t> file.</a:t>
            </a:r>
            <a:endParaRPr/>
          </a:p>
        </p:txBody>
      </p:sp>
      <p:sp>
        <p:nvSpPr>
          <p:cNvPr id="1231914009" name="Slide Number Placeholder 3"/>
          <p:cNvSpPr>
            <a:spLocks noGrp="1"/>
          </p:cNvSpPr>
          <p:nvPr>
            <p:ph type="sldNum" sz="quarter" idx="5"/>
          </p:nvPr>
        </p:nvSpPr>
        <p:spPr bwMode="auto"/>
        <p:txBody>
          <a:bodyPr/>
          <a:lstStyle/>
          <a:p>
            <a:pPr>
              <a:defRPr/>
            </a:pPr>
            <a:fld id="{B3C92FBA-C01C-4DAA-B6A9-47A1B3A2B610}" type="slidenum">
              <a:rP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23588041" name="Slide Image Placeholder 1"/>
          <p:cNvSpPr>
            <a:spLocks noChangeAspect="1" noGrp="1" noRot="1"/>
          </p:cNvSpPr>
          <p:nvPr>
            <p:ph type="sldImg"/>
          </p:nvPr>
        </p:nvSpPr>
        <p:spPr bwMode="auto"/>
      </p:sp>
      <p:sp>
        <p:nvSpPr>
          <p:cNvPr id="1534942191" name="Notes Placeholder 2"/>
          <p:cNvSpPr>
            <a:spLocks noGrp="1"/>
          </p:cNvSpPr>
          <p:nvPr>
            <p:ph type="body" idx="1"/>
          </p:nvPr>
        </p:nvSpPr>
        <p:spPr bwMode="auto"/>
        <p:txBody>
          <a:bodyPr/>
          <a:lstStyle/>
          <a:p>
            <a:pPr>
              <a:defRPr/>
            </a:pPr>
            <a:r>
              <a:rPr lang="en-GB"/>
              <a:t>Ui and server have different responsibilities</a:t>
            </a:r>
            <a:endParaRPr/>
          </a:p>
          <a:p>
            <a:pPr>
              <a:defRPr/>
            </a:pPr>
            <a:endParaRPr lang="en-GB"/>
          </a:p>
          <a:p>
            <a:pPr>
              <a:defRPr/>
            </a:pPr>
            <a:r>
              <a:rPr lang="en-GB"/>
              <a:t>UI is largely static, defining a list of inputs and outputs, and how they are shown</a:t>
            </a:r>
            <a:endParaRPr/>
          </a:p>
          <a:p>
            <a:pPr>
              <a:defRPr/>
            </a:pPr>
            <a:endParaRPr lang="en-GB"/>
          </a:p>
          <a:p>
            <a:pPr>
              <a:defRPr/>
            </a:pPr>
            <a:r>
              <a:rPr lang="en-GB"/>
              <a:t>Server is a function that handles data, logic and state.</a:t>
            </a:r>
            <a:endParaRPr/>
          </a:p>
        </p:txBody>
      </p:sp>
      <p:sp>
        <p:nvSpPr>
          <p:cNvPr id="637721779" name="Slide Number Placeholder 3"/>
          <p:cNvSpPr>
            <a:spLocks noGrp="1"/>
          </p:cNvSpPr>
          <p:nvPr>
            <p:ph type="sldNum" sz="quarter" idx="5"/>
          </p:nvPr>
        </p:nvSpPr>
        <p:spPr bwMode="auto"/>
        <p:txBody>
          <a:bodyPr/>
          <a:lstStyle/>
          <a:p>
            <a:pPr>
              <a:defRPr/>
            </a:pPr>
            <a:fld id="{B3C92FBA-C01C-4DAA-B6A9-47A1B3A2B610}" type="slidenum">
              <a:rPr/>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1806184" name="Slide Image Placeholder 1"/>
          <p:cNvSpPr>
            <a:spLocks noChangeAspect="1" noGrp="1" noRot="1"/>
          </p:cNvSpPr>
          <p:nvPr>
            <p:ph type="sldImg"/>
          </p:nvPr>
        </p:nvSpPr>
        <p:spPr bwMode="auto"/>
      </p:sp>
      <p:sp>
        <p:nvSpPr>
          <p:cNvPr id="966539454" name="Notes Placeholder 2"/>
          <p:cNvSpPr>
            <a:spLocks noGrp="1"/>
          </p:cNvSpPr>
          <p:nvPr>
            <p:ph type="body" idx="1"/>
          </p:nvPr>
        </p:nvSpPr>
        <p:spPr bwMode="auto"/>
        <p:txBody>
          <a:bodyPr/>
          <a:lstStyle/>
          <a:p>
            <a:pPr>
              <a:defRPr/>
            </a:pPr>
            <a:endParaRPr/>
          </a:p>
        </p:txBody>
      </p:sp>
      <p:sp>
        <p:nvSpPr>
          <p:cNvPr id="804928813" name="Slide Number Placeholder 3"/>
          <p:cNvSpPr>
            <a:spLocks noGrp="1"/>
          </p:cNvSpPr>
          <p:nvPr>
            <p:ph type="sldNum" sz="quarter" idx="10"/>
          </p:nvPr>
        </p:nvSpPr>
        <p:spPr bwMode="auto"/>
        <p:txBody>
          <a:bodyPr/>
          <a:lstStyle/>
          <a:p>
            <a:pPr>
              <a:defRPr/>
            </a:pPr>
            <a:fld id="{3DBF07EC-81F0-3AB7-771D-503319EAFB9C}"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67602656" name="Slide Image Placeholder 1"/>
          <p:cNvSpPr>
            <a:spLocks noChangeAspect="1" noGrp="1" noRot="1"/>
          </p:cNvSpPr>
          <p:nvPr>
            <p:ph type="sldImg"/>
          </p:nvPr>
        </p:nvSpPr>
        <p:spPr bwMode="auto"/>
      </p:sp>
      <p:sp>
        <p:nvSpPr>
          <p:cNvPr id="1932395240" name="Notes Placeholder 2"/>
          <p:cNvSpPr>
            <a:spLocks noGrp="1"/>
          </p:cNvSpPr>
          <p:nvPr>
            <p:ph type="body" idx="1"/>
          </p:nvPr>
        </p:nvSpPr>
        <p:spPr bwMode="auto"/>
        <p:txBody>
          <a:bodyPr/>
          <a:lstStyle/>
          <a:p>
            <a:pPr>
              <a:defRPr/>
            </a:pPr>
            <a:endParaRPr/>
          </a:p>
        </p:txBody>
      </p:sp>
      <p:sp>
        <p:nvSpPr>
          <p:cNvPr id="1689976286" name="Slide Number Placeholder 3"/>
          <p:cNvSpPr>
            <a:spLocks noGrp="1"/>
          </p:cNvSpPr>
          <p:nvPr>
            <p:ph type="sldNum" sz="quarter" idx="10"/>
          </p:nvPr>
        </p:nvSpPr>
        <p:spPr bwMode="auto"/>
        <p:txBody>
          <a:bodyPr/>
          <a:lstStyle/>
          <a:p>
            <a:pPr>
              <a:defRPr/>
            </a:pPr>
            <a:fld id="{DCABB8E0-7724-80CB-FB3D-634A2A8DB30F}"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48525741" name="Slide Image Placeholder 1"/>
          <p:cNvSpPr>
            <a:spLocks noChangeAspect="1" noGrp="1" noRot="1"/>
          </p:cNvSpPr>
          <p:nvPr>
            <p:ph type="sldImg"/>
          </p:nvPr>
        </p:nvSpPr>
        <p:spPr bwMode="auto"/>
      </p:sp>
      <p:sp>
        <p:nvSpPr>
          <p:cNvPr id="414446138" name="Notes Placeholder 2"/>
          <p:cNvSpPr>
            <a:spLocks noGrp="1"/>
          </p:cNvSpPr>
          <p:nvPr>
            <p:ph type="body" idx="1"/>
          </p:nvPr>
        </p:nvSpPr>
        <p:spPr bwMode="auto"/>
        <p:txBody>
          <a:bodyPr/>
          <a:lstStyle/>
          <a:p>
            <a:pPr>
              <a:defRPr/>
            </a:pPr>
            <a:endParaRPr/>
          </a:p>
        </p:txBody>
      </p:sp>
      <p:sp>
        <p:nvSpPr>
          <p:cNvPr id="168883469" name="Slide Number Placeholder 3"/>
          <p:cNvSpPr>
            <a:spLocks noGrp="1"/>
          </p:cNvSpPr>
          <p:nvPr>
            <p:ph type="sldNum" sz="quarter" idx="10"/>
          </p:nvPr>
        </p:nvSpPr>
        <p:spPr bwMode="auto"/>
        <p:txBody>
          <a:bodyPr/>
          <a:lstStyle/>
          <a:p>
            <a:pPr>
              <a:defRPr/>
            </a:pPr>
            <a:fld id="{4718C875-AA73-1C81-5CDB-486F5A271FF8}"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3473758" name="Slide Image Placeholder 1"/>
          <p:cNvSpPr>
            <a:spLocks noChangeAspect="1" noGrp="1" noRot="1"/>
          </p:cNvSpPr>
          <p:nvPr>
            <p:ph type="sldImg"/>
          </p:nvPr>
        </p:nvSpPr>
        <p:spPr bwMode="auto"/>
      </p:sp>
      <p:sp>
        <p:nvSpPr>
          <p:cNvPr id="471419449" name="Notes Placeholder 2"/>
          <p:cNvSpPr>
            <a:spLocks noGrp="1"/>
          </p:cNvSpPr>
          <p:nvPr>
            <p:ph type="body" idx="1"/>
          </p:nvPr>
        </p:nvSpPr>
        <p:spPr bwMode="auto"/>
        <p:txBody>
          <a:bodyPr/>
          <a:lstStyle/>
          <a:p>
            <a:pPr>
              <a:defRPr/>
            </a:pPr>
            <a:endParaRPr/>
          </a:p>
        </p:txBody>
      </p:sp>
      <p:sp>
        <p:nvSpPr>
          <p:cNvPr id="2099652239" name="Slide Number Placeholder 3"/>
          <p:cNvSpPr>
            <a:spLocks noGrp="1"/>
          </p:cNvSpPr>
          <p:nvPr>
            <p:ph type="sldNum" sz="quarter" idx="10"/>
          </p:nvPr>
        </p:nvSpPr>
        <p:spPr bwMode="auto"/>
        <p:txBody>
          <a:bodyPr/>
          <a:lstStyle/>
          <a:p>
            <a:pPr>
              <a:defRPr/>
            </a:pPr>
            <a:fld id="{087CF3BA-3D8A-E0B7-B0A4-BF965FFC74A6}"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23622370" name="Slide Image Placeholder 1"/>
          <p:cNvSpPr>
            <a:spLocks noChangeAspect="1" noGrp="1" noRot="1"/>
          </p:cNvSpPr>
          <p:nvPr>
            <p:ph type="sldImg"/>
          </p:nvPr>
        </p:nvSpPr>
        <p:spPr bwMode="auto"/>
      </p:sp>
      <p:sp>
        <p:nvSpPr>
          <p:cNvPr id="1822734274" name="Notes Placeholder 2"/>
          <p:cNvSpPr>
            <a:spLocks noGrp="1"/>
          </p:cNvSpPr>
          <p:nvPr>
            <p:ph type="body" idx="1"/>
          </p:nvPr>
        </p:nvSpPr>
        <p:spPr bwMode="auto"/>
        <p:txBody>
          <a:bodyPr/>
          <a:lstStyle/>
          <a:p>
            <a:pPr>
              <a:defRPr/>
            </a:pPr>
            <a:r>
              <a:rPr lang="en-GB"/>
              <a:t>Let’s take the example app and create a simple interactive greeter app.</a:t>
            </a:r>
            <a:endParaRPr/>
          </a:p>
        </p:txBody>
      </p:sp>
      <p:sp>
        <p:nvSpPr>
          <p:cNvPr id="1469501582" name="Slide Number Placeholder 3"/>
          <p:cNvSpPr>
            <a:spLocks noGrp="1"/>
          </p:cNvSpPr>
          <p:nvPr>
            <p:ph type="sldNum" sz="quarter" idx="5"/>
          </p:nvPr>
        </p:nvSpPr>
        <p:spPr bwMode="auto"/>
        <p:txBody>
          <a:bodyPr/>
          <a:lstStyle/>
          <a:p>
            <a:pPr>
              <a:defRPr/>
            </a:pPr>
            <a:fld id="{B3C92FBA-C01C-4DAA-B6A9-47A1B3A2B610}" type="slidenum">
              <a:rP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86215502" name="Slide Image Placeholder 1"/>
          <p:cNvSpPr>
            <a:spLocks noChangeAspect="1" noGrp="1" noRot="1"/>
          </p:cNvSpPr>
          <p:nvPr>
            <p:ph type="sldImg"/>
          </p:nvPr>
        </p:nvSpPr>
        <p:spPr bwMode="auto"/>
      </p:sp>
      <p:sp>
        <p:nvSpPr>
          <p:cNvPr id="419006233" name="Notes Placeholder 2"/>
          <p:cNvSpPr>
            <a:spLocks noGrp="1"/>
          </p:cNvSpPr>
          <p:nvPr>
            <p:ph type="body" idx="1"/>
          </p:nvPr>
        </p:nvSpPr>
        <p:spPr bwMode="auto"/>
        <p:txBody>
          <a:bodyPr/>
          <a:lstStyle/>
          <a:p>
            <a:pPr>
              <a:defRPr/>
            </a:pPr>
            <a:r>
              <a:rPr lang="en-GB"/>
              <a:t>Implicit dependencies occur when you use reactive values (e.g. inputs) to create outputs. This makes sure that everything works, but in some cases it can lead to inefficiencies, and degrade the user experience. </a:t>
            </a:r>
            <a:endParaRPr/>
          </a:p>
          <a:p>
            <a:pPr>
              <a:defRPr/>
            </a:pPr>
            <a:endParaRPr lang="en-GB"/>
          </a:p>
          <a:p>
            <a:pPr>
              <a:defRPr/>
            </a:pPr>
            <a:r>
              <a:rPr lang="en-GB"/>
              <a:t>We can define _explicit_ dependencies to take control of when and how updates happen. This gives us much more control, but also makes it possible to create bigger problems. Great power, great responsibility.</a:t>
            </a:r>
            <a:endParaRPr/>
          </a:p>
        </p:txBody>
      </p:sp>
      <p:sp>
        <p:nvSpPr>
          <p:cNvPr id="529043004" name="Slide Number Placeholder 3"/>
          <p:cNvSpPr>
            <a:spLocks noGrp="1"/>
          </p:cNvSpPr>
          <p:nvPr>
            <p:ph type="sldNum" sz="quarter" idx="5"/>
          </p:nvPr>
        </p:nvSpPr>
        <p:spPr bwMode="auto"/>
        <p:txBody>
          <a:bodyPr/>
          <a:lstStyle/>
          <a:p>
            <a:pPr>
              <a:defRPr/>
            </a:pPr>
            <a:fld id="{B3C92FBA-C01C-4DAA-B6A9-47A1B3A2B610}" type="slidenum">
              <a:rPr/>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1382384" name="Slide Image Placeholder 1"/>
          <p:cNvSpPr>
            <a:spLocks noChangeAspect="1" noGrp="1" noRot="1"/>
          </p:cNvSpPr>
          <p:nvPr>
            <p:ph type="sldImg"/>
          </p:nvPr>
        </p:nvSpPr>
        <p:spPr bwMode="auto"/>
      </p:sp>
      <p:sp>
        <p:nvSpPr>
          <p:cNvPr id="1751675157" name="Notes Placeholder 2"/>
          <p:cNvSpPr>
            <a:spLocks noGrp="1"/>
          </p:cNvSpPr>
          <p:nvPr>
            <p:ph type="body" idx="1"/>
          </p:nvPr>
        </p:nvSpPr>
        <p:spPr bwMode="auto"/>
        <p:txBody>
          <a:bodyPr/>
          <a:lstStyle/>
          <a:p>
            <a:pPr>
              <a:defRPr/>
            </a:pPr>
            <a:endParaRPr/>
          </a:p>
        </p:txBody>
      </p:sp>
      <p:sp>
        <p:nvSpPr>
          <p:cNvPr id="2106696436" name="Slide Number Placeholder 3"/>
          <p:cNvSpPr>
            <a:spLocks noGrp="1"/>
          </p:cNvSpPr>
          <p:nvPr>
            <p:ph type="sldNum" sz="quarter" idx="5"/>
          </p:nvPr>
        </p:nvSpPr>
        <p:spPr bwMode="auto"/>
        <p:txBody>
          <a:bodyPr/>
          <a:lstStyle/>
          <a:p>
            <a:pPr>
              <a:defRPr/>
            </a:pPr>
            <a:fld id="{B3C92FBA-C01C-4DAA-B6A9-47A1B3A2B610}" type="slidenum">
              <a:rPr/>
              <a:t>21</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8220939" name="Slide Image Placeholder 1"/>
          <p:cNvSpPr>
            <a:spLocks noChangeAspect="1" noGrp="1" noRot="1"/>
          </p:cNvSpPr>
          <p:nvPr>
            <p:ph type="sldImg"/>
          </p:nvPr>
        </p:nvSpPr>
        <p:spPr bwMode="auto"/>
      </p:sp>
      <p:sp>
        <p:nvSpPr>
          <p:cNvPr id="1444658592" name="Notes Placeholder 2"/>
          <p:cNvSpPr>
            <a:spLocks noGrp="1"/>
          </p:cNvSpPr>
          <p:nvPr>
            <p:ph type="body" idx="1"/>
          </p:nvPr>
        </p:nvSpPr>
        <p:spPr bwMode="auto"/>
        <p:txBody>
          <a:bodyPr/>
          <a:lstStyle/>
          <a:p>
            <a:pPr>
              <a:defRPr/>
            </a:pPr>
            <a:r>
              <a:rPr lang="en-GB"/>
              <a:t>What happens if you, for example, want to let the user decide which variable in your model to plot? This is a common scenario, but the way tidyverse functions use non-standard evaluation (or, more accurately, _black magic_) means that the naïve method won’t work. We have to use .data and .env objects to use variable value names. </a:t>
            </a:r>
            <a:endParaRPr/>
          </a:p>
          <a:p>
            <a:pPr>
              <a:defRPr/>
            </a:pPr>
            <a:endParaRPr lang="en-GB"/>
          </a:p>
          <a:p>
            <a:pPr>
              <a:defRPr/>
            </a:pPr>
            <a:r>
              <a:rPr lang="en-GB"/>
              <a:t>This is just one example of where this kind of meta-programming occurs, but there are many more examples. See e.g., letting the user select predictors in the </a:t>
            </a:r>
            <a:r>
              <a:rPr lang="en-GB"/>
              <a:t>model-fitting examples.</a:t>
            </a:r>
            <a:endParaRPr/>
          </a:p>
        </p:txBody>
      </p:sp>
      <p:sp>
        <p:nvSpPr>
          <p:cNvPr id="1566373002" name="Slide Number Placeholder 3"/>
          <p:cNvSpPr>
            <a:spLocks noGrp="1"/>
          </p:cNvSpPr>
          <p:nvPr>
            <p:ph type="sldNum" sz="quarter" idx="5"/>
          </p:nvPr>
        </p:nvSpPr>
        <p:spPr bwMode="auto"/>
        <p:txBody>
          <a:bodyPr/>
          <a:lstStyle/>
          <a:p>
            <a:pPr>
              <a:defRPr/>
            </a:pPr>
            <a:fld id="{B3C92FBA-C01C-4DAA-B6A9-47A1B3A2B610}" type="slidenum">
              <a:rP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6995646" name="Slide Image Placeholder 1"/>
          <p:cNvSpPr>
            <a:spLocks noChangeAspect="1" noGrp="1" noRot="1"/>
          </p:cNvSpPr>
          <p:nvPr>
            <p:ph type="sldImg"/>
          </p:nvPr>
        </p:nvSpPr>
        <p:spPr bwMode="auto"/>
      </p:sp>
      <p:sp>
        <p:nvSpPr>
          <p:cNvPr id="426475294" name="Notes Placeholder 2"/>
          <p:cNvSpPr>
            <a:spLocks noGrp="1"/>
          </p:cNvSpPr>
          <p:nvPr>
            <p:ph type="body" idx="1"/>
          </p:nvPr>
        </p:nvSpPr>
        <p:spPr bwMode="auto"/>
        <p:txBody>
          <a:bodyPr/>
          <a:lstStyle/>
          <a:p>
            <a:pPr>
              <a:defRPr/>
            </a:pPr>
            <a:r>
              <a:rPr lang="en-GB"/>
              <a:t>What happens if you, for example, want to let the user decide which variable in your model to plot? This is a common scenario, but the way tidyverse functions use non-standard evaluation (or, more accurately, _black magic_) means that the naïve method won’t work. We have to use .data and .env objects to use variable value names. </a:t>
            </a:r>
            <a:endParaRPr/>
          </a:p>
          <a:p>
            <a:pPr>
              <a:defRPr/>
            </a:pPr>
            <a:endParaRPr lang="en-GB"/>
          </a:p>
          <a:p>
            <a:pPr>
              <a:defRPr/>
            </a:pPr>
            <a:r>
              <a:rPr lang="en-GB"/>
              <a:t>This is just one example of where this kind of meta-programming occurs, but there are many more examples. See e.g., letting the user select predictors in the </a:t>
            </a:r>
            <a:r>
              <a:rPr lang="en-GB"/>
              <a:t>model-fitting examples.</a:t>
            </a:r>
            <a:endParaRPr/>
          </a:p>
        </p:txBody>
      </p:sp>
      <p:sp>
        <p:nvSpPr>
          <p:cNvPr id="231827823" name="Slide Number Placeholder 3"/>
          <p:cNvSpPr>
            <a:spLocks noGrp="1"/>
          </p:cNvSpPr>
          <p:nvPr>
            <p:ph type="sldNum" sz="quarter" idx="5"/>
          </p:nvPr>
        </p:nvSpPr>
        <p:spPr bwMode="auto"/>
        <p:txBody>
          <a:bodyPr/>
          <a:lstStyle/>
          <a:p>
            <a:pPr>
              <a:defRPr/>
            </a:pPr>
            <a:fld id="{A7759C82-3216-8C27-67AE-BEE749ACD5CD}" type="slidenum">
              <a:rPr/>
              <a:t>23</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p:spTree>
      <p:nvGrpSpPr>
        <p:cNvPr id="1" name=""/>
        <p:cNvGrpSpPr/>
        <p:nvPr/>
      </p:nvGrpSpPr>
      <p:grpSpPr bwMode="auto">
        <a:xfrm>
          <a:off x="0" y="0"/>
          <a:ext cx="0" cy="0"/>
          <a:chOff x="0" y="0"/>
          <a:chExt cx="0" cy="0"/>
        </a:xfrm>
      </p:grpSpPr>
      <p:sp>
        <p:nvSpPr>
          <p:cNvPr id="811945257" name="Title 1"/>
          <p:cNvSpPr>
            <a:spLocks noGrp="1"/>
          </p:cNvSpPr>
          <p:nvPr>
            <p:ph type="ctrTitle"/>
          </p:nvPr>
        </p:nvSpPr>
        <p:spPr bwMode="auto">
          <a:xfrm>
            <a:off x="1524000" y="2402803"/>
            <a:ext cx="9144000" cy="1107160"/>
          </a:xfrm>
          <a:prstGeom prst="rect">
            <a:avLst/>
          </a:prstGeom>
        </p:spPr>
        <p:txBody>
          <a:bodyPr anchor="ctr"/>
          <a:lstStyle>
            <a:lvl1pPr algn="ctr">
              <a:defRPr sz="6000">
                <a:solidFill>
                  <a:schemeClr val="accent1"/>
                </a:solidFill>
              </a:defRPr>
            </a:lvl1pPr>
          </a:lstStyle>
          <a:p>
            <a:pPr>
              <a:defRPr/>
            </a:pPr>
            <a:endParaRPr/>
          </a:p>
        </p:txBody>
      </p:sp>
      <p:sp>
        <p:nvSpPr>
          <p:cNvPr id="2034622216" name="Title 1" descr="subtitle&#10;"/>
          <p:cNvSpPr txBox="1"/>
          <p:nvPr userDrawn="1"/>
        </p:nvSpPr>
        <p:spPr bwMode="auto">
          <a:xfrm>
            <a:off x="1524000" y="3509963"/>
            <a:ext cx="9144000" cy="1107160"/>
          </a:xfrm>
          <a:prstGeom prst="rect">
            <a:avLst/>
          </a:prstGeom>
        </p:spPr>
        <p:txBody>
          <a:bodyPr anchor="t"/>
          <a:lstStyle>
            <a:lvl1pPr algn="ctr" defTabSz="914400" rtl="0">
              <a:lnSpc>
                <a:spcPct val="90000"/>
              </a:lnSpc>
              <a:spcBef>
                <a:spcPts val="0"/>
              </a:spcBef>
              <a:buNone/>
              <a:defRPr sz="6000">
                <a:solidFill>
                  <a:schemeClr val="accent1"/>
                </a:solidFill>
                <a:latin typeface="+mj-lt"/>
                <a:ea typeface="+mj-ea"/>
                <a:cs typeface="+mj-cs"/>
              </a:defRPr>
            </a:lvl1pPr>
          </a:lstStyle>
          <a:p>
            <a:pPr>
              <a:defRPr/>
            </a:pPr>
            <a:endParaRPr sz="3600">
              <a:solidFill>
                <a:schemeClr val="bg1"/>
              </a:solidFill>
            </a:endParaRPr>
          </a:p>
        </p:txBody>
      </p:sp>
      <p:sp>
        <p:nvSpPr>
          <p:cNvPr id="2057762619" name="Rectangle 7"/>
          <p:cNvSpPr/>
          <p:nvPr userDrawn="1"/>
        </p:nvSpPr>
        <p:spPr bwMode="auto">
          <a:xfrm>
            <a:off x="8476555" y="6127147"/>
            <a:ext cx="767562" cy="640748"/>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UT Table of Content 2 bullits Pink">
    <p:spTree>
      <p:nvGrpSpPr>
        <p:cNvPr id="1" name=""/>
        <p:cNvGrpSpPr/>
        <p:nvPr/>
      </p:nvGrpSpPr>
      <p:grpSpPr bwMode="auto">
        <a:xfrm>
          <a:off x="0" y="0"/>
          <a:ext cx="0" cy="0"/>
          <a:chOff x="0" y="0"/>
          <a:chExt cx="0" cy="0"/>
        </a:xfrm>
      </p:grpSpPr>
      <p:sp>
        <p:nvSpPr>
          <p:cNvPr id="1007824164" name="Flowchart: Process 3"/>
          <p:cNvSpPr/>
          <p:nvPr userDrawn="1"/>
        </p:nvSpPr>
        <p:spPr bwMode="auto">
          <a:xfrm>
            <a:off x="0" y="3385488"/>
            <a:ext cx="15321862" cy="159072"/>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973960237" name="Oval 6"/>
          <p:cNvSpPr/>
          <p:nvPr userDrawn="1"/>
        </p:nvSpPr>
        <p:spPr bwMode="auto">
          <a:xfrm>
            <a:off x="8655607"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585240586" name="Oval 7"/>
          <p:cNvSpPr/>
          <p:nvPr userDrawn="1"/>
        </p:nvSpPr>
        <p:spPr bwMode="auto">
          <a:xfrm>
            <a:off x="2847213" y="3014553"/>
            <a:ext cx="857859" cy="857859"/>
          </a:xfrm>
          <a:prstGeom prst="ellipse">
            <a:avLst/>
          </a:prstGeom>
          <a:solidFill>
            <a:schemeClr val="tx1"/>
          </a:solidFill>
          <a:ln w="1873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solidFill>
                <a:srgbClr val="E4032B"/>
              </a:solidFill>
            </a:endParaRPr>
          </a:p>
        </p:txBody>
      </p:sp>
      <p:sp>
        <p:nvSpPr>
          <p:cNvPr id="1224409385" name="Text Placeholder 10"/>
          <p:cNvSpPr>
            <a:spLocks noGrp="1"/>
          </p:cNvSpPr>
          <p:nvPr>
            <p:ph type="body" sz="quarter" idx="11" hasCustomPrompt="1"/>
          </p:nvPr>
        </p:nvSpPr>
        <p:spPr bwMode="auto">
          <a:xfrm>
            <a:off x="1959206"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288334778" name="Text Placeholder 10"/>
          <p:cNvSpPr>
            <a:spLocks noGrp="1"/>
          </p:cNvSpPr>
          <p:nvPr>
            <p:ph type="body" sz="quarter" idx="13" hasCustomPrompt="1"/>
          </p:nvPr>
        </p:nvSpPr>
        <p:spPr bwMode="auto">
          <a:xfrm>
            <a:off x="7767601"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908442974" name="Date Placeholder 1"/>
          <p:cNvSpPr>
            <a:spLocks noGrp="1"/>
          </p:cNvSpPr>
          <p:nvPr>
            <p:ph type="dt" sz="half" idx="14"/>
          </p:nvPr>
        </p:nvSpPr>
        <p:spPr bwMode="auto"/>
        <p:txBody>
          <a:bodyPr/>
          <a:lstStyle/>
          <a:p>
            <a:pPr>
              <a:defRPr/>
            </a:pPr>
            <a:r>
              <a:rPr/>
              <a:t>3/6/2022</a:t>
            </a:r>
            <a:endParaRPr/>
          </a:p>
        </p:txBody>
      </p:sp>
      <p:sp>
        <p:nvSpPr>
          <p:cNvPr id="410413662" name="Footer Placeholder 2"/>
          <p:cNvSpPr>
            <a:spLocks noGrp="1"/>
          </p:cNvSpPr>
          <p:nvPr>
            <p:ph type="ftr" sz="quarter" idx="15"/>
          </p:nvPr>
        </p:nvSpPr>
        <p:spPr bwMode="auto"/>
        <p:txBody>
          <a:bodyPr/>
          <a:lstStyle/>
          <a:p>
            <a:pPr>
              <a:defRPr/>
            </a:pPr>
            <a:r>
              <a:rPr/>
              <a:t>2026-10-12, Karel Kroeze, BDSi. Shiny Workshop.</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UT Table of Content 3 bullits Pink">
    <p:spTree>
      <p:nvGrpSpPr>
        <p:cNvPr id="1" name=""/>
        <p:cNvGrpSpPr/>
        <p:nvPr/>
      </p:nvGrpSpPr>
      <p:grpSpPr bwMode="auto">
        <a:xfrm>
          <a:off x="0" y="0"/>
          <a:ext cx="0" cy="0"/>
          <a:chOff x="0" y="0"/>
          <a:chExt cx="0" cy="0"/>
        </a:xfrm>
      </p:grpSpPr>
      <p:sp>
        <p:nvSpPr>
          <p:cNvPr id="285146041" name="Flowchart: Process 3"/>
          <p:cNvSpPr/>
          <p:nvPr userDrawn="1"/>
        </p:nvSpPr>
        <p:spPr bwMode="auto">
          <a:xfrm>
            <a:off x="0" y="3385488"/>
            <a:ext cx="15321862" cy="159072"/>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502212299" name="Oval 5"/>
          <p:cNvSpPr/>
          <p:nvPr userDrawn="1"/>
        </p:nvSpPr>
        <p:spPr bwMode="auto">
          <a:xfrm>
            <a:off x="10069919" y="3016614"/>
            <a:ext cx="857859" cy="857859"/>
          </a:xfrm>
          <a:prstGeom prst="ellipse">
            <a:avLst/>
          </a:prstGeom>
          <a:solidFill>
            <a:schemeClr val="tx1"/>
          </a:solidFill>
          <a:ln w="1873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50470026" name="Oval 6"/>
          <p:cNvSpPr/>
          <p:nvPr userDrawn="1"/>
        </p:nvSpPr>
        <p:spPr bwMode="auto">
          <a:xfrm>
            <a:off x="5728111"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530783241" name="Oval 7"/>
          <p:cNvSpPr/>
          <p:nvPr userDrawn="1"/>
        </p:nvSpPr>
        <p:spPr bwMode="auto">
          <a:xfrm>
            <a:off x="1345633" y="3014553"/>
            <a:ext cx="857859" cy="857859"/>
          </a:xfrm>
          <a:prstGeom prst="ellipse">
            <a:avLst/>
          </a:prstGeom>
          <a:solidFill>
            <a:schemeClr val="tx1"/>
          </a:solidFill>
          <a:ln w="1873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solidFill>
                <a:srgbClr val="E4032B"/>
              </a:solidFill>
            </a:endParaRPr>
          </a:p>
        </p:txBody>
      </p:sp>
      <p:sp>
        <p:nvSpPr>
          <p:cNvPr id="317257375" name="Text Placeholder 10"/>
          <p:cNvSpPr>
            <a:spLocks noGrp="1"/>
          </p:cNvSpPr>
          <p:nvPr>
            <p:ph type="body" sz="quarter" idx="11" hasCustomPrompt="1"/>
          </p:nvPr>
        </p:nvSpPr>
        <p:spPr bwMode="auto">
          <a:xfrm>
            <a:off x="457627"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974104989" name="Text Placeholder 10"/>
          <p:cNvSpPr>
            <a:spLocks noGrp="1"/>
          </p:cNvSpPr>
          <p:nvPr>
            <p:ph type="body" sz="quarter" idx="12" hasCustomPrompt="1"/>
          </p:nvPr>
        </p:nvSpPr>
        <p:spPr bwMode="auto">
          <a:xfrm>
            <a:off x="4819771"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656953126" name="Text Placeholder 10"/>
          <p:cNvSpPr>
            <a:spLocks noGrp="1"/>
          </p:cNvSpPr>
          <p:nvPr>
            <p:ph type="body" sz="quarter" idx="14" hasCustomPrompt="1"/>
          </p:nvPr>
        </p:nvSpPr>
        <p:spPr bwMode="auto">
          <a:xfrm>
            <a:off x="9181915"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892085708" name="Date Placeholder 1"/>
          <p:cNvSpPr>
            <a:spLocks noGrp="1"/>
          </p:cNvSpPr>
          <p:nvPr>
            <p:ph type="dt" sz="half" idx="15"/>
          </p:nvPr>
        </p:nvSpPr>
        <p:spPr bwMode="auto"/>
        <p:txBody>
          <a:bodyPr/>
          <a:lstStyle/>
          <a:p>
            <a:pPr>
              <a:defRPr/>
            </a:pPr>
            <a:r>
              <a:rPr/>
              <a:t>3/6/2022</a:t>
            </a:r>
            <a:endParaRPr/>
          </a:p>
        </p:txBody>
      </p:sp>
      <p:sp>
        <p:nvSpPr>
          <p:cNvPr id="741999011" name="Footer Placeholder 2"/>
          <p:cNvSpPr>
            <a:spLocks noGrp="1"/>
          </p:cNvSpPr>
          <p:nvPr>
            <p:ph type="ftr" sz="quarter" idx="16"/>
          </p:nvPr>
        </p:nvSpPr>
        <p:spPr bwMode="auto"/>
        <p:txBody>
          <a:bodyPr/>
          <a:lstStyle/>
          <a:p>
            <a:pPr>
              <a:defRPr/>
            </a:pPr>
            <a:r>
              <a:rPr/>
              <a:t>2026-10-12, Karel Kroeze, BDSi. Shiny Workshop.</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UT Table of Content 4 bullits Pink">
    <p:spTree>
      <p:nvGrpSpPr>
        <p:cNvPr id="1" name=""/>
        <p:cNvGrpSpPr/>
        <p:nvPr/>
      </p:nvGrpSpPr>
      <p:grpSpPr bwMode="auto">
        <a:xfrm>
          <a:off x="0" y="0"/>
          <a:ext cx="0" cy="0"/>
          <a:chOff x="0" y="0"/>
          <a:chExt cx="0" cy="0"/>
        </a:xfrm>
      </p:grpSpPr>
      <p:sp>
        <p:nvSpPr>
          <p:cNvPr id="91231087" name="Flowchart: Process 3"/>
          <p:cNvSpPr/>
          <p:nvPr userDrawn="1"/>
        </p:nvSpPr>
        <p:spPr bwMode="auto">
          <a:xfrm>
            <a:off x="0" y="3385488"/>
            <a:ext cx="15321862" cy="159072"/>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408636225" name="Oval 4"/>
          <p:cNvSpPr/>
          <p:nvPr userDrawn="1"/>
        </p:nvSpPr>
        <p:spPr bwMode="auto">
          <a:xfrm>
            <a:off x="10069921"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387139711" name="Oval 5"/>
          <p:cNvSpPr/>
          <p:nvPr userDrawn="1"/>
        </p:nvSpPr>
        <p:spPr bwMode="auto">
          <a:xfrm>
            <a:off x="7161825" y="3016614"/>
            <a:ext cx="857859" cy="857859"/>
          </a:xfrm>
          <a:prstGeom prst="ellipse">
            <a:avLst/>
          </a:prstGeom>
          <a:solidFill>
            <a:schemeClr val="tx1"/>
          </a:solidFill>
          <a:ln w="1873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986867570" name="Oval 6"/>
          <p:cNvSpPr/>
          <p:nvPr userDrawn="1"/>
        </p:nvSpPr>
        <p:spPr bwMode="auto">
          <a:xfrm>
            <a:off x="4253729"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163505887" name="Oval 7"/>
          <p:cNvSpPr/>
          <p:nvPr userDrawn="1"/>
        </p:nvSpPr>
        <p:spPr bwMode="auto">
          <a:xfrm>
            <a:off x="1345633" y="3014553"/>
            <a:ext cx="857859" cy="857859"/>
          </a:xfrm>
          <a:prstGeom prst="ellipse">
            <a:avLst/>
          </a:prstGeom>
          <a:solidFill>
            <a:schemeClr val="tx1"/>
          </a:solidFill>
          <a:ln w="1873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solidFill>
                <a:srgbClr val="E4032B"/>
              </a:solidFill>
            </a:endParaRPr>
          </a:p>
        </p:txBody>
      </p:sp>
      <p:sp>
        <p:nvSpPr>
          <p:cNvPr id="2048336365" name="Text Placeholder 10"/>
          <p:cNvSpPr>
            <a:spLocks noGrp="1"/>
          </p:cNvSpPr>
          <p:nvPr>
            <p:ph type="body" sz="quarter" idx="11" hasCustomPrompt="1"/>
          </p:nvPr>
        </p:nvSpPr>
        <p:spPr bwMode="auto">
          <a:xfrm>
            <a:off x="457627"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495169292" name="Text Placeholder 10"/>
          <p:cNvSpPr>
            <a:spLocks noGrp="1"/>
          </p:cNvSpPr>
          <p:nvPr>
            <p:ph type="body" sz="quarter" idx="12" hasCustomPrompt="1"/>
          </p:nvPr>
        </p:nvSpPr>
        <p:spPr bwMode="auto">
          <a:xfrm>
            <a:off x="3365723"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609124423" name="Text Placeholder 10"/>
          <p:cNvSpPr>
            <a:spLocks noGrp="1"/>
          </p:cNvSpPr>
          <p:nvPr>
            <p:ph type="body" sz="quarter" idx="13" hasCustomPrompt="1"/>
          </p:nvPr>
        </p:nvSpPr>
        <p:spPr bwMode="auto">
          <a:xfrm>
            <a:off x="6273819"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870673753" name="Text Placeholder 10"/>
          <p:cNvSpPr>
            <a:spLocks noGrp="1"/>
          </p:cNvSpPr>
          <p:nvPr>
            <p:ph type="body" sz="quarter" idx="14" hasCustomPrompt="1"/>
          </p:nvPr>
        </p:nvSpPr>
        <p:spPr bwMode="auto">
          <a:xfrm>
            <a:off x="9181915"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127190279" name="Date Placeholder 1"/>
          <p:cNvSpPr>
            <a:spLocks noGrp="1"/>
          </p:cNvSpPr>
          <p:nvPr>
            <p:ph type="dt" sz="half" idx="15"/>
          </p:nvPr>
        </p:nvSpPr>
        <p:spPr bwMode="auto"/>
        <p:txBody>
          <a:bodyPr/>
          <a:lstStyle/>
          <a:p>
            <a:pPr>
              <a:defRPr/>
            </a:pPr>
            <a:r>
              <a:rPr/>
              <a:t>3/6/2022</a:t>
            </a:r>
            <a:endParaRPr/>
          </a:p>
        </p:txBody>
      </p:sp>
      <p:sp>
        <p:nvSpPr>
          <p:cNvPr id="1508195192" name="Footer Placeholder 2"/>
          <p:cNvSpPr>
            <a:spLocks noGrp="1"/>
          </p:cNvSpPr>
          <p:nvPr>
            <p:ph type="ftr" sz="quarter" idx="16"/>
          </p:nvPr>
        </p:nvSpPr>
        <p:spPr bwMode="auto"/>
        <p:txBody>
          <a:bodyPr/>
          <a:lstStyle/>
          <a:p>
            <a:pPr>
              <a:defRPr/>
            </a:pPr>
            <a:r>
              <a:rPr/>
              <a:t>2026-10-12, Karel Kroeze, BDSi. Shiny Workshop.</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UT Table of Content 5 bullits Pink">
    <p:spTree>
      <p:nvGrpSpPr>
        <p:cNvPr id="1" name=""/>
        <p:cNvGrpSpPr/>
        <p:nvPr/>
      </p:nvGrpSpPr>
      <p:grpSpPr bwMode="auto">
        <a:xfrm>
          <a:off x="0" y="0"/>
          <a:ext cx="0" cy="0"/>
          <a:chOff x="0" y="0"/>
          <a:chExt cx="0" cy="0"/>
        </a:xfrm>
      </p:grpSpPr>
      <p:sp>
        <p:nvSpPr>
          <p:cNvPr id="109084070" name="Flowchart: Process 3"/>
          <p:cNvSpPr/>
          <p:nvPr userDrawn="1"/>
        </p:nvSpPr>
        <p:spPr bwMode="auto">
          <a:xfrm>
            <a:off x="0" y="3385488"/>
            <a:ext cx="15321862" cy="159072"/>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887738388" name="Oval 4"/>
          <p:cNvSpPr/>
          <p:nvPr userDrawn="1"/>
        </p:nvSpPr>
        <p:spPr bwMode="auto">
          <a:xfrm>
            <a:off x="7847496" y="3014553"/>
            <a:ext cx="857859" cy="857859"/>
          </a:xfrm>
          <a:prstGeom prst="ellipse">
            <a:avLst/>
          </a:prstGeom>
          <a:solidFill>
            <a:schemeClr val="tx1"/>
          </a:solidFill>
          <a:ln w="1873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557574538" name="Oval 5"/>
          <p:cNvSpPr/>
          <p:nvPr userDrawn="1"/>
        </p:nvSpPr>
        <p:spPr bwMode="auto">
          <a:xfrm>
            <a:off x="5580971" y="3016614"/>
            <a:ext cx="857859" cy="857859"/>
          </a:xfrm>
          <a:prstGeom prst="ellipse">
            <a:avLst/>
          </a:prstGeom>
          <a:solidFill>
            <a:schemeClr val="tx1"/>
          </a:solidFill>
          <a:ln w="1873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496789796" name="Oval 6"/>
          <p:cNvSpPr/>
          <p:nvPr userDrawn="1"/>
        </p:nvSpPr>
        <p:spPr bwMode="auto">
          <a:xfrm>
            <a:off x="3314446"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79713864" name="Oval 7"/>
          <p:cNvSpPr/>
          <p:nvPr userDrawn="1"/>
        </p:nvSpPr>
        <p:spPr bwMode="auto">
          <a:xfrm>
            <a:off x="1047921" y="3014553"/>
            <a:ext cx="857859" cy="857859"/>
          </a:xfrm>
          <a:prstGeom prst="ellipse">
            <a:avLst/>
          </a:prstGeom>
          <a:solidFill>
            <a:schemeClr val="tx1"/>
          </a:solidFill>
          <a:ln w="1873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solidFill>
                <a:srgbClr val="E4032B"/>
              </a:solidFill>
            </a:endParaRPr>
          </a:p>
        </p:txBody>
      </p:sp>
      <p:sp>
        <p:nvSpPr>
          <p:cNvPr id="62406848" name="Oval 15"/>
          <p:cNvSpPr/>
          <p:nvPr userDrawn="1"/>
        </p:nvSpPr>
        <p:spPr bwMode="auto">
          <a:xfrm>
            <a:off x="10115880" y="3014553"/>
            <a:ext cx="857859" cy="857859"/>
          </a:xfrm>
          <a:prstGeom prst="ellipse">
            <a:avLst/>
          </a:prstGeom>
          <a:solidFill>
            <a:schemeClr val="tx1"/>
          </a:solidFill>
          <a:ln w="1873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604780027" name="Text Placeholder 10"/>
          <p:cNvSpPr>
            <a:spLocks noGrp="1"/>
          </p:cNvSpPr>
          <p:nvPr>
            <p:ph type="body" sz="quarter" idx="11" hasCustomPrompt="1"/>
          </p:nvPr>
        </p:nvSpPr>
        <p:spPr bwMode="auto">
          <a:xfrm>
            <a:off x="444174" y="4131956"/>
            <a:ext cx="2065351"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90856291" name="Text Placeholder 10"/>
          <p:cNvSpPr>
            <a:spLocks noGrp="1"/>
          </p:cNvSpPr>
          <p:nvPr>
            <p:ph type="body" sz="quarter" idx="12" hasCustomPrompt="1"/>
          </p:nvPr>
        </p:nvSpPr>
        <p:spPr bwMode="auto">
          <a:xfrm>
            <a:off x="2710699" y="4131956"/>
            <a:ext cx="2065351"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430594149" name="Text Placeholder 10"/>
          <p:cNvSpPr>
            <a:spLocks noGrp="1"/>
          </p:cNvSpPr>
          <p:nvPr>
            <p:ph type="body" sz="quarter" idx="13" hasCustomPrompt="1"/>
          </p:nvPr>
        </p:nvSpPr>
        <p:spPr bwMode="auto">
          <a:xfrm>
            <a:off x="4977224" y="4131956"/>
            <a:ext cx="2065351"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862453738" name="Text Placeholder 10"/>
          <p:cNvSpPr>
            <a:spLocks noGrp="1"/>
          </p:cNvSpPr>
          <p:nvPr>
            <p:ph type="body" sz="quarter" idx="14" hasCustomPrompt="1"/>
          </p:nvPr>
        </p:nvSpPr>
        <p:spPr bwMode="auto">
          <a:xfrm>
            <a:off x="7243749" y="4131956"/>
            <a:ext cx="2065351"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2146566659" name="Text Placeholder 10"/>
          <p:cNvSpPr>
            <a:spLocks noGrp="1"/>
          </p:cNvSpPr>
          <p:nvPr>
            <p:ph type="body" sz="quarter" idx="15" hasCustomPrompt="1"/>
          </p:nvPr>
        </p:nvSpPr>
        <p:spPr bwMode="auto">
          <a:xfrm>
            <a:off x="9512133" y="4131956"/>
            <a:ext cx="2065351"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479699765" name="Date Placeholder 1"/>
          <p:cNvSpPr>
            <a:spLocks noGrp="1"/>
          </p:cNvSpPr>
          <p:nvPr>
            <p:ph type="dt" sz="half" idx="16"/>
          </p:nvPr>
        </p:nvSpPr>
        <p:spPr bwMode="auto"/>
        <p:txBody>
          <a:bodyPr/>
          <a:lstStyle/>
          <a:p>
            <a:pPr>
              <a:defRPr/>
            </a:pPr>
            <a:r>
              <a:rPr/>
              <a:t>3/6/2022</a:t>
            </a:r>
            <a:endParaRPr/>
          </a:p>
        </p:txBody>
      </p:sp>
      <p:sp>
        <p:nvSpPr>
          <p:cNvPr id="733124504" name="Footer Placeholder 2"/>
          <p:cNvSpPr>
            <a:spLocks noGrp="1"/>
          </p:cNvSpPr>
          <p:nvPr>
            <p:ph type="ftr" sz="quarter" idx="17"/>
          </p:nvPr>
        </p:nvSpPr>
        <p:spPr bwMode="auto"/>
        <p:txBody>
          <a:bodyPr/>
          <a:lstStyle/>
          <a:p>
            <a:pPr>
              <a:defRPr/>
            </a:pPr>
            <a:r>
              <a:rPr/>
              <a:t>2026-10-12, Karel Kroeze, BDSi. Shiny Workshop.</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UT Table of Content 6 bullits Pink">
    <p:spTree>
      <p:nvGrpSpPr>
        <p:cNvPr id="1" name=""/>
        <p:cNvGrpSpPr/>
        <p:nvPr/>
      </p:nvGrpSpPr>
      <p:grpSpPr bwMode="auto">
        <a:xfrm>
          <a:off x="0" y="0"/>
          <a:ext cx="0" cy="0"/>
          <a:chOff x="0" y="0"/>
          <a:chExt cx="0" cy="0"/>
        </a:xfrm>
      </p:grpSpPr>
      <p:sp>
        <p:nvSpPr>
          <p:cNvPr id="480021644" name="Flowchart: Process 3"/>
          <p:cNvSpPr/>
          <p:nvPr userDrawn="1"/>
        </p:nvSpPr>
        <p:spPr bwMode="auto">
          <a:xfrm>
            <a:off x="0" y="3385488"/>
            <a:ext cx="15321862" cy="159072"/>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605105254" name="Oval 4"/>
          <p:cNvSpPr/>
          <p:nvPr userDrawn="1"/>
        </p:nvSpPr>
        <p:spPr bwMode="auto">
          <a:xfrm>
            <a:off x="6676918" y="3014553"/>
            <a:ext cx="857859" cy="857859"/>
          </a:xfrm>
          <a:prstGeom prst="ellipse">
            <a:avLst/>
          </a:prstGeom>
          <a:solidFill>
            <a:schemeClr val="tx1"/>
          </a:solidFill>
          <a:ln w="187325">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550292528" name="Oval 5"/>
          <p:cNvSpPr/>
          <p:nvPr userDrawn="1"/>
        </p:nvSpPr>
        <p:spPr bwMode="auto">
          <a:xfrm>
            <a:off x="4654396" y="3016614"/>
            <a:ext cx="857859" cy="857859"/>
          </a:xfrm>
          <a:prstGeom prst="ellipse">
            <a:avLst/>
          </a:prstGeom>
          <a:solidFill>
            <a:schemeClr val="tx1"/>
          </a:solidFill>
          <a:ln w="1873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433497146" name="Oval 6"/>
          <p:cNvSpPr/>
          <p:nvPr userDrawn="1"/>
        </p:nvSpPr>
        <p:spPr bwMode="auto">
          <a:xfrm>
            <a:off x="2625826"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2120337401" name="Oval 7"/>
          <p:cNvSpPr/>
          <p:nvPr userDrawn="1"/>
        </p:nvSpPr>
        <p:spPr bwMode="auto">
          <a:xfrm>
            <a:off x="603304" y="3014553"/>
            <a:ext cx="857859" cy="857859"/>
          </a:xfrm>
          <a:prstGeom prst="ellipse">
            <a:avLst/>
          </a:prstGeom>
          <a:solidFill>
            <a:schemeClr val="tx1"/>
          </a:solidFill>
          <a:ln w="1873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solidFill>
                <a:srgbClr val="E4032B"/>
              </a:solidFill>
            </a:endParaRPr>
          </a:p>
        </p:txBody>
      </p:sp>
      <p:sp>
        <p:nvSpPr>
          <p:cNvPr id="887236807" name="Oval 15"/>
          <p:cNvSpPr/>
          <p:nvPr userDrawn="1"/>
        </p:nvSpPr>
        <p:spPr bwMode="auto">
          <a:xfrm>
            <a:off x="8699440" y="3014553"/>
            <a:ext cx="857859" cy="857859"/>
          </a:xfrm>
          <a:prstGeom prst="ellipse">
            <a:avLst/>
          </a:prstGeom>
          <a:solidFill>
            <a:schemeClr val="tx1"/>
          </a:solidFill>
          <a:ln w="1873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824857481" name="Text Placeholder 10"/>
          <p:cNvSpPr>
            <a:spLocks noGrp="1"/>
          </p:cNvSpPr>
          <p:nvPr>
            <p:ph type="body" sz="quarter" idx="11" hasCustomPrompt="1"/>
          </p:nvPr>
        </p:nvSpPr>
        <p:spPr bwMode="auto">
          <a:xfrm>
            <a:off x="142420" y="4131956"/>
            <a:ext cx="1779625"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314202253" name="Oval 13"/>
          <p:cNvSpPr/>
          <p:nvPr userDrawn="1"/>
        </p:nvSpPr>
        <p:spPr bwMode="auto">
          <a:xfrm>
            <a:off x="10599123"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99920288" name="Text Placeholder 10"/>
          <p:cNvSpPr>
            <a:spLocks noGrp="1"/>
          </p:cNvSpPr>
          <p:nvPr>
            <p:ph type="body" sz="quarter" idx="12" hasCustomPrompt="1"/>
          </p:nvPr>
        </p:nvSpPr>
        <p:spPr bwMode="auto">
          <a:xfrm>
            <a:off x="2164942" y="4131956"/>
            <a:ext cx="1779625"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513641775" name="Text Placeholder 10"/>
          <p:cNvSpPr>
            <a:spLocks noGrp="1"/>
          </p:cNvSpPr>
          <p:nvPr>
            <p:ph type="body" sz="quarter" idx="13" hasCustomPrompt="1"/>
          </p:nvPr>
        </p:nvSpPr>
        <p:spPr bwMode="auto">
          <a:xfrm>
            <a:off x="4187464" y="4131956"/>
            <a:ext cx="1779625"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212190085" name="Text Placeholder 10"/>
          <p:cNvSpPr>
            <a:spLocks noGrp="1"/>
          </p:cNvSpPr>
          <p:nvPr>
            <p:ph type="body" sz="quarter" idx="14" hasCustomPrompt="1"/>
          </p:nvPr>
        </p:nvSpPr>
        <p:spPr bwMode="auto">
          <a:xfrm>
            <a:off x="6209986" y="4131956"/>
            <a:ext cx="1779625"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842616207" name="Text Placeholder 10"/>
          <p:cNvSpPr>
            <a:spLocks noGrp="1"/>
          </p:cNvSpPr>
          <p:nvPr>
            <p:ph type="body" sz="quarter" idx="15" hasCustomPrompt="1"/>
          </p:nvPr>
        </p:nvSpPr>
        <p:spPr bwMode="auto">
          <a:xfrm>
            <a:off x="8235339" y="4153385"/>
            <a:ext cx="1779625"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 </a:t>
            </a:r>
            <a:endParaRPr/>
          </a:p>
        </p:txBody>
      </p:sp>
      <p:sp>
        <p:nvSpPr>
          <p:cNvPr id="398447504" name="Text Placeholder 10"/>
          <p:cNvSpPr>
            <a:spLocks noGrp="1"/>
          </p:cNvSpPr>
          <p:nvPr>
            <p:ph type="body" sz="quarter" idx="16" hasCustomPrompt="1"/>
          </p:nvPr>
        </p:nvSpPr>
        <p:spPr bwMode="auto">
          <a:xfrm>
            <a:off x="10257861" y="4153385"/>
            <a:ext cx="1779625"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 </a:t>
            </a:r>
            <a:endParaRPr/>
          </a:p>
        </p:txBody>
      </p:sp>
      <p:sp>
        <p:nvSpPr>
          <p:cNvPr id="2072109217" name="Date Placeholder 1"/>
          <p:cNvSpPr>
            <a:spLocks noGrp="1"/>
          </p:cNvSpPr>
          <p:nvPr>
            <p:ph type="dt" sz="half" idx="17"/>
          </p:nvPr>
        </p:nvSpPr>
        <p:spPr bwMode="auto"/>
        <p:txBody>
          <a:bodyPr/>
          <a:lstStyle/>
          <a:p>
            <a:pPr>
              <a:defRPr/>
            </a:pPr>
            <a:r>
              <a:rPr/>
              <a:t>3/6/2022</a:t>
            </a:r>
            <a:endParaRPr/>
          </a:p>
        </p:txBody>
      </p:sp>
      <p:sp>
        <p:nvSpPr>
          <p:cNvPr id="2078568388" name="Footer Placeholder 2"/>
          <p:cNvSpPr>
            <a:spLocks noGrp="1"/>
          </p:cNvSpPr>
          <p:nvPr>
            <p:ph type="ftr" sz="quarter" idx="18"/>
          </p:nvPr>
        </p:nvSpPr>
        <p:spPr bwMode="auto"/>
        <p:txBody>
          <a:bodyPr/>
          <a:lstStyle/>
          <a:p>
            <a:pPr>
              <a:defRPr/>
            </a:pPr>
            <a:r>
              <a:rPr/>
              <a:t>2026-10-12, Karel Kroeze, BDSi. Shiny Workshop.</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Photo Slide Blue">
    <p:spTree>
      <p:nvGrpSpPr>
        <p:cNvPr id="1" name=""/>
        <p:cNvGrpSpPr/>
        <p:nvPr/>
      </p:nvGrpSpPr>
      <p:grpSpPr bwMode="auto">
        <a:xfrm>
          <a:off x="0" y="0"/>
          <a:ext cx="0" cy="0"/>
          <a:chOff x="0" y="0"/>
          <a:chExt cx="0" cy="0"/>
        </a:xfrm>
      </p:grpSpPr>
      <p:sp>
        <p:nvSpPr>
          <p:cNvPr id="1954452872" name="Picture Placeholder 8"/>
          <p:cNvSpPr>
            <a:spLocks noGrp="1"/>
          </p:cNvSpPr>
          <p:nvPr>
            <p:ph type="pic" sz="quarter" idx="11"/>
          </p:nvPr>
        </p:nvSpPr>
        <p:spPr bwMode="auto">
          <a:xfrm>
            <a:off x="0" y="0"/>
            <a:ext cx="12192000" cy="5883349"/>
          </a:xfrm>
          <a:prstGeom prst="rect">
            <a:avLst/>
          </a:prstGeom>
        </p:spPr>
        <p:txBody>
          <a:bodyPr/>
          <a:lstStyle/>
          <a:p>
            <a:pPr>
              <a:defRPr/>
            </a:pPr>
            <a:endParaRPr lang="en-US"/>
          </a:p>
        </p:txBody>
      </p:sp>
      <p:sp>
        <p:nvSpPr>
          <p:cNvPr id="257286178" name="Picture Placeholder 12"/>
          <p:cNvSpPr>
            <a:spLocks noGrp="1"/>
          </p:cNvSpPr>
          <p:nvPr>
            <p:ph type="pic" sz="quarter" idx="12" hasCustomPrompt="1"/>
          </p:nvPr>
        </p:nvSpPr>
        <p:spPr bwMode="auto">
          <a:xfrm>
            <a:off x="715963" y="2882349"/>
            <a:ext cx="3001272" cy="4045502"/>
          </a:xfrm>
          <a:prstGeom prst="rect">
            <a:avLst/>
          </a:prstGeom>
          <a:solidFill>
            <a:srgbClr val="469BC0"/>
          </a:solidFill>
        </p:spPr>
        <p:txBody>
          <a:bodyPr/>
          <a:lstStyle>
            <a:lvl1pPr marL="0" indent="0">
              <a:buNone/>
              <a:defRPr>
                <a:solidFill>
                  <a:srgbClr val="469BC0"/>
                </a:solidFill>
              </a:defRPr>
            </a:lvl1pPr>
          </a:lstStyle>
          <a:p>
            <a:pPr>
              <a:defRPr/>
            </a:pPr>
            <a:r>
              <a:rPr lang="en-US"/>
              <a:t>Background fill</a:t>
            </a:r>
            <a:endParaRPr/>
          </a:p>
        </p:txBody>
      </p:sp>
      <p:sp>
        <p:nvSpPr>
          <p:cNvPr id="1380750888" name="Title 1"/>
          <p:cNvSpPr>
            <a:spLocks noGrp="1"/>
          </p:cNvSpPr>
          <p:nvPr>
            <p:ph type="ctrTitle" hasCustomPrompt="1"/>
          </p:nvPr>
        </p:nvSpPr>
        <p:spPr bwMode="auto">
          <a:xfrm>
            <a:off x="828751" y="3039993"/>
            <a:ext cx="2749336" cy="1054929"/>
          </a:xfrm>
          <a:prstGeom prst="rect">
            <a:avLst/>
          </a:prstGeom>
        </p:spPr>
        <p:txBody>
          <a:bodyPr anchor="t"/>
          <a:lstStyle>
            <a:lvl1pPr algn="l">
              <a:defRPr sz="3200" b="1" i="0" cap="all">
                <a:solidFill>
                  <a:schemeClr val="bg1"/>
                </a:solidFill>
                <a:latin typeface="Arial Narrow"/>
              </a:defRPr>
            </a:lvl1pPr>
          </a:lstStyle>
          <a:p>
            <a:pPr>
              <a:defRPr/>
            </a:pPr>
            <a:r>
              <a:rPr lang="en-US"/>
              <a:t>Click to edit title style</a:t>
            </a:r>
            <a:endParaRPr/>
          </a:p>
        </p:txBody>
      </p:sp>
      <p:sp>
        <p:nvSpPr>
          <p:cNvPr id="662824441" name="Subtitle 2"/>
          <p:cNvSpPr>
            <a:spLocks noGrp="1"/>
          </p:cNvSpPr>
          <p:nvPr>
            <p:ph type="subTitle" idx="1" hasCustomPrompt="1"/>
          </p:nvPr>
        </p:nvSpPr>
        <p:spPr bwMode="auto">
          <a:xfrm>
            <a:off x="828751" y="4217359"/>
            <a:ext cx="2749336" cy="2369108"/>
          </a:xfrm>
          <a:prstGeom prst="rect">
            <a:avLst/>
          </a:prstGeom>
        </p:spPr>
        <p:txBody>
          <a:bodyPr/>
          <a:lstStyle>
            <a:lvl1pPr marL="0" indent="0" algn="l">
              <a:buNone/>
              <a:defRPr sz="1600">
                <a:solidFill>
                  <a:schemeClr val="bg1"/>
                </a:solidFill>
                <a:latin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body text</a:t>
            </a:r>
            <a:endParaRPr/>
          </a:p>
        </p:txBody>
      </p:sp>
      <p:sp>
        <p:nvSpPr>
          <p:cNvPr id="839862898" name="Date Placeholder 3"/>
          <p:cNvSpPr>
            <a:spLocks noGrp="1"/>
          </p:cNvSpPr>
          <p:nvPr>
            <p:ph type="dt" sz="half" idx="13"/>
          </p:nvPr>
        </p:nvSpPr>
        <p:spPr bwMode="auto"/>
        <p:txBody>
          <a:bodyPr/>
          <a:lstStyle/>
          <a:p>
            <a:pPr>
              <a:defRPr/>
            </a:pPr>
            <a:r>
              <a:rPr/>
              <a:t>3/6/2022</a:t>
            </a:r>
            <a:endParaRPr/>
          </a:p>
        </p:txBody>
      </p:sp>
      <p:sp>
        <p:nvSpPr>
          <p:cNvPr id="223209648" name="Footer Placeholder 4"/>
          <p:cNvSpPr>
            <a:spLocks noGrp="1"/>
          </p:cNvSpPr>
          <p:nvPr>
            <p:ph type="ftr" sz="quarter" idx="14"/>
          </p:nvPr>
        </p:nvSpPr>
        <p:spPr bwMode="auto"/>
        <p:txBody>
          <a:bodyPr/>
          <a:lstStyle/>
          <a:p>
            <a:pPr>
              <a:defRPr/>
            </a:pPr>
            <a:r>
              <a:rPr/>
              <a:t>2026-10-12, Karel Kroeze, BDSi. Shiny Workshop.</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Photo and Content">
    <p:spTree>
      <p:nvGrpSpPr>
        <p:cNvPr id="1" name=""/>
        <p:cNvGrpSpPr/>
        <p:nvPr/>
      </p:nvGrpSpPr>
      <p:grpSpPr bwMode="auto">
        <a:xfrm>
          <a:off x="0" y="0"/>
          <a:ext cx="0" cy="0"/>
          <a:chOff x="0" y="0"/>
          <a:chExt cx="0" cy="0"/>
        </a:xfrm>
      </p:grpSpPr>
      <p:sp>
        <p:nvSpPr>
          <p:cNvPr id="1005822851" name="Title 1"/>
          <p:cNvSpPr>
            <a:spLocks noGrp="1"/>
          </p:cNvSpPr>
          <p:nvPr>
            <p:ph type="title"/>
          </p:nvPr>
        </p:nvSpPr>
        <p:spPr bwMode="auto">
          <a:xfrm>
            <a:off x="3906077" y="365125"/>
            <a:ext cx="7901609" cy="1325563"/>
          </a:xfrm>
          <a:prstGeom prst="rect">
            <a:avLst/>
          </a:prstGeom>
        </p:spPr>
        <p:txBody>
          <a:bodyPr anchor="ctr"/>
          <a:lstStyle>
            <a:lvl1pPr algn="l">
              <a:defRPr b="1" i="0" cap="all">
                <a:solidFill>
                  <a:schemeClr val="bg1"/>
                </a:solidFill>
                <a:latin typeface="Arial Narrow"/>
              </a:defRPr>
            </a:lvl1pPr>
          </a:lstStyle>
          <a:p>
            <a:pPr>
              <a:defRPr/>
            </a:pPr>
            <a:r>
              <a:rPr lang="en-US"/>
              <a:t>Click to edit Master title style</a:t>
            </a:r>
            <a:endParaRPr/>
          </a:p>
        </p:txBody>
      </p:sp>
      <p:sp>
        <p:nvSpPr>
          <p:cNvPr id="1232437629" name="Content Placeholder 2"/>
          <p:cNvSpPr>
            <a:spLocks noGrp="1"/>
          </p:cNvSpPr>
          <p:nvPr>
            <p:ph idx="1"/>
          </p:nvPr>
        </p:nvSpPr>
        <p:spPr bwMode="auto">
          <a:xfrm>
            <a:off x="3906076" y="1825625"/>
            <a:ext cx="7901609" cy="3998705"/>
          </a:xfrm>
          <a:prstGeom prst="rect">
            <a:avLst/>
          </a:prstGeom>
        </p:spPr>
        <p:txBody>
          <a:bodyPr/>
          <a:lstStyle>
            <a:lvl1pPr>
              <a:defRPr>
                <a:solidFill>
                  <a:schemeClr val="bg1"/>
                </a:solidFill>
                <a:latin typeface="Arial"/>
              </a:defRPr>
            </a:lvl1pPr>
            <a:lvl2pPr>
              <a:defRPr>
                <a:solidFill>
                  <a:schemeClr val="bg1"/>
                </a:solidFill>
                <a:latin typeface="Arial"/>
              </a:defRPr>
            </a:lvl2pPr>
            <a:lvl3pPr>
              <a:defRPr>
                <a:solidFill>
                  <a:schemeClr val="bg1"/>
                </a:solidFill>
                <a:latin typeface="Arial"/>
              </a:defRPr>
            </a:lvl3pPr>
            <a:lvl4pPr>
              <a:defRPr>
                <a:solidFill>
                  <a:schemeClr val="bg1"/>
                </a:solidFill>
                <a:latin typeface="Arial"/>
              </a:defRPr>
            </a:lvl4pPr>
            <a:lvl5pPr>
              <a:defRPr>
                <a:solidFill>
                  <a:schemeClr val="bg1"/>
                </a:solidFill>
                <a:latin typeface="Arial"/>
              </a:defRPr>
            </a:lvl5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841506769" name="Picture Placeholder 8"/>
          <p:cNvSpPr>
            <a:spLocks noGrp="1"/>
          </p:cNvSpPr>
          <p:nvPr>
            <p:ph type="pic" sz="quarter" idx="11"/>
          </p:nvPr>
        </p:nvSpPr>
        <p:spPr bwMode="auto">
          <a:xfrm>
            <a:off x="0" y="0"/>
            <a:ext cx="3746500" cy="6858000"/>
          </a:xfrm>
          <a:prstGeom prst="rect">
            <a:avLst/>
          </a:prstGeom>
        </p:spPr>
        <p:txBody>
          <a:bodyPr/>
          <a:lstStyle/>
          <a:p>
            <a:pPr>
              <a:defRPr/>
            </a:pPr>
            <a:endParaRPr lang="en-US"/>
          </a:p>
        </p:txBody>
      </p:sp>
      <p:sp>
        <p:nvSpPr>
          <p:cNvPr id="661630027" name="Date Placeholder 3"/>
          <p:cNvSpPr>
            <a:spLocks noGrp="1"/>
          </p:cNvSpPr>
          <p:nvPr>
            <p:ph type="dt" sz="half" idx="12"/>
          </p:nvPr>
        </p:nvSpPr>
        <p:spPr bwMode="auto"/>
        <p:txBody>
          <a:bodyPr/>
          <a:lstStyle/>
          <a:p>
            <a:pPr>
              <a:defRPr/>
            </a:pPr>
            <a:r>
              <a:rPr/>
              <a:t>3/6/2022</a:t>
            </a:r>
            <a:endParaRPr/>
          </a:p>
        </p:txBody>
      </p:sp>
      <p:sp>
        <p:nvSpPr>
          <p:cNvPr id="1525094650" name="Footer Placeholder 4"/>
          <p:cNvSpPr>
            <a:spLocks noGrp="1"/>
          </p:cNvSpPr>
          <p:nvPr>
            <p:ph type="ftr" sz="quarter" idx="13"/>
          </p:nvPr>
        </p:nvSpPr>
        <p:spPr bwMode="auto"/>
        <p:txBody>
          <a:bodyPr/>
          <a:lstStyle/>
          <a:p>
            <a:pPr>
              <a:defRPr/>
            </a:pPr>
            <a:r>
              <a:rPr/>
              <a:t>2026-10-12, Karel Kroeze, BDSi. Shiny Workshop.</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2_Element and content Blue">
    <p:spTree>
      <p:nvGrpSpPr>
        <p:cNvPr id="1" name=""/>
        <p:cNvGrpSpPr/>
        <p:nvPr/>
      </p:nvGrpSpPr>
      <p:grpSpPr bwMode="auto">
        <a:xfrm>
          <a:off x="0" y="0"/>
          <a:ext cx="0" cy="0"/>
          <a:chOff x="0" y="0"/>
          <a:chExt cx="0" cy="0"/>
        </a:xfrm>
      </p:grpSpPr>
      <p:sp>
        <p:nvSpPr>
          <p:cNvPr id="717452687" name="Title 1"/>
          <p:cNvSpPr>
            <a:spLocks noGrp="1"/>
          </p:cNvSpPr>
          <p:nvPr>
            <p:ph type="title"/>
          </p:nvPr>
        </p:nvSpPr>
        <p:spPr bwMode="auto">
          <a:xfrm>
            <a:off x="1265583" y="365125"/>
            <a:ext cx="10515600" cy="1325563"/>
          </a:xfrm>
          <a:prstGeom prst="rect">
            <a:avLst/>
          </a:prstGeom>
          <a:solidFill>
            <a:schemeClr val="tx1">
              <a:lumMod val="85000"/>
              <a:lumOff val="15000"/>
              <a:alpha val="81000"/>
            </a:schemeClr>
          </a:solidFill>
        </p:spPr>
        <p:txBody>
          <a:bodyPr anchor="ctr"/>
          <a:lstStyle>
            <a:lvl1pPr>
              <a:defRPr b="1" i="0" cap="all">
                <a:solidFill>
                  <a:schemeClr val="bg1"/>
                </a:solidFill>
                <a:latin typeface="Arial Narrow"/>
              </a:defRPr>
            </a:lvl1pPr>
          </a:lstStyle>
          <a:p>
            <a:pPr>
              <a:defRPr/>
            </a:pPr>
            <a:r>
              <a:rPr lang="en-US"/>
              <a:t>Click to edit Master title style</a:t>
            </a:r>
            <a:endParaRPr/>
          </a:p>
        </p:txBody>
      </p:sp>
      <p:sp>
        <p:nvSpPr>
          <p:cNvPr id="1333455975" name="Content Placeholder 2"/>
          <p:cNvSpPr>
            <a:spLocks noGrp="1"/>
          </p:cNvSpPr>
          <p:nvPr>
            <p:ph sz="half" idx="1"/>
          </p:nvPr>
        </p:nvSpPr>
        <p:spPr bwMode="auto">
          <a:xfrm>
            <a:off x="1265583" y="1825625"/>
            <a:ext cx="5181600" cy="4351338"/>
          </a:xfrm>
          <a:prstGeom prst="rect">
            <a:avLst/>
          </a:prstGeom>
          <a:solidFill>
            <a:schemeClr val="tx1">
              <a:lumMod val="85000"/>
              <a:lumOff val="15000"/>
              <a:alpha val="81000"/>
            </a:scheme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790953794" name="Content Placeholder 3"/>
          <p:cNvSpPr>
            <a:spLocks noGrp="1"/>
          </p:cNvSpPr>
          <p:nvPr>
            <p:ph sz="half" idx="2"/>
          </p:nvPr>
        </p:nvSpPr>
        <p:spPr bwMode="auto">
          <a:xfrm>
            <a:off x="6599583" y="1825625"/>
            <a:ext cx="5181600" cy="4351338"/>
          </a:xfrm>
          <a:prstGeom prst="rect">
            <a:avLst/>
          </a:prstGeom>
          <a:solidFill>
            <a:schemeClr val="tx1">
              <a:lumMod val="85000"/>
              <a:lumOff val="15000"/>
              <a:alpha val="81000"/>
            </a:scheme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012513737" name="Date Placeholder 1"/>
          <p:cNvSpPr>
            <a:spLocks noGrp="1"/>
          </p:cNvSpPr>
          <p:nvPr>
            <p:ph type="dt" sz="half" idx="10"/>
          </p:nvPr>
        </p:nvSpPr>
        <p:spPr bwMode="auto"/>
        <p:txBody>
          <a:bodyPr/>
          <a:lstStyle/>
          <a:p>
            <a:pPr>
              <a:defRPr/>
            </a:pPr>
            <a:r>
              <a:rPr/>
              <a:t>3/6/2022</a:t>
            </a:r>
            <a:endParaRPr/>
          </a:p>
        </p:txBody>
      </p:sp>
      <p:sp>
        <p:nvSpPr>
          <p:cNvPr id="209426979" name="Footer Placeholder 2"/>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3_Element and content Blue">
    <p:spTree>
      <p:nvGrpSpPr>
        <p:cNvPr id="1" name=""/>
        <p:cNvGrpSpPr/>
        <p:nvPr/>
      </p:nvGrpSpPr>
      <p:grpSpPr bwMode="auto">
        <a:xfrm>
          <a:off x="0" y="0"/>
          <a:ext cx="0" cy="0"/>
          <a:chOff x="0" y="0"/>
          <a:chExt cx="0" cy="0"/>
        </a:xfrm>
      </p:grpSpPr>
      <p:sp>
        <p:nvSpPr>
          <p:cNvPr id="649035445" name="Title 1"/>
          <p:cNvSpPr>
            <a:spLocks noGrp="1"/>
          </p:cNvSpPr>
          <p:nvPr>
            <p:ph type="title"/>
          </p:nvPr>
        </p:nvSpPr>
        <p:spPr bwMode="auto">
          <a:xfrm>
            <a:off x="1265583" y="365125"/>
            <a:ext cx="10515600" cy="1325563"/>
          </a:xfrm>
          <a:prstGeom prst="rect">
            <a:avLst/>
          </a:prstGeom>
          <a:solidFill>
            <a:schemeClr val="tx1">
              <a:lumMod val="85000"/>
              <a:lumOff val="15000"/>
              <a:alpha val="68000"/>
            </a:schemeClr>
          </a:solidFill>
        </p:spPr>
        <p:txBody>
          <a:bodyPr anchor="ctr"/>
          <a:lstStyle>
            <a:lvl1pPr>
              <a:defRPr b="1" i="0" cap="all">
                <a:solidFill>
                  <a:schemeClr val="bg1"/>
                </a:solidFill>
                <a:latin typeface="Arial Narrow"/>
              </a:defRPr>
            </a:lvl1pPr>
          </a:lstStyle>
          <a:p>
            <a:pPr>
              <a:defRPr/>
            </a:pPr>
            <a:r>
              <a:rPr lang="en-US"/>
              <a:t>Click to edit Master title style</a:t>
            </a:r>
            <a:endParaRPr/>
          </a:p>
        </p:txBody>
      </p:sp>
      <p:sp>
        <p:nvSpPr>
          <p:cNvPr id="1176234452" name="Content Placeholder 2"/>
          <p:cNvSpPr>
            <a:spLocks noGrp="1"/>
          </p:cNvSpPr>
          <p:nvPr>
            <p:ph sz="half" idx="1"/>
          </p:nvPr>
        </p:nvSpPr>
        <p:spPr bwMode="auto">
          <a:xfrm>
            <a:off x="1265583" y="1825625"/>
            <a:ext cx="10515600" cy="4105156"/>
          </a:xfrm>
          <a:prstGeom prst="rect">
            <a:avLst/>
          </a:prstGeom>
          <a:solidFill>
            <a:schemeClr val="tx1">
              <a:lumMod val="85000"/>
              <a:lumOff val="15000"/>
              <a:alpha val="68000"/>
            </a:schemeClr>
          </a:solidFill>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defRPr/>
            </a:pPr>
            <a:r>
              <a:rPr lang="en-US"/>
              <a:t>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38379311" name="Date Placeholder 3"/>
          <p:cNvSpPr>
            <a:spLocks noGrp="1"/>
          </p:cNvSpPr>
          <p:nvPr>
            <p:ph type="dt" sz="half" idx="10"/>
          </p:nvPr>
        </p:nvSpPr>
        <p:spPr bwMode="auto"/>
        <p:txBody>
          <a:bodyPr/>
          <a:lstStyle/>
          <a:p>
            <a:pPr>
              <a:defRPr/>
            </a:pPr>
            <a:r>
              <a:rPr/>
              <a:t>3/6/2022</a:t>
            </a:r>
            <a:endParaRPr/>
          </a:p>
        </p:txBody>
      </p:sp>
      <p:sp>
        <p:nvSpPr>
          <p:cNvPr id="1880075502" name="Footer Placeholder 4"/>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UT Table of Content 4 bullits Pink">
    <p:spTree>
      <p:nvGrpSpPr>
        <p:cNvPr id="1" name=""/>
        <p:cNvGrpSpPr/>
        <p:nvPr/>
      </p:nvGrpSpPr>
      <p:grpSpPr bwMode="auto">
        <a:xfrm>
          <a:off x="0" y="0"/>
          <a:ext cx="0" cy="0"/>
          <a:chOff x="0" y="0"/>
          <a:chExt cx="0" cy="0"/>
        </a:xfrm>
      </p:grpSpPr>
      <p:sp>
        <p:nvSpPr>
          <p:cNvPr id="768294928" name="Flowchart: Process 3"/>
          <p:cNvSpPr/>
          <p:nvPr userDrawn="1"/>
        </p:nvSpPr>
        <p:spPr bwMode="auto">
          <a:xfrm>
            <a:off x="0" y="3385488"/>
            <a:ext cx="15321862" cy="159072"/>
          </a:xfrm>
          <a:prstGeom prst="flowChartProcess">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436998707" name="Oval 4"/>
          <p:cNvSpPr/>
          <p:nvPr userDrawn="1"/>
        </p:nvSpPr>
        <p:spPr bwMode="auto">
          <a:xfrm>
            <a:off x="10069921"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725780279" name="Oval 5"/>
          <p:cNvSpPr/>
          <p:nvPr userDrawn="1"/>
        </p:nvSpPr>
        <p:spPr bwMode="auto">
          <a:xfrm>
            <a:off x="7161825" y="3016614"/>
            <a:ext cx="857859" cy="857859"/>
          </a:xfrm>
          <a:prstGeom prst="ellipse">
            <a:avLst/>
          </a:prstGeom>
          <a:solidFill>
            <a:schemeClr val="tx1"/>
          </a:solidFill>
          <a:ln w="18732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2035796251" name="Oval 6"/>
          <p:cNvSpPr/>
          <p:nvPr userDrawn="1"/>
        </p:nvSpPr>
        <p:spPr bwMode="auto">
          <a:xfrm>
            <a:off x="4253729" y="3014553"/>
            <a:ext cx="857859" cy="857859"/>
          </a:xfrm>
          <a:prstGeom prst="ellipse">
            <a:avLst/>
          </a:prstGeom>
          <a:solidFill>
            <a:schemeClr val="tx1"/>
          </a:solidFill>
          <a:ln w="1873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p>
        </p:txBody>
      </p:sp>
      <p:sp>
        <p:nvSpPr>
          <p:cNvPr id="1670377052" name="Oval 7"/>
          <p:cNvSpPr/>
          <p:nvPr userDrawn="1"/>
        </p:nvSpPr>
        <p:spPr bwMode="auto">
          <a:xfrm>
            <a:off x="1345633" y="3014553"/>
            <a:ext cx="857859" cy="857859"/>
          </a:xfrm>
          <a:prstGeom prst="ellipse">
            <a:avLst/>
          </a:prstGeom>
          <a:solidFill>
            <a:schemeClr val="tx1"/>
          </a:solidFill>
          <a:ln w="18732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nl-NL">
              <a:solidFill>
                <a:srgbClr val="E4032B"/>
              </a:solidFill>
            </a:endParaRPr>
          </a:p>
        </p:txBody>
      </p:sp>
      <p:sp>
        <p:nvSpPr>
          <p:cNvPr id="1181196665" name="Text Placeholder 10"/>
          <p:cNvSpPr>
            <a:spLocks noGrp="1"/>
          </p:cNvSpPr>
          <p:nvPr>
            <p:ph type="body" sz="quarter" idx="11" hasCustomPrompt="1"/>
          </p:nvPr>
        </p:nvSpPr>
        <p:spPr bwMode="auto">
          <a:xfrm>
            <a:off x="457627"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867716098" name="Text Placeholder 10"/>
          <p:cNvSpPr>
            <a:spLocks noGrp="1"/>
          </p:cNvSpPr>
          <p:nvPr>
            <p:ph type="body" sz="quarter" idx="12" hasCustomPrompt="1"/>
          </p:nvPr>
        </p:nvSpPr>
        <p:spPr bwMode="auto">
          <a:xfrm>
            <a:off x="3365723"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445273665" name="Text Placeholder 10"/>
          <p:cNvSpPr>
            <a:spLocks noGrp="1"/>
          </p:cNvSpPr>
          <p:nvPr>
            <p:ph type="body" sz="quarter" idx="13" hasCustomPrompt="1"/>
          </p:nvPr>
        </p:nvSpPr>
        <p:spPr bwMode="auto">
          <a:xfrm>
            <a:off x="6273819"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
        <p:nvSpPr>
          <p:cNvPr id="1232006846" name="Text Placeholder 10"/>
          <p:cNvSpPr>
            <a:spLocks noGrp="1"/>
          </p:cNvSpPr>
          <p:nvPr>
            <p:ph type="body" sz="quarter" idx="14" hasCustomPrompt="1"/>
          </p:nvPr>
        </p:nvSpPr>
        <p:spPr bwMode="auto">
          <a:xfrm>
            <a:off x="9181915" y="4131956"/>
            <a:ext cx="2633869" cy="1609724"/>
          </a:xfrm>
          <a:prstGeom prst="rect">
            <a:avLst/>
          </a:prstGeom>
        </p:spPr>
        <p:txBody>
          <a:bodyPr/>
          <a:lstStyle>
            <a:lvl1pPr marL="0" indent="0" algn="ctr">
              <a:buNone/>
              <a:defRPr sz="1800" b="1" i="0" cap="all">
                <a:solidFill>
                  <a:schemeClr val="bg1"/>
                </a:solidFill>
                <a:latin typeface="Arial Narrow"/>
              </a:defRPr>
            </a:lvl1pPr>
          </a:lstStyle>
          <a:p>
            <a:pPr lvl="0">
              <a:defRPr/>
            </a:pPr>
            <a:r>
              <a:rPr lang="en-US"/>
              <a:t>Chapter</a:t>
            </a:r>
            <a:endParaRP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 Id="rId10" Type="http://schemas.openxmlformats.org/officeDocument/2006/relationships/image" Target="../media/media1.svg"/></Relationships>
</file>

<file path=ppt/slideMasters/_rels/slideMaster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theme" Target="../theme/theme2.xml"/><Relationship Id="rId7" Type="http://schemas.openxmlformats.org/officeDocument/2006/relationships/image" Target="../media/image3.png"/><Relationship Id="rId8"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Pr shadeToTitle="0">
        <a:solidFill>
          <a:schemeClr val="bg2">
            <a:lumMod val="10000"/>
          </a:schemeClr>
        </a:solidFill>
      </p:bgPr>
    </p:bg>
    <p:spTree>
      <p:nvGrpSpPr>
        <p:cNvPr id="1" name=""/>
        <p:cNvGrpSpPr/>
        <p:nvPr/>
      </p:nvGrpSpPr>
      <p:grpSpPr bwMode="auto">
        <a:xfrm>
          <a:off x="0" y="0"/>
          <a:ext cx="0" cy="0"/>
          <a:chOff x="0" y="0"/>
          <a:chExt cx="0" cy="0"/>
        </a:xfrm>
      </p:grpSpPr>
      <p:pic>
        <p:nvPicPr>
          <p:cNvPr id="475707388" name="Picture 6"/>
          <p:cNvPicPr>
            <a:picLocks noChangeAspect="1"/>
          </p:cNvPicPr>
          <p:nvPr userDrawn="1"/>
        </p:nvPicPr>
        <p:blipFill rotWithShape="1">
          <a:blip r:embed="rId8"/>
          <a:stretch/>
        </p:blipFill>
        <p:spPr bwMode="auto">
          <a:xfrm rot="16982642">
            <a:off x="2631594" y="-3945419"/>
            <a:ext cx="7106696" cy="13651482"/>
          </a:xfrm>
          <a:prstGeom prst="rect">
            <a:avLst/>
          </a:prstGeom>
        </p:spPr>
      </p:pic>
      <p:sp>
        <p:nvSpPr>
          <p:cNvPr id="617090829" name="Slide Number Placeholder 1"/>
          <p:cNvSpPr txBox="1"/>
          <p:nvPr userDrawn="1"/>
        </p:nvSpPr>
        <p:spPr bwMode="auto">
          <a:xfrm>
            <a:off x="8683087" y="6251439"/>
            <a:ext cx="441770" cy="441813"/>
          </a:xfrm>
          <a:prstGeom prst="ellipse">
            <a:avLst/>
          </a:prstGeom>
          <a:noFill/>
          <a:ln w="50800">
            <a:solidFill>
              <a:schemeClr val="accent1">
                <a:lumMod val="75000"/>
              </a:schemeClr>
            </a:solidFill>
          </a:ln>
        </p:spPr>
        <p:txBody>
          <a:bodyPr vert="horz" lIns="91440" tIns="45720" rIns="91440" bIns="45720" rtlCol="0" anchor="ctr">
            <a:noAutofit/>
          </a:bodyPr>
          <a:lstStyle>
            <a:defPPr>
              <a:defRPr lang="en-US"/>
            </a:defPPr>
            <a:lvl1pPr marL="0" algn="ctr" defTabSz="914400" rtl="0">
              <a:defRPr sz="1100" b="1" i="0" cap="all">
                <a:solidFill>
                  <a:schemeClr val="bg1"/>
                </a:solidFill>
                <a:latin typeface="Arial Narrow"/>
                <a:ea typeface="+mn-ea"/>
                <a:cs typeface="Arial Narrow"/>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6586D83B-F5E2-6149-B7DD-0F6F1BA75908}" type="slidenum">
              <a:rPr lang="en-US"/>
              <a:t>‹#›</a:t>
            </a:fld>
            <a:endParaRPr lang="en-US"/>
          </a:p>
        </p:txBody>
      </p:sp>
      <p:pic>
        <p:nvPicPr>
          <p:cNvPr id="360536395" name="Graphic 8"/>
          <p:cNvPicPr>
            <a:picLocks noChangeAspect="1"/>
          </p:cNvPicPr>
          <p:nvPr userDrawn="1"/>
        </p:nvPicPr>
        <p:blipFill rotWithShape="1">
          <a:blip r:embed="rId9">
            <a:extLst>
              <a:ext uri="{96DAC541-7B7A-43D3-8B79-37D633B846F1}">
                <asvg:svgBlip xmlns:asvg="http://schemas.microsoft.com/office/drawing/2016/SVG/main" r:embed="rId10"/>
              </a:ext>
            </a:extLst>
          </a:blip>
          <a:stretch/>
        </p:blipFill>
        <p:spPr bwMode="auto">
          <a:xfrm>
            <a:off x="9332675" y="6236052"/>
            <a:ext cx="2714625" cy="457200"/>
          </a:xfrm>
          <a:prstGeom prst="rect">
            <a:avLst/>
          </a:prstGeom>
        </p:spPr>
      </p:pic>
      <p:sp>
        <p:nvSpPr>
          <p:cNvPr id="343353425" name="Date Placeholder 12"/>
          <p:cNvSpPr>
            <a:spLocks noGrp="1"/>
          </p:cNvSpPr>
          <p:nvPr>
            <p:ph type="dt" sz="half" idx="2"/>
          </p:nvPr>
        </p:nvSpPr>
        <p:spPr bwMode="auto">
          <a:xfrm>
            <a:off x="144700" y="6365296"/>
            <a:ext cx="2304652" cy="365125"/>
          </a:xfrm>
          <a:prstGeom prst="rect">
            <a:avLst/>
          </a:prstGeom>
        </p:spPr>
        <p:txBody>
          <a:bodyPr vert="horz" lIns="91440" tIns="45720" rIns="91440" bIns="45720" rtlCol="0" anchor="b"/>
          <a:lstStyle>
            <a:lvl1pPr algn="l">
              <a:defRPr sz="1200">
                <a:solidFill>
                  <a:schemeClr val="tx1">
                    <a:tint val="75000"/>
                  </a:schemeClr>
                </a:solidFill>
              </a:defRPr>
            </a:lvl1pPr>
          </a:lstStyle>
          <a:p>
            <a:pPr>
              <a:defRPr/>
            </a:pPr>
            <a:r>
              <a:rPr/>
              <a:t>3/6/2022</a:t>
            </a:r>
            <a:endParaRPr/>
          </a:p>
        </p:txBody>
      </p:sp>
      <p:sp>
        <p:nvSpPr>
          <p:cNvPr id="1546033386" name="Footer Placeholder 13"/>
          <p:cNvSpPr>
            <a:spLocks noGrp="1"/>
          </p:cNvSpPr>
          <p:nvPr>
            <p:ph type="ftr" sz="quarter" idx="3"/>
          </p:nvPr>
        </p:nvSpPr>
        <p:spPr bwMode="auto">
          <a:xfrm>
            <a:off x="2910061" y="6356350"/>
            <a:ext cx="5459702" cy="365125"/>
          </a:xfrm>
          <a:prstGeom prst="rect">
            <a:avLst/>
          </a:prstGeom>
        </p:spPr>
        <p:txBody>
          <a:bodyPr vert="horz" lIns="91440" tIns="45720" rIns="91440" bIns="45720" rtlCol="0" anchor="b"/>
          <a:lstStyle>
            <a:lvl1pPr algn="l">
              <a:defRPr sz="1200">
                <a:solidFill>
                  <a:schemeClr val="tx1">
                    <a:tint val="75000"/>
                  </a:schemeClr>
                </a:solidFill>
              </a:defRPr>
            </a:lvl1pPr>
          </a:lstStyle>
          <a:p>
            <a:pPr>
              <a:defRPr/>
            </a:pPr>
            <a:r>
              <a:rPr/>
              <a:t>2026-10-12, Karel Kroeze, BDSi. Shiny Workshop.</a:t>
            </a:r>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dt="0" ftr="1" hdr="0" sldNum="0"/>
  <p:txStyles>
    <p:titleStyle>
      <a:lvl1pPr algn="l" defTabSz="914400" rtl="0">
        <a:lnSpc>
          <a:spcPct val="90000"/>
        </a:lnSpc>
        <a:spcBef>
          <a:spcPts val="0"/>
        </a:spcBef>
        <a:buNone/>
        <a:defRPr sz="4400">
          <a:solidFill>
            <a:schemeClr val="bg2"/>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bg2"/>
          </a:solidFill>
          <a:latin typeface="+mn-lt"/>
          <a:ea typeface="+mn-ea"/>
          <a:cs typeface="+mn-cs"/>
        </a:defRPr>
      </a:lvl1pPr>
      <a:lvl2pPr marL="685800" indent="-228600" algn="l" defTabSz="914400" rtl="0">
        <a:lnSpc>
          <a:spcPct val="90000"/>
        </a:lnSpc>
        <a:spcBef>
          <a:spcPts val="500"/>
        </a:spcBef>
        <a:buFont typeface="Arial"/>
        <a:buChar char="•"/>
        <a:defRPr sz="2400">
          <a:solidFill>
            <a:schemeClr val="bg2"/>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bg2"/>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bg2"/>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bg2"/>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Pr shadeToTitle="0">
        <a:solidFill>
          <a:schemeClr val="bg2">
            <a:lumMod val="10000"/>
          </a:schemeClr>
        </a:solidFill>
      </p:bgPr>
    </p:bg>
    <p:spTree>
      <p:nvGrpSpPr>
        <p:cNvPr id="1" name=""/>
        <p:cNvGrpSpPr/>
        <p:nvPr/>
      </p:nvGrpSpPr>
      <p:grpSpPr bwMode="auto">
        <a:xfrm>
          <a:off x="0" y="0"/>
          <a:ext cx="0" cy="0"/>
          <a:chOff x="0" y="0"/>
          <a:chExt cx="0" cy="0"/>
        </a:xfrm>
      </p:grpSpPr>
      <p:sp>
        <p:nvSpPr>
          <p:cNvPr id="2142435203" name="Slide Number Placeholder 1"/>
          <p:cNvSpPr txBox="1"/>
          <p:nvPr userDrawn="1"/>
        </p:nvSpPr>
        <p:spPr bwMode="auto">
          <a:xfrm>
            <a:off x="8683087" y="6251439"/>
            <a:ext cx="441770" cy="441813"/>
          </a:xfrm>
          <a:prstGeom prst="ellipse">
            <a:avLst/>
          </a:prstGeom>
          <a:noFill/>
          <a:ln w="50800">
            <a:solidFill>
              <a:schemeClr val="accent1">
                <a:lumMod val="75000"/>
              </a:schemeClr>
            </a:solidFill>
          </a:ln>
        </p:spPr>
        <p:txBody>
          <a:bodyPr vert="horz" lIns="91440" tIns="45720" rIns="91440" bIns="45720" rtlCol="0" anchor="ctr">
            <a:noAutofit/>
          </a:bodyPr>
          <a:lstStyle>
            <a:defPPr>
              <a:defRPr lang="en-US"/>
            </a:defPPr>
            <a:lvl1pPr marL="0" algn="ctr" defTabSz="914400" rtl="0">
              <a:defRPr sz="1100" b="1" i="0" cap="all">
                <a:solidFill>
                  <a:schemeClr val="bg1"/>
                </a:solidFill>
                <a:latin typeface="Arial Narrow"/>
                <a:ea typeface="+mn-ea"/>
                <a:cs typeface="Arial Narrow"/>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6586D83B-F5E2-6149-B7DD-0F6F1BA75908}" type="slidenum">
              <a:rPr lang="en-US"/>
              <a:t>‹#›</a:t>
            </a:fld>
            <a:endParaRPr lang="en-US"/>
          </a:p>
        </p:txBody>
      </p:sp>
      <p:pic>
        <p:nvPicPr>
          <p:cNvPr id="1570249815" name="Graphic 8"/>
          <p:cNvPicPr>
            <a:picLocks noChangeAspect="1"/>
          </p:cNvPicPr>
          <p:nvPr userDrawn="1"/>
        </p:nvPicPr>
        <p:blipFill rotWithShape="1">
          <a:blip r:embed="rId7"/>
          <a:stretch/>
        </p:blipFill>
        <p:spPr bwMode="auto">
          <a:xfrm>
            <a:off x="9332675" y="6236052"/>
            <a:ext cx="2714625" cy="457200"/>
          </a:xfrm>
          <a:prstGeom prst="rect">
            <a:avLst/>
          </a:prstGeom>
        </p:spPr>
      </p:pic>
      <p:sp>
        <p:nvSpPr>
          <p:cNvPr id="321928626" name="Footer Placeholder 13"/>
          <p:cNvSpPr>
            <a:spLocks noGrp="1"/>
          </p:cNvSpPr>
          <p:nvPr>
            <p:ph type="ftr" sz="quarter" idx="3"/>
          </p:nvPr>
        </p:nvSpPr>
        <p:spPr bwMode="auto">
          <a:xfrm>
            <a:off x="2910061" y="6356350"/>
            <a:ext cx="5459702" cy="365125"/>
          </a:xfrm>
          <a:prstGeom prst="rect">
            <a:avLst/>
          </a:prstGeom>
        </p:spPr>
        <p:txBody>
          <a:bodyPr vert="horz" lIns="91440" tIns="45720" rIns="91440" bIns="45720" rtlCol="0" anchor="b"/>
          <a:lstStyle>
            <a:lvl1pPr algn="l">
              <a:defRPr sz="1200">
                <a:solidFill>
                  <a:schemeClr val="tx1">
                    <a:tint val="75000"/>
                  </a:schemeClr>
                </a:solidFill>
              </a:defRPr>
            </a:lvl1pPr>
          </a:lstStyle>
          <a:p>
            <a:pPr>
              <a:defRPr/>
            </a:pPr>
            <a:r>
              <a:rPr/>
              <a:t>2026-10-12, Karel Kroeze, BDSi. Shiny Workshop.</a:t>
            </a:r>
            <a:endParaRPr/>
          </a:p>
        </p:txBody>
      </p:sp>
      <p:sp>
        <p:nvSpPr>
          <p:cNvPr id="186637175" name="Date Placeholder 12"/>
          <p:cNvSpPr>
            <a:spLocks noGrp="1"/>
          </p:cNvSpPr>
          <p:nvPr>
            <p:ph type="dt" sz="half" idx="2"/>
          </p:nvPr>
        </p:nvSpPr>
        <p:spPr bwMode="auto">
          <a:xfrm>
            <a:off x="144700" y="6365296"/>
            <a:ext cx="2304652" cy="365125"/>
          </a:xfrm>
          <a:prstGeom prst="rect">
            <a:avLst/>
          </a:prstGeom>
        </p:spPr>
        <p:txBody>
          <a:bodyPr vert="horz" lIns="91440" tIns="45720" rIns="91440" bIns="45720" rtlCol="0" anchor="b"/>
          <a:lstStyle>
            <a:lvl1pPr algn="l">
              <a:defRPr sz="1200">
                <a:solidFill>
                  <a:schemeClr val="tx1">
                    <a:tint val="75000"/>
                  </a:schemeClr>
                </a:solidFill>
              </a:defRPr>
            </a:lvl1pPr>
          </a:lstStyle>
          <a:p>
            <a:pPr>
              <a:defRPr/>
            </a:pPr>
            <a:r>
              <a:rPr/>
              <a:t>3/6/2022</a:t>
            </a:r>
            <a:endParaRPr/>
          </a:p>
        </p:txBody>
      </p:sp>
      <p:pic>
        <p:nvPicPr>
          <p:cNvPr id="2043491476" name="Picture 9"/>
          <p:cNvPicPr>
            <a:picLocks noChangeAspect="1"/>
          </p:cNvPicPr>
          <p:nvPr userDrawn="1"/>
        </p:nvPicPr>
        <p:blipFill rotWithShape="1">
          <a:blip r:embed="rId8">
            <a:alphaModFix amt="12000"/>
          </a:blip>
          <a:stretch/>
        </p:blipFill>
        <p:spPr bwMode="auto">
          <a:xfrm>
            <a:off x="-1950800" y="-944455"/>
            <a:ext cx="4191000" cy="6502400"/>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hf dt="0" ftr="1" hdr="0" sldNum="0"/>
  <p:txStyles>
    <p:titleStyle>
      <a:lvl1pPr algn="l" defTabSz="914400" rtl="0">
        <a:lnSpc>
          <a:spcPct val="90000"/>
        </a:lnSpc>
        <a:spcBef>
          <a:spcPts val="0"/>
        </a:spcBef>
        <a:buNone/>
        <a:defRPr sz="4400">
          <a:solidFill>
            <a:schemeClr val="bg2"/>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bg2"/>
          </a:solidFill>
          <a:latin typeface="+mn-lt"/>
          <a:ea typeface="+mn-ea"/>
          <a:cs typeface="+mn-cs"/>
        </a:defRPr>
      </a:lvl1pPr>
      <a:lvl2pPr marL="685800" indent="-228600" algn="l" defTabSz="914400" rtl="0">
        <a:lnSpc>
          <a:spcPct val="90000"/>
        </a:lnSpc>
        <a:spcBef>
          <a:spcPts val="500"/>
        </a:spcBef>
        <a:buFont typeface="Arial"/>
        <a:buChar char="•"/>
        <a:defRPr sz="2400">
          <a:solidFill>
            <a:schemeClr val="bg2"/>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bg2"/>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bg2"/>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bg2"/>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 Id="rId3" Type="http://schemas.openxmlformats.org/officeDocument/2006/relationships/hyperlink" Target="https://cran.r-project.org/package=shiny" TargetMode="External"/><Relationship Id="rId4" Type="http://schemas.openxmlformats.org/officeDocument/2006/relationships/hyperlink" Target="https://github.com/rstudio/shiny" TargetMode="External"/><Relationship Id="rId5" Type="http://schemas.openxmlformats.org/officeDocument/2006/relationships/hyperlink" Target="https://shiny.posit.co/" TargetMode="External"/><Relationship Id="rId6" Type="http://schemas.openxmlformats.org/officeDocument/2006/relationships/image" Target="../media/image5.png"/><Relationship Id="rId7" Type="http://schemas.openxmlformats.org/officeDocument/2006/relationships/image" Target="../media/image6.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9.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0.jp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 Id="rId6" Type="http://schemas.openxmlformats.org/officeDocument/2006/relationships/image" Target="../media/image13.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4.png"/><Relationship Id="rId10" Type="http://schemas.openxmlformats.org/officeDocument/2006/relationships/image" Target="../media/image15.png"/><Relationship Id="rId11" Type="http://schemas.openxmlformats.org/officeDocument/2006/relationships/image" Target="../media/image18.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8.png"/><Relationship Id="rId10" Type="http://schemas.openxmlformats.org/officeDocument/2006/relationships/image" Target="../media/image18.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8.png"/><Relationship Id="rId10" Type="http://schemas.openxmlformats.org/officeDocument/2006/relationships/image" Target="../media/image18.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gif"/></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20.png"/></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 Id="rId10" Type="http://schemas.openxmlformats.org/officeDocument/2006/relationships/image" Target="../media/image28.png"/><Relationship Id="rId11" Type="http://schemas.openxmlformats.org/officeDocument/2006/relationships/image" Target="../media/image29.png"/><Relationship Id="rId12" Type="http://schemas.openxmlformats.org/officeDocument/2006/relationships/image" Target="../media/image30.png"/><Relationship Id="rId13" Type="http://schemas.openxmlformats.org/officeDocument/2006/relationships/image" Target="../media/image31.png"/></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9.xml"/><Relationship Id="rId3" Type="http://schemas.openxmlformats.org/officeDocument/2006/relationships/image" Target="../media/image32.png"/></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33.png"/><Relationship Id="rId4" Type="http://schemas.openxmlformats.org/officeDocument/2006/relationships/image" Target="../media/image34.png"/></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 Id="rId3" Type="http://schemas.openxmlformats.org/officeDocument/2006/relationships/image" Target="../media/image35.png"/><Relationship Id="rId4" Type="http://schemas.openxmlformats.org/officeDocument/2006/relationships/image" Target="../media/image36.jpg"/></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 Id="rId6" Type="http://schemas.openxmlformats.org/officeDocument/2006/relationships/image" Target="../media/image40.png"/></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42136049" name="Title 1"/>
          <p:cNvSpPr>
            <a:spLocks noGrp="1"/>
          </p:cNvSpPr>
          <p:nvPr>
            <p:ph type="ctrTitle"/>
          </p:nvPr>
        </p:nvSpPr>
        <p:spPr bwMode="auto">
          <a:prstGeom prst="rect">
            <a:avLst/>
          </a:prstGeom>
          <a:solidFill>
            <a:srgbClr val="080808">
              <a:alpha val="10196"/>
            </a:srgbClr>
          </a:solidFill>
        </p:spPr>
        <p:txBody>
          <a:bodyPr/>
          <a:lstStyle/>
          <a:p>
            <a:pPr>
              <a:defRPr/>
            </a:pPr>
            <a:r>
              <a:rPr lang="en-GB"/>
              <a:t>Interactive Visualizations</a:t>
            </a:r>
            <a:endParaRPr/>
          </a:p>
        </p:txBody>
      </p:sp>
      <p:sp>
        <p:nvSpPr>
          <p:cNvPr id="1660364364" name="Subtitle 2"/>
          <p:cNvSpPr>
            <a:spLocks noGrp="1"/>
          </p:cNvSpPr>
          <p:nvPr>
            <p:ph type="subTitle" idx="4294967295"/>
          </p:nvPr>
        </p:nvSpPr>
        <p:spPr bwMode="auto">
          <a:xfrm>
            <a:off x="1524000" y="3602038"/>
            <a:ext cx="9144000" cy="1655762"/>
          </a:xfrm>
          <a:prstGeom prst="rect">
            <a:avLst/>
          </a:prstGeom>
          <a:solidFill>
            <a:srgbClr val="080808">
              <a:alpha val="10196"/>
            </a:srgbClr>
          </a:solidFill>
        </p:spPr>
        <p:txBody>
          <a:bodyPr/>
          <a:lstStyle/>
          <a:p>
            <a:pPr marL="0" indent="0" algn="ctr">
              <a:buNone/>
              <a:defRPr/>
            </a:pPr>
            <a:r>
              <a:rPr lang="en-GB"/>
              <a:t>with R and Shiny</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68411065" name="Text Placeholder 1"/>
          <p:cNvSpPr>
            <a:spLocks noGrp="1"/>
          </p:cNvSpPr>
          <p:nvPr>
            <p:ph type="body" sz="quarter" idx="11"/>
          </p:nvPr>
        </p:nvSpPr>
        <p:spPr bwMode="auto">
          <a:xfrm>
            <a:off x="457627" y="4131957"/>
            <a:ext cx="2633869" cy="691056"/>
          </a:xfrm>
          <a:prstGeom prst="rect">
            <a:avLst/>
          </a:prstGeom>
          <a:solidFill>
            <a:srgbClr val="000000">
              <a:alpha val="25098"/>
            </a:srgbClr>
          </a:solidFill>
        </p:spPr>
        <p:txBody>
          <a:bodyPr anchor="t"/>
          <a:lstStyle/>
          <a:p>
            <a:pPr>
              <a:defRPr/>
            </a:pPr>
            <a:r>
              <a:rPr lang="en-GB"/>
              <a:t>What is shiny?</a:t>
            </a:r>
            <a:endParaRPr/>
          </a:p>
          <a:p>
            <a:pPr>
              <a:defRPr/>
            </a:pPr>
            <a:r>
              <a:rPr lang="en-GB" sz="1200" cap="none"/>
              <a:t>Under the hood</a:t>
            </a:r>
            <a:endParaRPr/>
          </a:p>
        </p:txBody>
      </p:sp>
      <p:sp>
        <p:nvSpPr>
          <p:cNvPr id="708072247" name="Text Placeholder 2"/>
          <p:cNvSpPr>
            <a:spLocks noGrp="1"/>
          </p:cNvSpPr>
          <p:nvPr>
            <p:ph type="body" sz="quarter" idx="12"/>
          </p:nvPr>
        </p:nvSpPr>
        <p:spPr bwMode="auto">
          <a:xfrm>
            <a:off x="4819771" y="4131956"/>
            <a:ext cx="2633869" cy="691057"/>
          </a:xfrm>
          <a:prstGeom prst="rect">
            <a:avLst/>
          </a:prstGeom>
          <a:solidFill>
            <a:srgbClr val="000000">
              <a:alpha val="25098"/>
            </a:srgbClr>
          </a:solidFill>
        </p:spPr>
        <p:txBody>
          <a:bodyPr anchor="t"/>
          <a:lstStyle/>
          <a:p>
            <a:pPr>
              <a:defRPr/>
            </a:pPr>
            <a:r>
              <a:rPr lang="en-GB"/>
              <a:t>My first shiny app</a:t>
            </a:r>
            <a:endParaRPr/>
          </a:p>
          <a:p>
            <a:pPr>
              <a:defRPr/>
            </a:pPr>
            <a:r>
              <a:rPr lang="en-GB" sz="1200" cap="none"/>
              <a:t>Inputs &amp; Outputs</a:t>
            </a:r>
            <a:endParaRPr sz="1200" cap="none"/>
          </a:p>
        </p:txBody>
      </p:sp>
      <p:sp>
        <p:nvSpPr>
          <p:cNvPr id="1454980422" name="Text Placeholder 3"/>
          <p:cNvSpPr>
            <a:spLocks noGrp="1"/>
          </p:cNvSpPr>
          <p:nvPr>
            <p:ph type="body" sz="quarter" idx="14"/>
          </p:nvPr>
        </p:nvSpPr>
        <p:spPr bwMode="auto">
          <a:xfrm>
            <a:off x="9181915" y="4131956"/>
            <a:ext cx="2633869" cy="691057"/>
          </a:xfrm>
          <a:prstGeom prst="rect">
            <a:avLst/>
          </a:prstGeom>
          <a:solidFill>
            <a:srgbClr val="000000">
              <a:alpha val="25098"/>
            </a:srgbClr>
          </a:solidFill>
        </p:spPr>
        <p:txBody>
          <a:bodyPr anchor="t"/>
          <a:lstStyle/>
          <a:p>
            <a:pPr>
              <a:defRPr/>
            </a:pPr>
            <a:r>
              <a:rPr lang="en-GB"/>
              <a:t>CONTROLLING THE FLOW</a:t>
            </a:r>
            <a:endParaRPr/>
          </a:p>
          <a:p>
            <a:pPr>
              <a:defRPr/>
            </a:pPr>
            <a:r>
              <a:rPr lang="en-GB" sz="1200" cap="none"/>
              <a:t>Observers &amp; reactives</a:t>
            </a:r>
            <a:endParaRPr sz="1200" cap="none"/>
          </a:p>
        </p:txBody>
      </p:sp>
      <p:sp>
        <p:nvSpPr>
          <p:cNvPr id="1304831881" name="Footer Placeholder 4"/>
          <p:cNvSpPr>
            <a:spLocks noGrp="1"/>
          </p:cNvSpPr>
          <p:nvPr>
            <p:ph type="ftr" sz="quarter" idx="16"/>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37372136" name="Title 5"/>
          <p:cNvSpPr>
            <a:spLocks noGrp="1"/>
          </p:cNvSpPr>
          <p:nvPr>
            <p:ph type="title"/>
          </p:nvPr>
        </p:nvSpPr>
        <p:spPr bwMode="auto"/>
        <p:txBody>
          <a:bodyPr/>
          <a:lstStyle/>
          <a:p>
            <a:pPr>
              <a:defRPr/>
            </a:pPr>
            <a:r>
              <a:rPr lang="en-GB"/>
              <a:t>What is shiny?</a:t>
            </a:r>
            <a:endParaRPr/>
          </a:p>
        </p:txBody>
      </p:sp>
      <p:sp>
        <p:nvSpPr>
          <p:cNvPr id="1043107178" name="Content Placeholder 6"/>
          <p:cNvSpPr>
            <a:spLocks noGrp="1"/>
          </p:cNvSpPr>
          <p:nvPr>
            <p:ph sz="half" idx="1"/>
          </p:nvPr>
        </p:nvSpPr>
        <p:spPr bwMode="auto">
          <a:xfrm>
            <a:off x="1265583" y="1825625"/>
            <a:ext cx="10515600" cy="4351338"/>
          </a:xfrm>
        </p:spPr>
        <p:txBody>
          <a:bodyPr/>
          <a:lstStyle/>
          <a:p>
            <a:pPr>
              <a:defRPr/>
            </a:pPr>
            <a:r>
              <a:rPr lang="en-GB"/>
              <a:t>An R package</a:t>
            </a:r>
            <a:endParaRPr/>
          </a:p>
          <a:p>
            <a:pPr>
              <a:defRPr/>
            </a:pPr>
            <a:r>
              <a:rPr lang="en-GB"/>
              <a:t>A framework</a:t>
            </a:r>
            <a:endParaRPr/>
          </a:p>
          <a:p>
            <a:pPr lvl="1">
              <a:defRPr/>
            </a:pPr>
            <a:r>
              <a:rPr lang="en-GB"/>
              <a:t>Web server linked with R</a:t>
            </a:r>
            <a:endParaRPr/>
          </a:p>
          <a:p>
            <a:pPr lvl="1">
              <a:defRPr/>
            </a:pPr>
            <a:r>
              <a:rPr lang="en-GB"/>
              <a:t>User interface</a:t>
            </a:r>
            <a:endParaRPr/>
          </a:p>
          <a:p>
            <a:pPr lvl="1">
              <a:defRPr/>
            </a:pPr>
            <a:r>
              <a:rPr lang="en-GB"/>
              <a:t>Communication</a:t>
            </a:r>
            <a:endParaRPr/>
          </a:p>
          <a:p>
            <a:pPr lvl="1">
              <a:defRPr/>
            </a:pPr>
            <a:r>
              <a:rPr lang="en-GB"/>
              <a:t>State management</a:t>
            </a:r>
            <a:endParaRPr/>
          </a:p>
        </p:txBody>
      </p:sp>
      <p:sp>
        <p:nvSpPr>
          <p:cNvPr id="1864166731" name="Footer Placeholder 1"/>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03331392" name="Title 5"/>
          <p:cNvSpPr>
            <a:spLocks noGrp="1"/>
          </p:cNvSpPr>
          <p:nvPr>
            <p:ph type="title"/>
          </p:nvPr>
        </p:nvSpPr>
        <p:spPr bwMode="auto"/>
        <p:txBody>
          <a:bodyPr/>
          <a:lstStyle/>
          <a:p>
            <a:pPr>
              <a:defRPr/>
            </a:pPr>
            <a:r>
              <a:rPr lang="en-GB" sz="2000"/>
              <a:t>What is shiny?</a:t>
            </a:r>
            <a:br>
              <a:rPr lang="en-GB"/>
            </a:br>
            <a:r>
              <a:rPr lang="en-GB"/>
              <a:t>An R package</a:t>
            </a:r>
            <a:endParaRPr/>
          </a:p>
        </p:txBody>
      </p:sp>
      <p:sp>
        <p:nvSpPr>
          <p:cNvPr id="1501644229" name="Content Placeholder 6"/>
          <p:cNvSpPr>
            <a:spLocks noGrp="1"/>
          </p:cNvSpPr>
          <p:nvPr>
            <p:ph sz="half" idx="1"/>
          </p:nvPr>
        </p:nvSpPr>
        <p:spPr bwMode="auto">
          <a:xfrm>
            <a:off x="1265583" y="1819529"/>
            <a:ext cx="10515600" cy="4351338"/>
          </a:xfrm>
        </p:spPr>
        <p:txBody>
          <a:bodyPr/>
          <a:lstStyle/>
          <a:p>
            <a:pPr>
              <a:defRPr/>
            </a:pPr>
            <a:endParaRPr lang="en-GB"/>
          </a:p>
          <a:p>
            <a:pPr marL="0" indent="0">
              <a:buNone/>
              <a:defRPr/>
            </a:pPr>
            <a:r>
              <a:rPr lang="en-GB"/>
              <a:t>Available on CRAN &amp; GitHub:</a:t>
            </a:r>
            <a:endParaRPr/>
          </a:p>
          <a:p>
            <a:pPr lvl="1">
              <a:defRPr/>
            </a:pPr>
            <a:r>
              <a:rPr lang="en-GB" u="sng">
                <a:hlinkClick r:id="rId3" tooltip=""/>
              </a:rPr>
              <a:t>https://cran.r-project.org/package=shiny</a:t>
            </a:r>
            <a:endParaRPr lang="en-GB"/>
          </a:p>
          <a:p>
            <a:pPr lvl="1">
              <a:defRPr/>
            </a:pPr>
            <a:r>
              <a:rPr lang="en-GB" u="sng">
                <a:hlinkClick r:id="rId4" tooltip=""/>
              </a:rPr>
              <a:t>https://github.com/rstudio/shiny</a:t>
            </a:r>
            <a:endParaRPr lang="en-GB"/>
          </a:p>
          <a:p>
            <a:pPr marL="0" indent="0">
              <a:buNone/>
              <a:defRPr/>
            </a:pPr>
            <a:endParaRPr lang="en-GB"/>
          </a:p>
          <a:p>
            <a:pPr marL="0" indent="0">
              <a:buNone/>
              <a:defRPr/>
            </a:pPr>
            <a:r>
              <a:rPr lang="en-GB"/>
              <a:t>Maintained by                      (of                 fame) </a:t>
            </a:r>
            <a:endParaRPr/>
          </a:p>
          <a:p>
            <a:pPr lvl="1">
              <a:defRPr/>
            </a:pPr>
            <a:r>
              <a:rPr lang="en-GB" u="sng">
                <a:hlinkClick r:id="rId5" tooltip=""/>
              </a:rPr>
              <a:t>https://shiny.posit.co/</a:t>
            </a:r>
            <a:endParaRPr lang="en-GB"/>
          </a:p>
          <a:p>
            <a:pPr marL="457200" lvl="1" indent="0">
              <a:buNone/>
              <a:defRPr/>
            </a:pPr>
            <a:endParaRPr lang="en-GB"/>
          </a:p>
        </p:txBody>
      </p:sp>
      <p:pic>
        <p:nvPicPr>
          <p:cNvPr id="657658416" name="Picture 4" descr="Logo&#10;&#10;Description automatically generated"/>
          <p:cNvPicPr>
            <a:picLocks noChangeAspect="1"/>
          </p:cNvPicPr>
          <p:nvPr/>
        </p:nvPicPr>
        <p:blipFill rotWithShape="1">
          <a:blip r:embed="rId6"/>
          <a:stretch/>
        </p:blipFill>
        <p:spPr bwMode="auto">
          <a:xfrm>
            <a:off x="6345755" y="4129543"/>
            <a:ext cx="1359589" cy="477980"/>
          </a:xfrm>
          <a:prstGeom prst="rect">
            <a:avLst/>
          </a:prstGeom>
        </p:spPr>
      </p:pic>
      <p:pic>
        <p:nvPicPr>
          <p:cNvPr id="696168018" name="Picture 10" descr="A white circle on a black background&#10;&#10;Description automatically generated"/>
          <p:cNvPicPr>
            <a:picLocks noChangeAspect="1"/>
          </p:cNvPicPr>
          <p:nvPr/>
        </p:nvPicPr>
        <p:blipFill rotWithShape="1">
          <a:blip r:embed="rId7"/>
          <a:stretch/>
        </p:blipFill>
        <p:spPr bwMode="auto">
          <a:xfrm>
            <a:off x="3669611" y="4199483"/>
            <a:ext cx="1640004" cy="408040"/>
          </a:xfrm>
          <a:prstGeom prst="rect">
            <a:avLst/>
          </a:prstGeom>
        </p:spPr>
      </p:pic>
      <p:sp>
        <p:nvSpPr>
          <p:cNvPr id="1681806144" name="Footer Placeholder 1"/>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32345559" name="Title 5"/>
          <p:cNvSpPr>
            <a:spLocks noGrp="1"/>
          </p:cNvSpPr>
          <p:nvPr>
            <p:ph type="title"/>
          </p:nvPr>
        </p:nvSpPr>
        <p:spPr bwMode="auto"/>
        <p:txBody>
          <a:bodyPr/>
          <a:lstStyle/>
          <a:p>
            <a:pPr>
              <a:defRPr/>
            </a:pPr>
            <a:r>
              <a:rPr lang="en-GB" sz="2000"/>
              <a:t>What is shiny?</a:t>
            </a:r>
            <a:br>
              <a:rPr lang="en-GB"/>
            </a:br>
            <a:r>
              <a:rPr lang="en-GB"/>
              <a:t>A </a:t>
            </a:r>
            <a:r>
              <a:rPr lang="en-US"/>
              <a:t>WEB SERVER</a:t>
            </a:r>
            <a:endParaRPr/>
          </a:p>
        </p:txBody>
      </p:sp>
      <p:sp>
        <p:nvSpPr>
          <p:cNvPr id="1792343773" name="Content Placeholder 6"/>
          <p:cNvSpPr>
            <a:spLocks noGrp="1"/>
          </p:cNvSpPr>
          <p:nvPr>
            <p:ph sz="half" idx="1"/>
          </p:nvPr>
        </p:nvSpPr>
        <p:spPr bwMode="auto">
          <a:xfrm>
            <a:off x="1265583" y="1825625"/>
            <a:ext cx="10515600" cy="4351338"/>
          </a:xfrm>
        </p:spPr>
        <p:txBody>
          <a:bodyPr/>
          <a:lstStyle/>
          <a:p>
            <a:pPr marL="0" indent="0">
              <a:buNone/>
              <a:defRPr/>
            </a:pPr>
            <a:endParaRPr lang="en-GB"/>
          </a:p>
          <a:p>
            <a:pPr marL="0" indent="0">
              <a:buNone/>
              <a:defRPr/>
            </a:pPr>
            <a:r>
              <a:rPr lang="en-GB"/>
              <a:t>Shiny apps are hosted by a computer running R</a:t>
            </a:r>
            <a:endParaRPr/>
          </a:p>
          <a:p>
            <a:pPr marL="0" indent="0">
              <a:buNone/>
              <a:defRPr/>
            </a:pPr>
            <a:endParaRPr lang="en-GB"/>
          </a:p>
        </p:txBody>
      </p:sp>
      <p:pic>
        <p:nvPicPr>
          <p:cNvPr id="2012243387" name="Picture 6"/>
          <p:cNvPicPr>
            <a:picLocks noChangeAspect="1" noChangeArrowheads="1"/>
          </p:cNvPicPr>
          <p:nvPr/>
        </p:nvPicPr>
        <p:blipFill rotWithShape="1">
          <a:blip r:embed="rId3"/>
          <a:stretch/>
        </p:blipFill>
        <p:spPr bwMode="auto">
          <a:xfrm>
            <a:off x="7448905" y="3014619"/>
            <a:ext cx="3269973" cy="2179982"/>
          </a:xfrm>
          <a:prstGeom prst="rect">
            <a:avLst/>
          </a:prstGeom>
          <a:noFill/>
          <a:effectLst>
            <a:outerShdw blurRad="50800" dist="38100" dir="2700000" algn="tl" rotWithShape="0">
              <a:prstClr val="black">
                <a:alpha val="40000"/>
              </a:prstClr>
            </a:outerShdw>
          </a:effectLst>
        </p:spPr>
      </p:pic>
      <p:sp>
        <p:nvSpPr>
          <p:cNvPr id="460830952"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211244225"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679618873" name="TextBox 10"/>
          <p:cNvSpPr txBox="1"/>
          <p:nvPr/>
        </p:nvSpPr>
        <p:spPr bwMode="auto">
          <a:xfrm>
            <a:off x="7368602" y="5194601"/>
            <a:ext cx="4412581" cy="169277"/>
          </a:xfrm>
          <a:prstGeom prst="rect">
            <a:avLst/>
          </a:prstGeom>
          <a:noFill/>
        </p:spPr>
        <p:txBody>
          <a:bodyPr wrap="square">
            <a:spAutoFit/>
          </a:bodyPr>
          <a:lstStyle/>
          <a:p>
            <a:pPr>
              <a:defRPr/>
            </a:pPr>
            <a:r>
              <a:rPr lang="nl-NL" sz="500">
                <a:solidFill>
                  <a:schemeClr val="tx1">
                    <a:lumMod val="65000"/>
                    <a:lumOff val="35000"/>
                  </a:schemeClr>
                </a:solidFill>
              </a:rPr>
              <a:t>https://pix4free.org/assets/library/2021-01-12/originals/laptop_notepad_pen_cafe_coffee.jpg</a:t>
            </a:r>
            <a:endParaRPr sz="500">
              <a:solidFill>
                <a:schemeClr val="tx1">
                  <a:lumMod val="65000"/>
                  <a:lumOff val="35000"/>
                </a:schemeClr>
              </a:solidFill>
            </a:endParaRPr>
          </a:p>
        </p:txBody>
      </p:sp>
      <p:sp>
        <p:nvSpPr>
          <p:cNvPr id="1594968114" name="Footer Placeholder 2"/>
          <p:cNvSpPr>
            <a:spLocks noGrp="1"/>
          </p:cNvSpPr>
          <p:nvPr>
            <p:ph type="ftr" sz="quarter" idx="11"/>
          </p:nvPr>
        </p:nvSpPr>
        <p:spPr bwMode="auto"/>
        <p:txBody>
          <a:bodyPr/>
          <a:lstStyle/>
          <a:p>
            <a:pPr>
              <a:defRPr/>
            </a:pPr>
            <a:r>
              <a:rPr/>
              <a:t>2026-10-12, Karel Kroeze, BDSi. Shiny Workshop.</a:t>
            </a:r>
            <a:endParaRPr/>
          </a:p>
        </p:txBody>
      </p:sp>
      <p:pic>
        <p:nvPicPr>
          <p:cNvPr id="1309693534" name="Picture 4"/>
          <p:cNvPicPr>
            <a:picLocks noChangeAspect="1" noChangeArrowheads="1"/>
          </p:cNvPicPr>
          <p:nvPr/>
        </p:nvPicPr>
        <p:blipFill rotWithShape="1">
          <a:blip r:embed="rId4"/>
          <a:stretch/>
        </p:blipFill>
        <p:spPr bwMode="auto">
          <a:xfrm>
            <a:off x="8705589" y="3671956"/>
            <a:ext cx="660115" cy="511606"/>
          </a:xfrm>
          <a:prstGeom prst="rect">
            <a:avLst/>
          </a:prstGeom>
          <a:noFill/>
        </p:spPr>
      </p:pic>
      <p:pic>
        <p:nvPicPr>
          <p:cNvPr id="916333626" name="Picture 6"/>
          <p:cNvPicPr>
            <a:picLocks noChangeAspect="1" noChangeArrowheads="1"/>
          </p:cNvPicPr>
          <p:nvPr/>
        </p:nvPicPr>
        <p:blipFill rotWithShape="1">
          <a:blip r:embed="rId3"/>
          <a:srcRect l="23549" t="7953" r="9516" b="20093"/>
          <a:stretch/>
        </p:blipFill>
        <p:spPr bwMode="auto">
          <a:xfrm>
            <a:off x="2072640" y="3014619"/>
            <a:ext cx="3041904" cy="2179982"/>
          </a:xfrm>
          <a:prstGeom prst="rect">
            <a:avLst/>
          </a:prstGeom>
          <a:noFill/>
          <a:effectLst>
            <a:outerShdw blurRad="50800" dist="38100" dir="2700000" algn="tl" rotWithShape="0">
              <a:prstClr val="black">
                <a:alpha val="40000"/>
              </a:prstClr>
            </a:outerShdw>
          </a:effectLst>
        </p:spPr>
      </p:pic>
      <p:pic>
        <p:nvPicPr>
          <p:cNvPr id="2078067049" name="Picture 4"/>
          <p:cNvPicPr>
            <a:picLocks noChangeAspect="1" noChangeArrowheads="1"/>
          </p:cNvPicPr>
          <p:nvPr/>
        </p:nvPicPr>
        <p:blipFill rotWithShape="1">
          <a:blip r:embed="rId5"/>
          <a:srcRect l="0" t="0" r="25984" b="11750"/>
          <a:stretch/>
        </p:blipFill>
        <p:spPr bwMode="auto">
          <a:xfrm>
            <a:off x="2321006" y="3429001"/>
            <a:ext cx="1910597" cy="1203070"/>
          </a:xfrm>
          <a:prstGeom prst="rect">
            <a:avLst/>
          </a:prstGeom>
          <a:noFill/>
          <a:effectLst>
            <a:outerShdw blurRad="50800" dist="38100" dir="2700000" algn="tl" rotWithShape="0">
              <a:prstClr val="black">
                <a:alpha val="40000"/>
              </a:prstClr>
            </a:outerShdw>
          </a:effectLst>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9643866" name="Title 5"/>
          <p:cNvSpPr>
            <a:spLocks noGrp="1"/>
          </p:cNvSpPr>
          <p:nvPr>
            <p:ph type="title"/>
          </p:nvPr>
        </p:nvSpPr>
        <p:spPr bwMode="auto"/>
        <p:txBody>
          <a:bodyPr/>
          <a:lstStyle/>
          <a:p>
            <a:pPr>
              <a:defRPr/>
            </a:pPr>
            <a:r>
              <a:rPr lang="en-GB" sz="2000"/>
              <a:t>What is shiny?</a:t>
            </a:r>
            <a:br>
              <a:rPr lang="en-GB"/>
            </a:br>
            <a:r>
              <a:rPr lang="en-GB"/>
              <a:t>A </a:t>
            </a:r>
            <a:r>
              <a:rPr lang="en-US"/>
              <a:t>WEB SERVER</a:t>
            </a:r>
            <a:endParaRPr/>
          </a:p>
        </p:txBody>
      </p:sp>
      <p:sp>
        <p:nvSpPr>
          <p:cNvPr id="575606418" name="Content Placeholder 6"/>
          <p:cNvSpPr>
            <a:spLocks noGrp="1"/>
          </p:cNvSpPr>
          <p:nvPr>
            <p:ph sz="half" idx="1"/>
          </p:nvPr>
        </p:nvSpPr>
        <p:spPr bwMode="auto">
          <a:xfrm>
            <a:off x="1265583" y="1825625"/>
            <a:ext cx="10515600" cy="4351338"/>
          </a:xfrm>
        </p:spPr>
        <p:txBody>
          <a:bodyPr/>
          <a:lstStyle/>
          <a:p>
            <a:pPr marL="0" indent="0">
              <a:buNone/>
              <a:defRPr/>
            </a:pPr>
            <a:endParaRPr lang="en-GB"/>
          </a:p>
          <a:p>
            <a:pPr marL="0" indent="0">
              <a:buNone/>
              <a:defRPr/>
            </a:pPr>
            <a:r>
              <a:rPr lang="en-GB"/>
              <a:t>Shiny apps are hosted by a computer running R</a:t>
            </a:r>
            <a:endParaRPr/>
          </a:p>
          <a:p>
            <a:pPr marL="0" indent="0">
              <a:buNone/>
              <a:defRPr/>
            </a:pPr>
            <a:endParaRPr lang="en-GB"/>
          </a:p>
        </p:txBody>
      </p:sp>
      <p:pic>
        <p:nvPicPr>
          <p:cNvPr id="1690332157"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pic>
        <p:nvPicPr>
          <p:cNvPr id="444001479" name="Picture 6"/>
          <p:cNvPicPr>
            <a:picLocks noChangeAspect="1" noChangeArrowheads="1"/>
          </p:cNvPicPr>
          <p:nvPr/>
        </p:nvPicPr>
        <p:blipFill rotWithShape="1">
          <a:blip r:embed="rId4"/>
          <a:stretch/>
        </p:blipFill>
        <p:spPr bwMode="auto">
          <a:xfrm>
            <a:off x="7448905" y="3015300"/>
            <a:ext cx="2904825" cy="2178619"/>
          </a:xfrm>
          <a:prstGeom prst="rect">
            <a:avLst/>
          </a:prstGeom>
          <a:noFill/>
          <a:effectLst>
            <a:outerShdw blurRad="50800" dist="38100" dir="2700000" algn="tl" rotWithShape="0">
              <a:prstClr val="black">
                <a:alpha val="40000"/>
              </a:prstClr>
            </a:outerShdw>
          </a:effectLst>
        </p:spPr>
      </p:pic>
      <p:sp>
        <p:nvSpPr>
          <p:cNvPr id="830728406"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43401425"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573172879" name="TextBox 10"/>
          <p:cNvSpPr txBox="1"/>
          <p:nvPr/>
        </p:nvSpPr>
        <p:spPr bwMode="auto">
          <a:xfrm>
            <a:off x="7368602" y="5194601"/>
            <a:ext cx="4412581" cy="169277"/>
          </a:xfrm>
          <a:prstGeom prst="rect">
            <a:avLst/>
          </a:prstGeom>
          <a:noFill/>
        </p:spPr>
        <p:txBody>
          <a:bodyPr wrap="square">
            <a:spAutoFit/>
          </a:bodyPr>
          <a:lstStyle/>
          <a:p>
            <a:pPr>
              <a:defRPr/>
            </a:pPr>
            <a:r>
              <a:rPr lang="nl-NL" sz="500">
                <a:solidFill>
                  <a:schemeClr val="tx1">
                    <a:lumMod val="65000"/>
                    <a:lumOff val="35000"/>
                  </a:schemeClr>
                </a:solidFill>
              </a:rPr>
              <a:t>https://www.flickr.com/photos/rudolf_schuba/153225000</a:t>
            </a:r>
            <a:endParaRPr sz="500">
              <a:solidFill>
                <a:schemeClr val="tx1">
                  <a:lumMod val="65000"/>
                  <a:lumOff val="35000"/>
                </a:schemeClr>
              </a:solidFill>
            </a:endParaRPr>
          </a:p>
        </p:txBody>
      </p:sp>
      <p:sp>
        <p:nvSpPr>
          <p:cNvPr id="959306866" name="Footer Placeholder 2"/>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60690472" name="Title 5"/>
          <p:cNvSpPr>
            <a:spLocks noGrp="1"/>
          </p:cNvSpPr>
          <p:nvPr>
            <p:ph type="title"/>
          </p:nvPr>
        </p:nvSpPr>
        <p:spPr bwMode="auto"/>
        <p:txBody>
          <a:bodyPr/>
          <a:lstStyle/>
          <a:p>
            <a:pPr>
              <a:defRPr/>
            </a:pPr>
            <a:r>
              <a:rPr lang="en-GB" sz="2000"/>
              <a:t>What is shiny?</a:t>
            </a:r>
            <a:br>
              <a:rPr lang="en-GB"/>
            </a:br>
            <a:r>
              <a:rPr lang="en-GB"/>
              <a:t>A </a:t>
            </a:r>
            <a:r>
              <a:rPr lang="en-US"/>
              <a:t>WEB SERVER</a:t>
            </a:r>
            <a:endParaRPr/>
          </a:p>
        </p:txBody>
      </p:sp>
      <p:sp>
        <p:nvSpPr>
          <p:cNvPr id="585896400" name="Content Placeholder 6"/>
          <p:cNvSpPr>
            <a:spLocks noGrp="1"/>
          </p:cNvSpPr>
          <p:nvPr>
            <p:ph sz="half" idx="1"/>
          </p:nvPr>
        </p:nvSpPr>
        <p:spPr bwMode="auto">
          <a:xfrm>
            <a:off x="1265583" y="1825625"/>
            <a:ext cx="10515600" cy="4351338"/>
          </a:xfrm>
        </p:spPr>
        <p:txBody>
          <a:bodyPr/>
          <a:lstStyle/>
          <a:p>
            <a:pPr marL="0" indent="0">
              <a:buNone/>
              <a:defRPr/>
            </a:pPr>
            <a:endParaRPr lang="en-GB"/>
          </a:p>
          <a:p>
            <a:pPr marL="0" indent="0">
              <a:buNone/>
              <a:defRPr/>
            </a:pPr>
            <a:r>
              <a:rPr lang="en-GB"/>
              <a:t>Shiny apps are hosted by a computer running R</a:t>
            </a:r>
            <a:endParaRPr/>
          </a:p>
          <a:p>
            <a:pPr marL="0" indent="0">
              <a:buNone/>
              <a:defRPr/>
            </a:pPr>
            <a:endParaRPr lang="en-GB"/>
          </a:p>
        </p:txBody>
      </p:sp>
      <p:pic>
        <p:nvPicPr>
          <p:cNvPr id="77134515"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pic>
        <p:nvPicPr>
          <p:cNvPr id="893747922" name="Picture 6"/>
          <p:cNvPicPr>
            <a:picLocks noChangeAspect="1" noChangeArrowheads="1"/>
          </p:cNvPicPr>
          <p:nvPr/>
        </p:nvPicPr>
        <p:blipFill rotWithShape="1">
          <a:blip r:embed="rId4"/>
          <a:stretch/>
        </p:blipFill>
        <p:spPr bwMode="auto">
          <a:xfrm>
            <a:off x="7448905" y="3015300"/>
            <a:ext cx="3269973" cy="2178619"/>
          </a:xfrm>
          <a:prstGeom prst="rect">
            <a:avLst/>
          </a:prstGeom>
          <a:noFill/>
          <a:effectLst>
            <a:outerShdw blurRad="50800" dist="38100" dir="2700000" algn="tl" rotWithShape="0">
              <a:prstClr val="black">
                <a:alpha val="40000"/>
              </a:prstClr>
            </a:outerShdw>
          </a:effectLst>
        </p:spPr>
      </p:pic>
      <p:sp>
        <p:nvSpPr>
          <p:cNvPr id="1981816245"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975210983"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008014441" name="TextBox 10"/>
          <p:cNvSpPr txBox="1"/>
          <p:nvPr/>
        </p:nvSpPr>
        <p:spPr bwMode="auto">
          <a:xfrm>
            <a:off x="7368602" y="5193919"/>
            <a:ext cx="4412581" cy="169277"/>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sp>
        <p:nvSpPr>
          <p:cNvPr id="190410778" name="TextBox 12"/>
          <p:cNvSpPr txBox="1"/>
          <p:nvPr/>
        </p:nvSpPr>
        <p:spPr bwMode="auto">
          <a:xfrm>
            <a:off x="5640390" y="4281570"/>
            <a:ext cx="4412581" cy="169277"/>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1821677534" name="Graphic 4"/>
          <p:cNvPicPr>
            <a:picLocks noChangeAspect="1"/>
          </p:cNvPicPr>
          <p:nvPr/>
        </p:nvPicPr>
        <p:blipFill rotWithShape="1">
          <a:blip r:embed="rId5"/>
          <a:stretch/>
        </p:blipFill>
        <p:spPr bwMode="auto">
          <a:xfrm>
            <a:off x="5770034" y="3609474"/>
            <a:ext cx="1099583" cy="1099583"/>
          </a:xfrm>
          <a:prstGeom prst="rect">
            <a:avLst/>
          </a:prstGeom>
        </p:spPr>
      </p:pic>
      <p:sp>
        <p:nvSpPr>
          <p:cNvPr id="1435837030" name="Footer Placeholder 2"/>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3858593" name="Title 5"/>
          <p:cNvSpPr>
            <a:spLocks noGrp="1"/>
          </p:cNvSpPr>
          <p:nvPr>
            <p:ph type="title"/>
          </p:nvPr>
        </p:nvSpPr>
        <p:spPr bwMode="auto"/>
        <p:txBody>
          <a:bodyPr/>
          <a:lstStyle/>
          <a:p>
            <a:pPr>
              <a:defRPr/>
            </a:pPr>
            <a:r>
              <a:rPr lang="en-GB" sz="2000"/>
              <a:t>What is shiny?</a:t>
            </a:r>
            <a:br>
              <a:rPr lang="en-GB"/>
            </a:br>
            <a:r>
              <a:rPr lang="en-GB"/>
              <a:t>A FRAMEWORK</a:t>
            </a:r>
            <a:endParaRPr/>
          </a:p>
        </p:txBody>
      </p:sp>
      <p:sp>
        <p:nvSpPr>
          <p:cNvPr id="2000003138" name="Content Placeholder 6"/>
          <p:cNvSpPr>
            <a:spLocks noGrp="1"/>
          </p:cNvSpPr>
          <p:nvPr>
            <p:ph sz="half" idx="1"/>
          </p:nvPr>
        </p:nvSpPr>
        <p:spPr bwMode="auto">
          <a:xfrm>
            <a:off x="1316912" y="1825625"/>
            <a:ext cx="10515600" cy="4351338"/>
          </a:xfrm>
        </p:spPr>
        <p:txBody>
          <a:bodyPr/>
          <a:lstStyle/>
          <a:p>
            <a:pPr marL="0" indent="0">
              <a:buNone/>
              <a:defRPr/>
            </a:pPr>
            <a:endParaRPr lang="en-GB"/>
          </a:p>
          <a:p>
            <a:pPr marL="0" indent="0">
              <a:buNone/>
              <a:defRPr/>
            </a:pPr>
            <a:endParaRPr lang="en-GB" b="1"/>
          </a:p>
        </p:txBody>
      </p:sp>
      <p:grpSp>
        <p:nvGrpSpPr>
          <p:cNvPr id="1094267030" name="Group 7"/>
          <p:cNvGrpSpPr/>
          <p:nvPr/>
        </p:nvGrpSpPr>
        <p:grpSpPr bwMode="auto">
          <a:xfrm>
            <a:off x="1405886" y="2028708"/>
            <a:ext cx="10375297" cy="2347896"/>
            <a:chOff x="1405886" y="3015300"/>
            <a:chExt cx="10375297" cy="2347896"/>
          </a:xfrm>
        </p:grpSpPr>
        <p:pic>
          <p:nvPicPr>
            <p:cNvPr id="2052"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grpSp>
          <p:nvGrpSpPr>
            <p:cNvPr id="3" name="Group 2"/>
            <p:cNvGrpSpPr/>
            <p:nvPr/>
          </p:nvGrpSpPr>
          <p:grpSpPr bwMode="auto">
            <a:xfrm>
              <a:off x="7368602" y="3015300"/>
              <a:ext cx="4412581" cy="2347896"/>
              <a:chOff x="7368602" y="3015300"/>
              <a:chExt cx="4412581" cy="2347896"/>
            </a:xfrm>
          </p:grpSpPr>
          <p:pic>
            <p:nvPicPr>
              <p:cNvPr id="2054" name="Picture 6"/>
              <p:cNvPicPr>
                <a:picLocks noChangeAspect="1" noChangeArrowheads="1"/>
              </p:cNvPicPr>
              <p:nvPr/>
            </p:nvPicPr>
            <p:blipFill rotWithShape="1">
              <a:blip r:embed="rId4"/>
              <a:stretch/>
            </p:blipFill>
            <p:spPr bwMode="auto">
              <a:xfrm>
                <a:off x="7448905" y="3015300"/>
                <a:ext cx="3269973" cy="2178619"/>
              </a:xfrm>
              <a:prstGeom prst="rect">
                <a:avLst/>
              </a:prstGeom>
              <a:noFill/>
              <a:effectLst>
                <a:outerShdw blurRad="50800" dist="38100" dir="2700000" algn="tl" rotWithShape="0">
                  <a:prstClr val="black">
                    <a:alpha val="40000"/>
                  </a:prstClr>
                </a:outerShdw>
              </a:effectLst>
            </p:spPr>
          </p:pic>
          <p:sp>
            <p:nvSpPr>
              <p:cNvPr id="11" name="TextBox 10"/>
              <p:cNvSpPr txBox="1"/>
              <p:nvPr/>
            </p:nvSpPr>
            <p:spPr bwMode="auto">
              <a:xfrm>
                <a:off x="7368602" y="5193919"/>
                <a:ext cx="4412581" cy="169277"/>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grpSp>
        <p:grpSp>
          <p:nvGrpSpPr>
            <p:cNvPr id="4" name="Group 3"/>
            <p:cNvGrpSpPr/>
            <p:nvPr/>
          </p:nvGrpSpPr>
          <p:grpSpPr bwMode="auto">
            <a:xfrm>
              <a:off x="5532106" y="3609474"/>
              <a:ext cx="4520865" cy="1099583"/>
              <a:chOff x="5532106" y="3609474"/>
              <a:chExt cx="4520865" cy="1099583"/>
            </a:xfrm>
          </p:grpSpPr>
          <p:sp>
            <p:nvSpPr>
              <p:cNvPr id="2"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9"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3" name="TextBox 12"/>
              <p:cNvSpPr txBox="1"/>
              <p:nvPr/>
            </p:nvSpPr>
            <p:spPr bwMode="auto">
              <a:xfrm>
                <a:off x="5640390" y="4281570"/>
                <a:ext cx="4412581" cy="169277"/>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5" name="Graphic 4"/>
              <p:cNvPicPr>
                <a:picLocks noChangeAspect="1"/>
              </p:cNvPicPr>
              <p:nvPr/>
            </p:nvPicPr>
            <p:blipFill rotWithShape="1">
              <a:blip r:embed="rId5"/>
              <a:stretch/>
            </p:blipFill>
            <p:spPr bwMode="auto">
              <a:xfrm>
                <a:off x="5770034" y="3609474"/>
                <a:ext cx="1099583" cy="1099583"/>
              </a:xfrm>
              <a:prstGeom prst="rect">
                <a:avLst/>
              </a:prstGeom>
            </p:spPr>
          </p:pic>
        </p:grpSp>
      </p:grpSp>
      <p:grpSp>
        <p:nvGrpSpPr>
          <p:cNvPr id="1932215644" name="Group 27"/>
          <p:cNvGrpSpPr/>
          <p:nvPr/>
        </p:nvGrpSpPr>
        <p:grpSpPr bwMode="auto">
          <a:xfrm>
            <a:off x="2340029" y="4337400"/>
            <a:ext cx="1916392" cy="713557"/>
            <a:chOff x="1316912" y="4327700"/>
            <a:chExt cx="1916392" cy="713557"/>
          </a:xfrm>
        </p:grpSpPr>
        <p:pic>
          <p:nvPicPr>
            <p:cNvPr id="14" name="Picture 13" descr="A red and white logo&#10;&#10;Description automatically generated with low confidence"/>
            <p:cNvPicPr>
              <a:picLocks noChangeAspect="1"/>
            </p:cNvPicPr>
            <p:nvPr/>
          </p:nvPicPr>
          <p:blipFill rotWithShape="1">
            <a:blip r:embed="rId6"/>
            <a:stretch/>
          </p:blipFill>
          <p:spPr bwMode="auto">
            <a:xfrm>
              <a:off x="1316912" y="4327700"/>
              <a:ext cx="713557" cy="713557"/>
            </a:xfrm>
            <a:prstGeom prst="rect">
              <a:avLst/>
            </a:prstGeom>
          </p:spPr>
        </p:pic>
        <p:pic>
          <p:nvPicPr>
            <p:cNvPr id="20" name="Picture 19" descr="Logo&#10;&#10;Description automatically generated"/>
            <p:cNvPicPr>
              <a:picLocks noChangeAspect="1"/>
            </p:cNvPicPr>
            <p:nvPr/>
          </p:nvPicPr>
          <p:blipFill rotWithShape="1">
            <a:blip r:embed="rId7"/>
            <a:stretch/>
          </p:blipFill>
          <p:spPr bwMode="auto">
            <a:xfrm>
              <a:off x="2726536" y="4431094"/>
              <a:ext cx="506768" cy="506768"/>
            </a:xfrm>
            <a:prstGeom prst="rect">
              <a:avLst/>
            </a:prstGeom>
          </p:spPr>
        </p:pic>
        <p:pic>
          <p:nvPicPr>
            <p:cNvPr id="22" name="Picture 21" descr="Icon&#10;&#10;Description automatically generated"/>
            <p:cNvPicPr>
              <a:picLocks noChangeAspect="1"/>
            </p:cNvPicPr>
            <p:nvPr/>
          </p:nvPicPr>
          <p:blipFill rotWithShape="1">
            <a:blip r:embed="rId8"/>
            <a:stretch/>
          </p:blipFill>
          <p:spPr bwMode="auto">
            <a:xfrm>
              <a:off x="2075378" y="4327700"/>
              <a:ext cx="505770" cy="713557"/>
            </a:xfrm>
            <a:prstGeom prst="rect">
              <a:avLst/>
            </a:prstGeom>
          </p:spPr>
        </p:pic>
      </p:grpSp>
      <p:sp>
        <p:nvSpPr>
          <p:cNvPr id="97086887" name="Footer Placeholder 9"/>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7576260" name="Title 5"/>
          <p:cNvSpPr>
            <a:spLocks noGrp="1"/>
          </p:cNvSpPr>
          <p:nvPr>
            <p:ph type="title"/>
          </p:nvPr>
        </p:nvSpPr>
        <p:spPr bwMode="auto"/>
        <p:txBody>
          <a:bodyPr/>
          <a:lstStyle/>
          <a:p>
            <a:pPr>
              <a:defRPr/>
            </a:pPr>
            <a:r>
              <a:rPr lang="en-GB" sz="2000"/>
              <a:t>What is shiny?</a:t>
            </a:r>
            <a:br>
              <a:rPr lang="en-GB"/>
            </a:br>
            <a:r>
              <a:rPr lang="en-GB"/>
              <a:t>A FRAMEWORK</a:t>
            </a:r>
            <a:endParaRPr/>
          </a:p>
        </p:txBody>
      </p:sp>
      <p:sp>
        <p:nvSpPr>
          <p:cNvPr id="479688359" name="Content Placeholder 6"/>
          <p:cNvSpPr>
            <a:spLocks noGrp="1"/>
          </p:cNvSpPr>
          <p:nvPr>
            <p:ph sz="half" idx="1"/>
          </p:nvPr>
        </p:nvSpPr>
        <p:spPr bwMode="auto">
          <a:xfrm>
            <a:off x="1316912" y="1825625"/>
            <a:ext cx="10515600" cy="4351338"/>
          </a:xfrm>
        </p:spPr>
        <p:txBody>
          <a:bodyPr/>
          <a:lstStyle/>
          <a:p>
            <a:pPr marL="0" indent="0">
              <a:buNone/>
              <a:defRPr/>
            </a:pPr>
            <a:endParaRPr lang="en-GB"/>
          </a:p>
          <a:p>
            <a:pPr marL="0" indent="0">
              <a:buNone/>
              <a:defRPr/>
            </a:pPr>
            <a:endParaRPr lang="en-GB" b="1"/>
          </a:p>
        </p:txBody>
      </p:sp>
      <p:grpSp>
        <p:nvGrpSpPr>
          <p:cNvPr id="391529600" name="Group 7"/>
          <p:cNvGrpSpPr/>
          <p:nvPr/>
        </p:nvGrpSpPr>
        <p:grpSpPr bwMode="auto">
          <a:xfrm>
            <a:off x="1405886" y="2028708"/>
            <a:ext cx="10375297" cy="2347896"/>
            <a:chOff x="1405886" y="3015300"/>
            <a:chExt cx="10375297" cy="2347896"/>
          </a:xfrm>
        </p:grpSpPr>
        <p:pic>
          <p:nvPicPr>
            <p:cNvPr id="2052"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grpSp>
          <p:nvGrpSpPr>
            <p:cNvPr id="3" name="Group 2"/>
            <p:cNvGrpSpPr/>
            <p:nvPr/>
          </p:nvGrpSpPr>
          <p:grpSpPr bwMode="auto">
            <a:xfrm>
              <a:off x="7368602" y="3015300"/>
              <a:ext cx="4412581" cy="2347896"/>
              <a:chOff x="7368602" y="3015300"/>
              <a:chExt cx="4412581" cy="2347896"/>
            </a:xfrm>
          </p:grpSpPr>
          <p:pic>
            <p:nvPicPr>
              <p:cNvPr id="2054" name="Picture 6"/>
              <p:cNvPicPr>
                <a:picLocks noChangeAspect="1" noChangeArrowheads="1"/>
              </p:cNvPicPr>
              <p:nvPr/>
            </p:nvPicPr>
            <p:blipFill rotWithShape="1">
              <a:blip r:embed="rId4"/>
              <a:stretch/>
            </p:blipFill>
            <p:spPr bwMode="auto">
              <a:xfrm>
                <a:off x="7448905" y="3015300"/>
                <a:ext cx="3269973" cy="2178619"/>
              </a:xfrm>
              <a:prstGeom prst="rect">
                <a:avLst/>
              </a:prstGeom>
              <a:noFill/>
              <a:effectLst>
                <a:outerShdw blurRad="50800" dist="38100" dir="2700000" algn="tl" rotWithShape="0">
                  <a:prstClr val="black">
                    <a:alpha val="40000"/>
                  </a:prstClr>
                </a:outerShdw>
              </a:effectLst>
            </p:spPr>
          </p:pic>
          <p:sp>
            <p:nvSpPr>
              <p:cNvPr id="11" name="TextBox 10"/>
              <p:cNvSpPr txBox="1"/>
              <p:nvPr/>
            </p:nvSpPr>
            <p:spPr bwMode="auto">
              <a:xfrm>
                <a:off x="7368602" y="5193919"/>
                <a:ext cx="4412581" cy="169277"/>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grpSp>
        <p:grpSp>
          <p:nvGrpSpPr>
            <p:cNvPr id="4" name="Group 3"/>
            <p:cNvGrpSpPr/>
            <p:nvPr/>
          </p:nvGrpSpPr>
          <p:grpSpPr bwMode="auto">
            <a:xfrm>
              <a:off x="5532106" y="3609474"/>
              <a:ext cx="4520865" cy="1099583"/>
              <a:chOff x="5532106" y="3609474"/>
              <a:chExt cx="4520865" cy="1099583"/>
            </a:xfrm>
          </p:grpSpPr>
          <p:sp>
            <p:nvSpPr>
              <p:cNvPr id="2"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9"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3" name="TextBox 12"/>
              <p:cNvSpPr txBox="1"/>
              <p:nvPr/>
            </p:nvSpPr>
            <p:spPr bwMode="auto">
              <a:xfrm>
                <a:off x="5640390" y="4281570"/>
                <a:ext cx="4412581" cy="169277"/>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5" name="Graphic 4"/>
              <p:cNvPicPr>
                <a:picLocks noChangeAspect="1"/>
              </p:cNvPicPr>
              <p:nvPr/>
            </p:nvPicPr>
            <p:blipFill rotWithShape="1">
              <a:blip r:embed="rId5"/>
              <a:stretch/>
            </p:blipFill>
            <p:spPr bwMode="auto">
              <a:xfrm>
                <a:off x="5770034" y="3609474"/>
                <a:ext cx="1099583" cy="1099583"/>
              </a:xfrm>
              <a:prstGeom prst="rect">
                <a:avLst/>
              </a:prstGeom>
            </p:spPr>
          </p:pic>
        </p:grpSp>
      </p:grpSp>
      <p:grpSp>
        <p:nvGrpSpPr>
          <p:cNvPr id="1079216239" name="Group 27"/>
          <p:cNvGrpSpPr/>
          <p:nvPr/>
        </p:nvGrpSpPr>
        <p:grpSpPr bwMode="auto">
          <a:xfrm>
            <a:off x="2340029" y="4337400"/>
            <a:ext cx="1916392" cy="809786"/>
            <a:chOff x="1316912" y="4327700"/>
            <a:chExt cx="1916392" cy="809786"/>
          </a:xfrm>
        </p:grpSpPr>
        <p:pic>
          <p:nvPicPr>
            <p:cNvPr id="14" name="Picture 13" descr="A red and white logo&#10;&#10;Description automatically generated with low confidence"/>
            <p:cNvPicPr>
              <a:picLocks noChangeAspect="1"/>
            </p:cNvPicPr>
            <p:nvPr/>
          </p:nvPicPr>
          <p:blipFill rotWithShape="1">
            <a:blip r:embed="rId6"/>
            <a:stretch/>
          </p:blipFill>
          <p:spPr bwMode="auto">
            <a:xfrm>
              <a:off x="1316912" y="4327700"/>
              <a:ext cx="713557" cy="713557"/>
            </a:xfrm>
            <a:prstGeom prst="rect">
              <a:avLst/>
            </a:prstGeom>
          </p:spPr>
        </p:pic>
        <p:pic>
          <p:nvPicPr>
            <p:cNvPr id="20" name="Picture 19" descr="Logo&#10;&#10;Description automatically generated"/>
            <p:cNvPicPr>
              <a:picLocks noChangeAspect="1"/>
            </p:cNvPicPr>
            <p:nvPr/>
          </p:nvPicPr>
          <p:blipFill rotWithShape="1">
            <a:blip r:embed="rId7"/>
            <a:stretch/>
          </p:blipFill>
          <p:spPr bwMode="auto">
            <a:xfrm>
              <a:off x="2726536" y="4431094"/>
              <a:ext cx="506768" cy="506768"/>
            </a:xfrm>
            <a:prstGeom prst="rect">
              <a:avLst/>
            </a:prstGeom>
          </p:spPr>
        </p:pic>
        <p:pic>
          <p:nvPicPr>
            <p:cNvPr id="22" name="Picture 21" descr="Icon&#10;&#10;Description automatically generated"/>
            <p:cNvPicPr>
              <a:picLocks noChangeAspect="1"/>
            </p:cNvPicPr>
            <p:nvPr/>
          </p:nvPicPr>
          <p:blipFill rotWithShape="1">
            <a:blip r:embed="rId8"/>
            <a:stretch/>
          </p:blipFill>
          <p:spPr bwMode="auto">
            <a:xfrm>
              <a:off x="2075378" y="4327700"/>
              <a:ext cx="505770" cy="713557"/>
            </a:xfrm>
            <a:prstGeom prst="rect">
              <a:avLst/>
            </a:prstGeom>
          </p:spPr>
        </p:pic>
        <p:pic>
          <p:nvPicPr>
            <p:cNvPr id="16" name="Picture 15" descr="Logo, icon&#10;&#10;Description automatically generated with medium confidence"/>
            <p:cNvPicPr>
              <a:picLocks noChangeAspect="1"/>
            </p:cNvPicPr>
            <p:nvPr/>
          </p:nvPicPr>
          <p:blipFill rotWithShape="1">
            <a:blip r:embed="rId9"/>
            <a:stretch/>
          </p:blipFill>
          <p:spPr bwMode="auto">
            <a:xfrm>
              <a:off x="2055578" y="4920190"/>
              <a:ext cx="272685" cy="217295"/>
            </a:xfrm>
            <a:prstGeom prst="rect">
              <a:avLst/>
            </a:prstGeom>
          </p:spPr>
        </p:pic>
        <p:pic>
          <p:nvPicPr>
            <p:cNvPr id="18" name="Picture 17" descr="Icon&#10;&#10;Description automatically generated"/>
            <p:cNvPicPr>
              <a:picLocks noChangeAspect="1"/>
            </p:cNvPicPr>
            <p:nvPr/>
          </p:nvPicPr>
          <p:blipFill rotWithShape="1">
            <a:blip r:embed="rId10"/>
            <a:stretch/>
          </p:blipFill>
          <p:spPr bwMode="auto">
            <a:xfrm>
              <a:off x="2626057" y="4900484"/>
              <a:ext cx="272685" cy="237002"/>
            </a:xfrm>
            <a:prstGeom prst="rect">
              <a:avLst/>
            </a:prstGeom>
          </p:spPr>
        </p:pic>
      </p:grpSp>
      <p:sp>
        <p:nvSpPr>
          <p:cNvPr id="962373276" name="Footer Placeholder 9"/>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325196714" name="Title 5"/>
          <p:cNvSpPr>
            <a:spLocks noGrp="1"/>
          </p:cNvSpPr>
          <p:nvPr>
            <p:ph type="title"/>
          </p:nvPr>
        </p:nvSpPr>
        <p:spPr bwMode="auto"/>
        <p:txBody>
          <a:bodyPr/>
          <a:lstStyle/>
          <a:p>
            <a:pPr>
              <a:defRPr/>
            </a:pPr>
            <a:r>
              <a:rPr lang="en-GB" sz="2000"/>
              <a:t>What is shiny?</a:t>
            </a:r>
            <a:br>
              <a:rPr lang="en-GB"/>
            </a:br>
            <a:r>
              <a:rPr lang="en-GB"/>
              <a:t>A FRAMEWORK</a:t>
            </a:r>
            <a:endParaRPr/>
          </a:p>
        </p:txBody>
      </p:sp>
      <p:sp>
        <p:nvSpPr>
          <p:cNvPr id="1424502600" name="Content Placeholder 6"/>
          <p:cNvSpPr>
            <a:spLocks noGrp="1"/>
          </p:cNvSpPr>
          <p:nvPr>
            <p:ph sz="half" idx="1"/>
          </p:nvPr>
        </p:nvSpPr>
        <p:spPr bwMode="auto">
          <a:xfrm>
            <a:off x="1316912" y="1825625"/>
            <a:ext cx="10515600" cy="4351338"/>
          </a:xfrm>
        </p:spPr>
        <p:txBody>
          <a:bodyPr/>
          <a:lstStyle/>
          <a:p>
            <a:pPr marL="0" indent="0">
              <a:buNone/>
              <a:defRPr/>
            </a:pPr>
            <a:endParaRPr lang="en-GB"/>
          </a:p>
          <a:p>
            <a:pPr marL="0" indent="0">
              <a:buNone/>
              <a:defRPr/>
            </a:pPr>
            <a:endParaRPr lang="en-GB" b="1"/>
          </a:p>
        </p:txBody>
      </p:sp>
      <p:grpSp>
        <p:nvGrpSpPr>
          <p:cNvPr id="5041598" name="Group 7"/>
          <p:cNvGrpSpPr/>
          <p:nvPr/>
        </p:nvGrpSpPr>
        <p:grpSpPr bwMode="auto">
          <a:xfrm>
            <a:off x="1405886" y="2028708"/>
            <a:ext cx="10375297" cy="2347896"/>
            <a:chOff x="1405886" y="3015300"/>
            <a:chExt cx="10375297" cy="2347896"/>
          </a:xfrm>
        </p:grpSpPr>
        <p:pic>
          <p:nvPicPr>
            <p:cNvPr id="2052"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grpSp>
          <p:nvGrpSpPr>
            <p:cNvPr id="3" name="Group 2"/>
            <p:cNvGrpSpPr/>
            <p:nvPr/>
          </p:nvGrpSpPr>
          <p:grpSpPr bwMode="auto">
            <a:xfrm>
              <a:off x="7368602" y="3015300"/>
              <a:ext cx="4412581" cy="2347896"/>
              <a:chOff x="7368602" y="3015300"/>
              <a:chExt cx="4412581" cy="2347896"/>
            </a:xfrm>
          </p:grpSpPr>
          <p:pic>
            <p:nvPicPr>
              <p:cNvPr id="2054" name="Picture 6"/>
              <p:cNvPicPr>
                <a:picLocks noChangeAspect="1" noChangeArrowheads="1"/>
              </p:cNvPicPr>
              <p:nvPr/>
            </p:nvPicPr>
            <p:blipFill rotWithShape="1">
              <a:blip r:embed="rId4"/>
              <a:stretch/>
            </p:blipFill>
            <p:spPr bwMode="auto">
              <a:xfrm>
                <a:off x="7448905" y="3015300"/>
                <a:ext cx="3269973" cy="2178619"/>
              </a:xfrm>
              <a:prstGeom prst="rect">
                <a:avLst/>
              </a:prstGeom>
              <a:noFill/>
              <a:effectLst>
                <a:outerShdw blurRad="50800" dist="38100" dir="2700000" algn="tl" rotWithShape="0">
                  <a:prstClr val="black">
                    <a:alpha val="40000"/>
                  </a:prstClr>
                </a:outerShdw>
              </a:effectLst>
            </p:spPr>
          </p:pic>
          <p:sp>
            <p:nvSpPr>
              <p:cNvPr id="11" name="TextBox 10"/>
              <p:cNvSpPr txBox="1"/>
              <p:nvPr/>
            </p:nvSpPr>
            <p:spPr bwMode="auto">
              <a:xfrm>
                <a:off x="7368602" y="5193919"/>
                <a:ext cx="4412581" cy="169277"/>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grpSp>
        <p:grpSp>
          <p:nvGrpSpPr>
            <p:cNvPr id="4" name="Group 3"/>
            <p:cNvGrpSpPr/>
            <p:nvPr/>
          </p:nvGrpSpPr>
          <p:grpSpPr bwMode="auto">
            <a:xfrm>
              <a:off x="5532106" y="3609474"/>
              <a:ext cx="4520865" cy="1099583"/>
              <a:chOff x="5532106" y="3609474"/>
              <a:chExt cx="4520865" cy="1099583"/>
            </a:xfrm>
          </p:grpSpPr>
          <p:sp>
            <p:nvSpPr>
              <p:cNvPr id="2"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9"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3" name="TextBox 12"/>
              <p:cNvSpPr txBox="1"/>
              <p:nvPr/>
            </p:nvSpPr>
            <p:spPr bwMode="auto">
              <a:xfrm>
                <a:off x="5640390" y="4281570"/>
                <a:ext cx="4412581" cy="169277"/>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5" name="Graphic 4"/>
              <p:cNvPicPr>
                <a:picLocks noChangeAspect="1"/>
              </p:cNvPicPr>
              <p:nvPr/>
            </p:nvPicPr>
            <p:blipFill rotWithShape="1">
              <a:blip r:embed="rId5"/>
              <a:stretch/>
            </p:blipFill>
            <p:spPr bwMode="auto">
              <a:xfrm>
                <a:off x="5770034" y="3609474"/>
                <a:ext cx="1099583" cy="1099583"/>
              </a:xfrm>
              <a:prstGeom prst="rect">
                <a:avLst/>
              </a:prstGeom>
            </p:spPr>
          </p:pic>
        </p:grpSp>
      </p:grpSp>
      <p:grpSp>
        <p:nvGrpSpPr>
          <p:cNvPr id="1683365063" name="Group 27"/>
          <p:cNvGrpSpPr/>
          <p:nvPr/>
        </p:nvGrpSpPr>
        <p:grpSpPr bwMode="auto">
          <a:xfrm>
            <a:off x="2340029" y="4337400"/>
            <a:ext cx="1916392" cy="1024435"/>
            <a:chOff x="1316912" y="4327700"/>
            <a:chExt cx="1916392" cy="1024435"/>
          </a:xfrm>
        </p:grpSpPr>
        <p:pic>
          <p:nvPicPr>
            <p:cNvPr id="14" name="Picture 13" descr="A red and white logo&#10;&#10;Description automatically generated with low confidence"/>
            <p:cNvPicPr>
              <a:picLocks noChangeAspect="1"/>
            </p:cNvPicPr>
            <p:nvPr/>
          </p:nvPicPr>
          <p:blipFill rotWithShape="1">
            <a:blip r:embed="rId6"/>
            <a:stretch/>
          </p:blipFill>
          <p:spPr bwMode="auto">
            <a:xfrm>
              <a:off x="1316912" y="4327700"/>
              <a:ext cx="713557" cy="713557"/>
            </a:xfrm>
            <a:prstGeom prst="rect">
              <a:avLst/>
            </a:prstGeom>
          </p:spPr>
        </p:pic>
        <p:pic>
          <p:nvPicPr>
            <p:cNvPr id="16" name="Picture 15" descr="Logo, icon&#10;&#10;Description automatically generated with medium confidence"/>
            <p:cNvPicPr>
              <a:picLocks noChangeAspect="1"/>
            </p:cNvPicPr>
            <p:nvPr/>
          </p:nvPicPr>
          <p:blipFill rotWithShape="1">
            <a:blip r:embed="rId7"/>
            <a:stretch/>
          </p:blipFill>
          <p:spPr bwMode="auto">
            <a:xfrm>
              <a:off x="2075908" y="5115134"/>
              <a:ext cx="272685" cy="217295"/>
            </a:xfrm>
            <a:prstGeom prst="rect">
              <a:avLst/>
            </a:prstGeom>
          </p:spPr>
        </p:pic>
        <p:pic>
          <p:nvPicPr>
            <p:cNvPr id="18" name="Picture 17" descr="Icon&#10;&#10;Description automatically generated"/>
            <p:cNvPicPr>
              <a:picLocks noChangeAspect="1"/>
            </p:cNvPicPr>
            <p:nvPr/>
          </p:nvPicPr>
          <p:blipFill rotWithShape="1">
            <a:blip r:embed="rId8"/>
            <a:stretch/>
          </p:blipFill>
          <p:spPr bwMode="auto">
            <a:xfrm>
              <a:off x="2726536" y="5115133"/>
              <a:ext cx="272685" cy="237002"/>
            </a:xfrm>
            <a:prstGeom prst="rect">
              <a:avLst/>
            </a:prstGeom>
          </p:spPr>
        </p:pic>
        <p:pic>
          <p:nvPicPr>
            <p:cNvPr id="20" name="Picture 19" descr="Logo&#10;&#10;Description automatically generated"/>
            <p:cNvPicPr>
              <a:picLocks noChangeAspect="1"/>
            </p:cNvPicPr>
            <p:nvPr/>
          </p:nvPicPr>
          <p:blipFill rotWithShape="1">
            <a:blip r:embed="rId9"/>
            <a:stretch/>
          </p:blipFill>
          <p:spPr bwMode="auto">
            <a:xfrm>
              <a:off x="2726536" y="4431094"/>
              <a:ext cx="506768" cy="506768"/>
            </a:xfrm>
            <a:prstGeom prst="rect">
              <a:avLst/>
            </a:prstGeom>
          </p:spPr>
        </p:pic>
        <p:pic>
          <p:nvPicPr>
            <p:cNvPr id="22" name="Picture 21" descr="Icon&#10;&#10;Description automatically generated"/>
            <p:cNvPicPr>
              <a:picLocks noChangeAspect="1"/>
            </p:cNvPicPr>
            <p:nvPr/>
          </p:nvPicPr>
          <p:blipFill rotWithShape="1">
            <a:blip r:embed="rId10"/>
            <a:stretch/>
          </p:blipFill>
          <p:spPr bwMode="auto">
            <a:xfrm>
              <a:off x="2075378" y="4327700"/>
              <a:ext cx="505770" cy="713557"/>
            </a:xfrm>
            <a:prstGeom prst="rect">
              <a:avLst/>
            </a:prstGeom>
          </p:spPr>
        </p:pic>
      </p:grpSp>
      <p:pic>
        <p:nvPicPr>
          <p:cNvPr id="1140205548" name="Picture 11" descr="A picture containing text, sign, businesscard&#10;&#10;Description automatically generated"/>
          <p:cNvPicPr>
            <a:picLocks noChangeAspect="1"/>
          </p:cNvPicPr>
          <p:nvPr/>
        </p:nvPicPr>
        <p:blipFill rotWithShape="1">
          <a:blip r:embed="rId11"/>
          <a:stretch/>
        </p:blipFill>
        <p:spPr bwMode="auto">
          <a:xfrm rot="21003591">
            <a:off x="2633423" y="3926692"/>
            <a:ext cx="1480613" cy="1778457"/>
          </a:xfrm>
          <a:prstGeom prst="rect">
            <a:avLst/>
          </a:prstGeom>
        </p:spPr>
      </p:pic>
      <p:sp>
        <p:nvSpPr>
          <p:cNvPr id="464685758" name="Footer Placeholder 9"/>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74658071" name="Title 5"/>
          <p:cNvSpPr>
            <a:spLocks noGrp="1"/>
          </p:cNvSpPr>
          <p:nvPr>
            <p:ph type="title"/>
          </p:nvPr>
        </p:nvSpPr>
        <p:spPr bwMode="auto"/>
        <p:txBody>
          <a:bodyPr/>
          <a:lstStyle/>
          <a:p>
            <a:pPr>
              <a:defRPr/>
            </a:pPr>
            <a:r>
              <a:rPr lang="en-GB" sz="2000"/>
              <a:t>What is shiny?</a:t>
            </a:r>
            <a:br>
              <a:rPr lang="en-GB"/>
            </a:br>
            <a:r>
              <a:rPr lang="en-GB"/>
              <a:t>A FRAMEWORK</a:t>
            </a:r>
            <a:endParaRPr/>
          </a:p>
        </p:txBody>
      </p:sp>
      <p:sp>
        <p:nvSpPr>
          <p:cNvPr id="1701506128" name="Content Placeholder 6"/>
          <p:cNvSpPr>
            <a:spLocks noGrp="1"/>
          </p:cNvSpPr>
          <p:nvPr>
            <p:ph sz="half" idx="1"/>
          </p:nvPr>
        </p:nvSpPr>
        <p:spPr bwMode="auto">
          <a:xfrm>
            <a:off x="1316912" y="1825625"/>
            <a:ext cx="10515600" cy="4351338"/>
          </a:xfrm>
        </p:spPr>
        <p:txBody>
          <a:bodyPr/>
          <a:lstStyle/>
          <a:p>
            <a:pPr marL="0" indent="0">
              <a:buNone/>
              <a:defRPr/>
            </a:pPr>
            <a:endParaRPr lang="en-GB"/>
          </a:p>
          <a:p>
            <a:pPr marL="0" indent="0">
              <a:buNone/>
              <a:defRPr/>
            </a:pPr>
            <a:endParaRPr lang="en-GB" b="1"/>
          </a:p>
        </p:txBody>
      </p:sp>
      <p:grpSp>
        <p:nvGrpSpPr>
          <p:cNvPr id="876861" name="Group 7"/>
          <p:cNvGrpSpPr/>
          <p:nvPr/>
        </p:nvGrpSpPr>
        <p:grpSpPr bwMode="auto">
          <a:xfrm>
            <a:off x="1405886" y="2028708"/>
            <a:ext cx="10375297" cy="2347896"/>
            <a:chOff x="1405886" y="3015300"/>
            <a:chExt cx="10375297" cy="2347896"/>
          </a:xfrm>
        </p:grpSpPr>
        <p:pic>
          <p:nvPicPr>
            <p:cNvPr id="2052"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grpSp>
          <p:nvGrpSpPr>
            <p:cNvPr id="3" name="Group 2"/>
            <p:cNvGrpSpPr/>
            <p:nvPr/>
          </p:nvGrpSpPr>
          <p:grpSpPr bwMode="auto">
            <a:xfrm>
              <a:off x="7368602" y="3015300"/>
              <a:ext cx="4412581" cy="2347896"/>
              <a:chOff x="7368602" y="3015300"/>
              <a:chExt cx="4412581" cy="2347896"/>
            </a:xfrm>
          </p:grpSpPr>
          <p:pic>
            <p:nvPicPr>
              <p:cNvPr id="2054" name="Picture 6"/>
              <p:cNvPicPr>
                <a:picLocks noChangeAspect="1" noChangeArrowheads="1"/>
              </p:cNvPicPr>
              <p:nvPr/>
            </p:nvPicPr>
            <p:blipFill rotWithShape="1">
              <a:blip r:embed="rId4"/>
              <a:stretch/>
            </p:blipFill>
            <p:spPr bwMode="auto">
              <a:xfrm>
                <a:off x="7448905" y="3015300"/>
                <a:ext cx="3269973" cy="2178619"/>
              </a:xfrm>
              <a:prstGeom prst="rect">
                <a:avLst/>
              </a:prstGeom>
              <a:noFill/>
              <a:effectLst>
                <a:outerShdw blurRad="50800" dist="38100" dir="2700000" algn="tl" rotWithShape="0">
                  <a:prstClr val="black">
                    <a:alpha val="40000"/>
                  </a:prstClr>
                </a:outerShdw>
              </a:effectLst>
            </p:spPr>
          </p:pic>
          <p:sp>
            <p:nvSpPr>
              <p:cNvPr id="11" name="TextBox 10"/>
              <p:cNvSpPr txBox="1"/>
              <p:nvPr/>
            </p:nvSpPr>
            <p:spPr bwMode="auto">
              <a:xfrm>
                <a:off x="7368602" y="5193919"/>
                <a:ext cx="4412581" cy="169277"/>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grpSp>
        <p:grpSp>
          <p:nvGrpSpPr>
            <p:cNvPr id="4" name="Group 3"/>
            <p:cNvGrpSpPr/>
            <p:nvPr/>
          </p:nvGrpSpPr>
          <p:grpSpPr bwMode="auto">
            <a:xfrm>
              <a:off x="5532106" y="3609474"/>
              <a:ext cx="4520865" cy="1099583"/>
              <a:chOff x="5532106" y="3609474"/>
              <a:chExt cx="4520865" cy="1099583"/>
            </a:xfrm>
          </p:grpSpPr>
          <p:sp>
            <p:nvSpPr>
              <p:cNvPr id="2"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9"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3" name="TextBox 12"/>
              <p:cNvSpPr txBox="1"/>
              <p:nvPr/>
            </p:nvSpPr>
            <p:spPr bwMode="auto">
              <a:xfrm>
                <a:off x="5640390" y="4281570"/>
                <a:ext cx="4412581" cy="169277"/>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5" name="Graphic 4"/>
              <p:cNvPicPr>
                <a:picLocks noChangeAspect="1"/>
              </p:cNvPicPr>
              <p:nvPr/>
            </p:nvPicPr>
            <p:blipFill rotWithShape="1">
              <a:blip r:embed="rId5"/>
              <a:stretch/>
            </p:blipFill>
            <p:spPr bwMode="auto">
              <a:xfrm>
                <a:off x="5770034" y="3609474"/>
                <a:ext cx="1099583" cy="1099583"/>
              </a:xfrm>
              <a:prstGeom prst="rect">
                <a:avLst/>
              </a:prstGeom>
            </p:spPr>
          </p:pic>
        </p:grpSp>
      </p:grpSp>
      <p:grpSp>
        <p:nvGrpSpPr>
          <p:cNvPr id="251642812" name="Group 27"/>
          <p:cNvGrpSpPr/>
          <p:nvPr/>
        </p:nvGrpSpPr>
        <p:grpSpPr bwMode="auto">
          <a:xfrm>
            <a:off x="2340029" y="4337400"/>
            <a:ext cx="1916392" cy="713557"/>
            <a:chOff x="1316912" y="4327700"/>
            <a:chExt cx="1916392" cy="713557"/>
          </a:xfrm>
        </p:grpSpPr>
        <p:pic>
          <p:nvPicPr>
            <p:cNvPr id="14" name="Picture 13" descr="A red and white logo&#10;&#10;Description automatically generated with low confidence"/>
            <p:cNvPicPr>
              <a:picLocks noChangeAspect="1"/>
            </p:cNvPicPr>
            <p:nvPr/>
          </p:nvPicPr>
          <p:blipFill rotWithShape="1">
            <a:blip r:embed="rId6"/>
            <a:stretch/>
          </p:blipFill>
          <p:spPr bwMode="auto">
            <a:xfrm>
              <a:off x="1316912" y="4327700"/>
              <a:ext cx="713557" cy="713557"/>
            </a:xfrm>
            <a:prstGeom prst="rect">
              <a:avLst/>
            </a:prstGeom>
          </p:spPr>
        </p:pic>
        <p:pic>
          <p:nvPicPr>
            <p:cNvPr id="20" name="Picture 19" descr="Logo&#10;&#10;Description automatically generated"/>
            <p:cNvPicPr>
              <a:picLocks noChangeAspect="1"/>
            </p:cNvPicPr>
            <p:nvPr/>
          </p:nvPicPr>
          <p:blipFill rotWithShape="1">
            <a:blip r:embed="rId7"/>
            <a:stretch/>
          </p:blipFill>
          <p:spPr bwMode="auto">
            <a:xfrm>
              <a:off x="2726536" y="4431094"/>
              <a:ext cx="506768" cy="506768"/>
            </a:xfrm>
            <a:prstGeom prst="rect">
              <a:avLst/>
            </a:prstGeom>
          </p:spPr>
        </p:pic>
        <p:pic>
          <p:nvPicPr>
            <p:cNvPr id="22" name="Picture 21" descr="Icon&#10;&#10;Description automatically generated"/>
            <p:cNvPicPr>
              <a:picLocks noChangeAspect="1"/>
            </p:cNvPicPr>
            <p:nvPr/>
          </p:nvPicPr>
          <p:blipFill rotWithShape="1">
            <a:blip r:embed="rId8"/>
            <a:stretch/>
          </p:blipFill>
          <p:spPr bwMode="auto">
            <a:xfrm>
              <a:off x="2075378" y="4327700"/>
              <a:ext cx="505770" cy="713557"/>
            </a:xfrm>
            <a:prstGeom prst="rect">
              <a:avLst/>
            </a:prstGeom>
          </p:spPr>
        </p:pic>
      </p:grpSp>
      <p:pic>
        <p:nvPicPr>
          <p:cNvPr id="1259529205" name="Picture 4"/>
          <p:cNvPicPr>
            <a:picLocks noChangeAspect="1" noChangeArrowheads="1"/>
          </p:cNvPicPr>
          <p:nvPr/>
        </p:nvPicPr>
        <p:blipFill rotWithShape="1">
          <a:blip r:embed="rId9"/>
          <a:stretch/>
        </p:blipFill>
        <p:spPr bwMode="auto">
          <a:xfrm>
            <a:off x="8314431" y="4506720"/>
            <a:ext cx="660115" cy="511606"/>
          </a:xfrm>
          <a:prstGeom prst="rect">
            <a:avLst/>
          </a:prstGeom>
          <a:noFill/>
        </p:spPr>
      </p:pic>
      <p:pic>
        <p:nvPicPr>
          <p:cNvPr id="194051804" name="Picture 22" descr="A picture containing text, sign, businesscard&#10;&#10;Description automatically generated"/>
          <p:cNvPicPr>
            <a:picLocks noChangeAspect="1"/>
          </p:cNvPicPr>
          <p:nvPr/>
        </p:nvPicPr>
        <p:blipFill rotWithShape="1">
          <a:blip r:embed="rId10"/>
          <a:stretch/>
        </p:blipFill>
        <p:spPr bwMode="auto">
          <a:xfrm rot="21003591">
            <a:off x="2633423" y="3926692"/>
            <a:ext cx="1480613" cy="1778457"/>
          </a:xfrm>
          <a:prstGeom prst="rect">
            <a:avLst/>
          </a:prstGeom>
        </p:spPr>
      </p:pic>
      <p:pic>
        <p:nvPicPr>
          <p:cNvPr id="1368345902" name="Picture 20" descr="A picture containing text, sign, businesscard&#10;&#10;Description automatically generated"/>
          <p:cNvPicPr>
            <a:picLocks noChangeAspect="1"/>
          </p:cNvPicPr>
          <p:nvPr/>
        </p:nvPicPr>
        <p:blipFill rotWithShape="1">
          <a:blip r:embed="rId10"/>
          <a:stretch/>
        </p:blipFill>
        <p:spPr bwMode="auto">
          <a:xfrm>
            <a:off x="9031059" y="4360191"/>
            <a:ext cx="669904" cy="804664"/>
          </a:xfrm>
          <a:prstGeom prst="rect">
            <a:avLst/>
          </a:prstGeom>
        </p:spPr>
      </p:pic>
      <p:sp>
        <p:nvSpPr>
          <p:cNvPr id="952676852" name="Footer Placeholder 9"/>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57931712" name="Title 5"/>
          <p:cNvSpPr>
            <a:spLocks noGrp="1"/>
          </p:cNvSpPr>
          <p:nvPr>
            <p:ph type="title"/>
          </p:nvPr>
        </p:nvSpPr>
        <p:spPr bwMode="auto"/>
        <p:txBody>
          <a:bodyPr/>
          <a:lstStyle/>
          <a:p>
            <a:pPr>
              <a:defRPr/>
            </a:pPr>
            <a:r>
              <a:rPr lang="en-GB" sz="2000"/>
              <a:t>What is shiny?</a:t>
            </a:r>
            <a:br>
              <a:rPr lang="en-GB"/>
            </a:br>
            <a:r>
              <a:rPr lang="en-GB"/>
              <a:t>A FRAMEWORK</a:t>
            </a:r>
            <a:endParaRPr/>
          </a:p>
        </p:txBody>
      </p:sp>
      <p:sp>
        <p:nvSpPr>
          <p:cNvPr id="29589450" name="Content Placeholder 6"/>
          <p:cNvSpPr>
            <a:spLocks noGrp="1"/>
          </p:cNvSpPr>
          <p:nvPr>
            <p:ph sz="half" idx="1"/>
          </p:nvPr>
        </p:nvSpPr>
        <p:spPr bwMode="auto">
          <a:xfrm>
            <a:off x="1316911" y="1825624"/>
            <a:ext cx="10515600" cy="4351338"/>
          </a:xfrm>
        </p:spPr>
        <p:txBody>
          <a:bodyPr/>
          <a:lstStyle/>
          <a:p>
            <a:pPr marL="0" indent="0">
              <a:buNone/>
              <a:defRPr/>
            </a:pPr>
            <a:endParaRPr lang="en-GB"/>
          </a:p>
          <a:p>
            <a:pPr marL="0" indent="0">
              <a:buNone/>
              <a:defRPr/>
            </a:pPr>
            <a:endParaRPr lang="en-GB" b="1"/>
          </a:p>
        </p:txBody>
      </p:sp>
      <p:grpSp>
        <p:nvGrpSpPr>
          <p:cNvPr id="964725513" name="Group 7"/>
          <p:cNvGrpSpPr/>
          <p:nvPr/>
        </p:nvGrpSpPr>
        <p:grpSpPr bwMode="auto">
          <a:xfrm>
            <a:off x="1405885" y="2028708"/>
            <a:ext cx="10375297" cy="2347895"/>
            <a:chOff x="1405885" y="3015299"/>
            <a:chExt cx="10375297" cy="2347895"/>
          </a:xfrm>
        </p:grpSpPr>
        <p:pic>
          <p:nvPicPr>
            <p:cNvPr id="905188478" name="Picture 4"/>
            <p:cNvPicPr>
              <a:picLocks noChangeAspect="1" noChangeArrowheads="1"/>
            </p:cNvPicPr>
            <p:nvPr/>
          </p:nvPicPr>
          <p:blipFill rotWithShape="1">
            <a:blip r:embed="rId3"/>
            <a:stretch/>
          </p:blipFill>
          <p:spPr bwMode="auto">
            <a:xfrm>
              <a:off x="1405885" y="3105218"/>
              <a:ext cx="3784678" cy="1998783"/>
            </a:xfrm>
            <a:prstGeom prst="rect">
              <a:avLst/>
            </a:prstGeom>
            <a:noFill/>
            <a:effectLst>
              <a:outerShdw blurRad="50800" dist="38100" dir="2700000" algn="tl" rotWithShape="0">
                <a:prstClr val="black">
                  <a:alpha val="40000"/>
                </a:prstClr>
              </a:outerShdw>
            </a:effectLst>
          </p:spPr>
        </p:pic>
        <p:grpSp>
          <p:nvGrpSpPr>
            <p:cNvPr id="554533636" name="Group 2"/>
            <p:cNvGrpSpPr/>
            <p:nvPr/>
          </p:nvGrpSpPr>
          <p:grpSpPr bwMode="auto">
            <a:xfrm>
              <a:off x="7368602" y="3015299"/>
              <a:ext cx="4412580" cy="2347895"/>
              <a:chOff x="7368602" y="3015299"/>
              <a:chExt cx="4412580" cy="2347895"/>
            </a:xfrm>
          </p:grpSpPr>
          <p:pic>
            <p:nvPicPr>
              <p:cNvPr id="1502107120" name="Picture 6"/>
              <p:cNvPicPr>
                <a:picLocks noChangeAspect="1" noChangeArrowheads="1"/>
              </p:cNvPicPr>
              <p:nvPr/>
            </p:nvPicPr>
            <p:blipFill rotWithShape="1">
              <a:blip r:embed="rId4"/>
              <a:stretch/>
            </p:blipFill>
            <p:spPr bwMode="auto">
              <a:xfrm>
                <a:off x="7448905" y="3015299"/>
                <a:ext cx="3269972" cy="2178618"/>
              </a:xfrm>
              <a:prstGeom prst="rect">
                <a:avLst/>
              </a:prstGeom>
              <a:noFill/>
              <a:effectLst>
                <a:outerShdw blurRad="50800" dist="38100" dir="2700000" algn="tl" rotWithShape="0">
                  <a:prstClr val="black">
                    <a:alpha val="40000"/>
                  </a:prstClr>
                </a:outerShdw>
              </a:effectLst>
            </p:spPr>
          </p:pic>
          <p:sp>
            <p:nvSpPr>
              <p:cNvPr id="520218874" name="TextBox 10"/>
              <p:cNvSpPr txBox="1"/>
              <p:nvPr/>
            </p:nvSpPr>
            <p:spPr bwMode="auto">
              <a:xfrm>
                <a:off x="7368602" y="5193918"/>
                <a:ext cx="4412580" cy="169276"/>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grpSp>
        <p:grpSp>
          <p:nvGrpSpPr>
            <p:cNvPr id="1848290396" name="Group 3"/>
            <p:cNvGrpSpPr/>
            <p:nvPr/>
          </p:nvGrpSpPr>
          <p:grpSpPr bwMode="auto">
            <a:xfrm>
              <a:off x="5532105" y="3609473"/>
              <a:ext cx="4520864" cy="1099582"/>
              <a:chOff x="5532105" y="3609473"/>
              <a:chExt cx="4520864" cy="1099582"/>
            </a:xfrm>
          </p:grpSpPr>
          <p:sp>
            <p:nvSpPr>
              <p:cNvPr id="1710803341" name="Arrow: Right 1"/>
              <p:cNvSpPr/>
              <p:nvPr/>
            </p:nvSpPr>
            <p:spPr bwMode="auto">
              <a:xfrm>
                <a:off x="5735764" y="3783930"/>
                <a:ext cx="1371600" cy="264694"/>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2115887285" name="Arrow: Right 8"/>
              <p:cNvSpPr/>
              <p:nvPr/>
            </p:nvSpPr>
            <p:spPr bwMode="auto">
              <a:xfrm rot="10800000">
                <a:off x="5532105" y="4051215"/>
                <a:ext cx="1371600" cy="264694"/>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35057940" name="TextBox 12"/>
              <p:cNvSpPr txBox="1"/>
              <p:nvPr/>
            </p:nvSpPr>
            <p:spPr bwMode="auto">
              <a:xfrm>
                <a:off x="5640390" y="4281570"/>
                <a:ext cx="4412580" cy="169276"/>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2091217027" name="Graphic 4"/>
              <p:cNvPicPr>
                <a:picLocks noChangeAspect="1"/>
              </p:cNvPicPr>
              <p:nvPr/>
            </p:nvPicPr>
            <p:blipFill rotWithShape="1">
              <a:blip r:embed="rId5"/>
              <a:stretch/>
            </p:blipFill>
            <p:spPr bwMode="auto">
              <a:xfrm>
                <a:off x="5770033" y="3609473"/>
                <a:ext cx="1099582" cy="1099582"/>
              </a:xfrm>
              <a:prstGeom prst="rect">
                <a:avLst/>
              </a:prstGeom>
            </p:spPr>
          </p:pic>
        </p:grpSp>
      </p:grpSp>
      <p:grpSp>
        <p:nvGrpSpPr>
          <p:cNvPr id="1374718869" name="Group 27"/>
          <p:cNvGrpSpPr/>
          <p:nvPr/>
        </p:nvGrpSpPr>
        <p:grpSpPr bwMode="auto">
          <a:xfrm>
            <a:off x="2340028" y="4337399"/>
            <a:ext cx="1916391" cy="713556"/>
            <a:chOff x="1316911" y="4327699"/>
            <a:chExt cx="1916391" cy="713556"/>
          </a:xfrm>
        </p:grpSpPr>
        <p:pic>
          <p:nvPicPr>
            <p:cNvPr id="2127506270" name="Picture 13" descr="A red and white logo&#10;&#10;Description automatically generated with low confidence"/>
            <p:cNvPicPr>
              <a:picLocks noChangeAspect="1"/>
            </p:cNvPicPr>
            <p:nvPr/>
          </p:nvPicPr>
          <p:blipFill rotWithShape="1">
            <a:blip r:embed="rId6"/>
            <a:stretch/>
          </p:blipFill>
          <p:spPr bwMode="auto">
            <a:xfrm>
              <a:off x="1316911" y="4327699"/>
              <a:ext cx="713556" cy="713556"/>
            </a:xfrm>
            <a:prstGeom prst="rect">
              <a:avLst/>
            </a:prstGeom>
          </p:spPr>
        </p:pic>
        <p:pic>
          <p:nvPicPr>
            <p:cNvPr id="1255831665" name="Picture 19" descr="Logo&#10;&#10;Description automatically generated"/>
            <p:cNvPicPr>
              <a:picLocks noChangeAspect="1"/>
            </p:cNvPicPr>
            <p:nvPr/>
          </p:nvPicPr>
          <p:blipFill rotWithShape="1">
            <a:blip r:embed="rId7"/>
            <a:stretch/>
          </p:blipFill>
          <p:spPr bwMode="auto">
            <a:xfrm>
              <a:off x="2726535" y="4431093"/>
              <a:ext cx="506767" cy="506767"/>
            </a:xfrm>
            <a:prstGeom prst="rect">
              <a:avLst/>
            </a:prstGeom>
          </p:spPr>
        </p:pic>
        <p:pic>
          <p:nvPicPr>
            <p:cNvPr id="176360374" name="Picture 21" descr="Icon&#10;&#10;Description automatically generated"/>
            <p:cNvPicPr>
              <a:picLocks noChangeAspect="1"/>
            </p:cNvPicPr>
            <p:nvPr/>
          </p:nvPicPr>
          <p:blipFill rotWithShape="1">
            <a:blip r:embed="rId8"/>
            <a:stretch/>
          </p:blipFill>
          <p:spPr bwMode="auto">
            <a:xfrm>
              <a:off x="2075378" y="4327699"/>
              <a:ext cx="505769" cy="713556"/>
            </a:xfrm>
            <a:prstGeom prst="rect">
              <a:avLst/>
            </a:prstGeom>
          </p:spPr>
        </p:pic>
      </p:grpSp>
      <p:pic>
        <p:nvPicPr>
          <p:cNvPr id="1279620117" name="Picture 4"/>
          <p:cNvPicPr>
            <a:picLocks noChangeAspect="1" noChangeArrowheads="1"/>
          </p:cNvPicPr>
          <p:nvPr/>
        </p:nvPicPr>
        <p:blipFill rotWithShape="1">
          <a:blip r:embed="rId9"/>
          <a:stretch/>
        </p:blipFill>
        <p:spPr bwMode="auto">
          <a:xfrm>
            <a:off x="8314431" y="4506719"/>
            <a:ext cx="660114" cy="511605"/>
          </a:xfrm>
          <a:prstGeom prst="rect">
            <a:avLst/>
          </a:prstGeom>
          <a:noFill/>
        </p:spPr>
      </p:pic>
      <p:pic>
        <p:nvPicPr>
          <p:cNvPr id="1288454223" name="Picture 22" descr="A picture containing text, sign, businesscard&#10;&#10;Description automatically generated"/>
          <p:cNvPicPr>
            <a:picLocks noChangeAspect="1"/>
          </p:cNvPicPr>
          <p:nvPr/>
        </p:nvPicPr>
        <p:blipFill rotWithShape="1">
          <a:blip r:embed="rId10"/>
          <a:stretch/>
        </p:blipFill>
        <p:spPr bwMode="auto">
          <a:xfrm rot="21003591">
            <a:off x="2633423" y="3926691"/>
            <a:ext cx="1480612" cy="1778456"/>
          </a:xfrm>
          <a:prstGeom prst="rect">
            <a:avLst/>
          </a:prstGeom>
        </p:spPr>
      </p:pic>
      <p:pic>
        <p:nvPicPr>
          <p:cNvPr id="668489592" name="Picture 20" descr="A picture containing text, sign, businesscard&#10;&#10;Description automatically generated"/>
          <p:cNvPicPr>
            <a:picLocks noChangeAspect="1"/>
          </p:cNvPicPr>
          <p:nvPr/>
        </p:nvPicPr>
        <p:blipFill rotWithShape="1">
          <a:blip r:embed="rId10"/>
          <a:stretch/>
        </p:blipFill>
        <p:spPr bwMode="auto">
          <a:xfrm>
            <a:off x="9031059" y="4360190"/>
            <a:ext cx="669903" cy="804663"/>
          </a:xfrm>
          <a:prstGeom prst="rect">
            <a:avLst/>
          </a:prstGeom>
        </p:spPr>
      </p:pic>
      <p:pic>
        <p:nvPicPr>
          <p:cNvPr id="2107386299" name="Picture 16" descr="A picture containing text, sign, businesscard"/>
          <p:cNvPicPr>
            <a:picLocks noChangeAspect="1"/>
          </p:cNvPicPr>
          <p:nvPr/>
        </p:nvPicPr>
        <p:blipFill rotWithShape="1">
          <a:blip r:embed="rId10"/>
          <a:stretch/>
        </p:blipFill>
        <p:spPr bwMode="auto">
          <a:xfrm rot="21258242">
            <a:off x="5663679" y="2257624"/>
            <a:ext cx="1402020" cy="1684054"/>
          </a:xfrm>
          <a:prstGeom prst="rect">
            <a:avLst/>
          </a:prstGeom>
        </p:spPr>
      </p:pic>
      <p:sp>
        <p:nvSpPr>
          <p:cNvPr id="1134959664" name="Footer Placeholder 9"/>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41877509" name="Title 5"/>
          <p:cNvSpPr>
            <a:spLocks noGrp="1"/>
          </p:cNvSpPr>
          <p:nvPr>
            <p:ph type="title"/>
          </p:nvPr>
        </p:nvSpPr>
        <p:spPr bwMode="auto"/>
        <p:txBody>
          <a:bodyPr/>
          <a:lstStyle/>
          <a:p>
            <a:pPr>
              <a:defRPr/>
            </a:pPr>
            <a:r>
              <a:rPr lang="en-GB" sz="2000"/>
              <a:t>What is shiny?</a:t>
            </a:r>
            <a:br>
              <a:rPr lang="en-GB"/>
            </a:br>
            <a:r>
              <a:rPr lang="en-US"/>
              <a:t>R CODE</a:t>
            </a:r>
            <a:endParaRPr/>
          </a:p>
        </p:txBody>
      </p:sp>
      <p:sp>
        <p:nvSpPr>
          <p:cNvPr id="1167656188" name="Content Placeholder 6"/>
          <p:cNvSpPr>
            <a:spLocks noGrp="1"/>
          </p:cNvSpPr>
          <p:nvPr>
            <p:ph sz="half" idx="1"/>
          </p:nvPr>
        </p:nvSpPr>
        <p:spPr bwMode="auto">
          <a:xfrm>
            <a:off x="1316912" y="1825625"/>
            <a:ext cx="10515600" cy="4351338"/>
          </a:xfrm>
        </p:spPr>
        <p:txBody>
          <a:bodyPr/>
          <a:lstStyle/>
          <a:p>
            <a:pPr marL="0" indent="0">
              <a:buNone/>
              <a:defRPr/>
            </a:pPr>
            <a:endParaRPr lang="en-GB"/>
          </a:p>
          <a:p>
            <a:pPr marL="0" indent="0">
              <a:buNone/>
              <a:defRPr/>
            </a:pPr>
            <a:endParaRPr lang="en-GB" b="1"/>
          </a:p>
        </p:txBody>
      </p:sp>
      <p:grpSp>
        <p:nvGrpSpPr>
          <p:cNvPr id="864767248" name="Group 7"/>
          <p:cNvGrpSpPr/>
          <p:nvPr/>
        </p:nvGrpSpPr>
        <p:grpSpPr bwMode="auto">
          <a:xfrm>
            <a:off x="1405886" y="2028708"/>
            <a:ext cx="10375297" cy="2347896"/>
            <a:chOff x="1405886" y="3015300"/>
            <a:chExt cx="10375297" cy="2347896"/>
          </a:xfrm>
        </p:grpSpPr>
        <p:pic>
          <p:nvPicPr>
            <p:cNvPr id="2052"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grpSp>
          <p:nvGrpSpPr>
            <p:cNvPr id="3" name="Group 2"/>
            <p:cNvGrpSpPr/>
            <p:nvPr/>
          </p:nvGrpSpPr>
          <p:grpSpPr bwMode="auto">
            <a:xfrm>
              <a:off x="7368602" y="3015300"/>
              <a:ext cx="4412581" cy="2347896"/>
              <a:chOff x="7368602" y="3015300"/>
              <a:chExt cx="4412581" cy="2347896"/>
            </a:xfrm>
          </p:grpSpPr>
          <p:pic>
            <p:nvPicPr>
              <p:cNvPr id="2054" name="Picture 6"/>
              <p:cNvPicPr>
                <a:picLocks noChangeAspect="1" noChangeArrowheads="1"/>
              </p:cNvPicPr>
              <p:nvPr/>
            </p:nvPicPr>
            <p:blipFill rotWithShape="1">
              <a:blip r:embed="rId4"/>
              <a:stretch/>
            </p:blipFill>
            <p:spPr bwMode="auto">
              <a:xfrm>
                <a:off x="7448905" y="3015300"/>
                <a:ext cx="3269973" cy="2178619"/>
              </a:xfrm>
              <a:prstGeom prst="rect">
                <a:avLst/>
              </a:prstGeom>
              <a:noFill/>
              <a:effectLst>
                <a:outerShdw blurRad="50800" dist="38100" dir="2700000" algn="tl" rotWithShape="0">
                  <a:prstClr val="black">
                    <a:alpha val="40000"/>
                  </a:prstClr>
                </a:outerShdw>
              </a:effectLst>
            </p:spPr>
          </p:pic>
          <p:sp>
            <p:nvSpPr>
              <p:cNvPr id="11" name="TextBox 10"/>
              <p:cNvSpPr txBox="1"/>
              <p:nvPr/>
            </p:nvSpPr>
            <p:spPr bwMode="auto">
              <a:xfrm>
                <a:off x="7368602" y="5193919"/>
                <a:ext cx="4412581" cy="169277"/>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grpSp>
        <p:grpSp>
          <p:nvGrpSpPr>
            <p:cNvPr id="4" name="Group 3"/>
            <p:cNvGrpSpPr/>
            <p:nvPr/>
          </p:nvGrpSpPr>
          <p:grpSpPr bwMode="auto">
            <a:xfrm>
              <a:off x="5532106" y="3609474"/>
              <a:ext cx="4520865" cy="1099583"/>
              <a:chOff x="5532106" y="3609474"/>
              <a:chExt cx="4520865" cy="1099583"/>
            </a:xfrm>
          </p:grpSpPr>
          <p:sp>
            <p:nvSpPr>
              <p:cNvPr id="2"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9"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3" name="TextBox 12"/>
              <p:cNvSpPr txBox="1"/>
              <p:nvPr/>
            </p:nvSpPr>
            <p:spPr bwMode="auto">
              <a:xfrm>
                <a:off x="5640390" y="4281570"/>
                <a:ext cx="4412581" cy="169277"/>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5" name="Graphic 4"/>
              <p:cNvPicPr>
                <a:picLocks noChangeAspect="1"/>
              </p:cNvPicPr>
              <p:nvPr/>
            </p:nvPicPr>
            <p:blipFill rotWithShape="1">
              <a:blip r:embed="rId5"/>
              <a:stretch/>
            </p:blipFill>
            <p:spPr bwMode="auto">
              <a:xfrm>
                <a:off x="5770034" y="3609474"/>
                <a:ext cx="1099583" cy="1099583"/>
              </a:xfrm>
              <a:prstGeom prst="rect">
                <a:avLst/>
              </a:prstGeom>
            </p:spPr>
          </p:pic>
        </p:grpSp>
      </p:grpSp>
      <p:sp>
        <p:nvSpPr>
          <p:cNvPr id="1693321180" name="TextBox 11"/>
          <p:cNvSpPr txBox="1"/>
          <p:nvPr/>
        </p:nvSpPr>
        <p:spPr bwMode="auto">
          <a:xfrm>
            <a:off x="2282102" y="4529003"/>
            <a:ext cx="2451798" cy="584775"/>
          </a:xfrm>
          <a:prstGeom prst="rect">
            <a:avLst/>
          </a:prstGeom>
          <a:noFill/>
        </p:spPr>
        <p:txBody>
          <a:bodyPr wrap="square" rtlCol="0">
            <a:spAutoFit/>
          </a:bodyPr>
          <a:lstStyle/>
          <a:p>
            <a:pPr>
              <a:defRPr/>
            </a:pPr>
            <a:r>
              <a:rPr lang="en-GB" sz="3200">
                <a:solidFill>
                  <a:schemeClr val="bg1"/>
                </a:solidFill>
                <a:latin typeface="FuraCode Nerd Font"/>
                <a:ea typeface="FuraCode Nerd Font"/>
              </a:rPr>
              <a:t>UI</a:t>
            </a:r>
            <a:r>
              <a:rPr lang="en-GB" sz="3200">
                <a:solidFill>
                  <a:schemeClr val="tx1">
                    <a:lumMod val="65000"/>
                    <a:lumOff val="35000"/>
                  </a:schemeClr>
                </a:solidFill>
                <a:latin typeface="FuraCode Nerd Font"/>
                <a:ea typeface="FuraCode Nerd Font"/>
              </a:rPr>
              <a:t>.R</a:t>
            </a:r>
            <a:endParaRPr sz="3200">
              <a:solidFill>
                <a:schemeClr val="tx1">
                  <a:lumMod val="65000"/>
                  <a:lumOff val="35000"/>
                </a:schemeClr>
              </a:solidFill>
              <a:latin typeface="FuraCode Nerd Font"/>
              <a:ea typeface="FuraCode Nerd Font"/>
            </a:endParaRPr>
          </a:p>
        </p:txBody>
      </p:sp>
      <p:sp>
        <p:nvSpPr>
          <p:cNvPr id="1006803634" name="TextBox 24"/>
          <p:cNvSpPr txBox="1"/>
          <p:nvPr/>
        </p:nvSpPr>
        <p:spPr bwMode="auto">
          <a:xfrm>
            <a:off x="7857992" y="4529003"/>
            <a:ext cx="2451798" cy="584775"/>
          </a:xfrm>
          <a:prstGeom prst="rect">
            <a:avLst/>
          </a:prstGeom>
          <a:noFill/>
        </p:spPr>
        <p:txBody>
          <a:bodyPr wrap="square" rtlCol="0">
            <a:spAutoFit/>
          </a:bodyPr>
          <a:lstStyle/>
          <a:p>
            <a:pPr>
              <a:defRPr/>
            </a:pPr>
            <a:r>
              <a:rPr lang="en-GB" sz="3200">
                <a:solidFill>
                  <a:schemeClr val="bg1"/>
                </a:solidFill>
                <a:latin typeface="FuraCode Nerd Font"/>
                <a:ea typeface="FuraCode Nerd Font"/>
              </a:rPr>
              <a:t>Server</a:t>
            </a:r>
            <a:r>
              <a:rPr lang="en-GB" sz="3200">
                <a:solidFill>
                  <a:schemeClr val="tx1">
                    <a:lumMod val="65000"/>
                    <a:lumOff val="35000"/>
                  </a:schemeClr>
                </a:solidFill>
                <a:latin typeface="FuraCode Nerd Font"/>
                <a:ea typeface="FuraCode Nerd Font"/>
              </a:rPr>
              <a:t>.R</a:t>
            </a:r>
            <a:endParaRPr sz="3200">
              <a:solidFill>
                <a:schemeClr val="tx1">
                  <a:lumMod val="65000"/>
                  <a:lumOff val="35000"/>
                </a:schemeClr>
              </a:solidFill>
              <a:latin typeface="FuraCode Nerd Font"/>
              <a:ea typeface="FuraCode Nerd Font"/>
            </a:endParaRPr>
          </a:p>
        </p:txBody>
      </p:sp>
      <p:sp>
        <p:nvSpPr>
          <p:cNvPr id="292628270" name="Footer Placeholder 9"/>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75299055" name="Title 5"/>
          <p:cNvSpPr>
            <a:spLocks noGrp="1"/>
          </p:cNvSpPr>
          <p:nvPr>
            <p:ph type="title"/>
          </p:nvPr>
        </p:nvSpPr>
        <p:spPr bwMode="auto"/>
        <p:txBody>
          <a:bodyPr/>
          <a:lstStyle/>
          <a:p>
            <a:pPr>
              <a:defRPr/>
            </a:pPr>
            <a:r>
              <a:rPr lang="en-GB" sz="2000"/>
              <a:t>What is shiny?</a:t>
            </a:r>
            <a:br>
              <a:rPr lang="en-GB"/>
            </a:br>
            <a:r>
              <a:rPr lang="en-US"/>
              <a:t>R CODE</a:t>
            </a:r>
            <a:endParaRPr/>
          </a:p>
        </p:txBody>
      </p:sp>
      <p:sp>
        <p:nvSpPr>
          <p:cNvPr id="1417122120" name="Content Placeholder 6"/>
          <p:cNvSpPr>
            <a:spLocks noGrp="1"/>
          </p:cNvSpPr>
          <p:nvPr>
            <p:ph sz="half" idx="1"/>
          </p:nvPr>
        </p:nvSpPr>
        <p:spPr bwMode="auto">
          <a:xfrm>
            <a:off x="1316912" y="1825625"/>
            <a:ext cx="10515600" cy="4351338"/>
          </a:xfrm>
        </p:spPr>
        <p:txBody>
          <a:bodyPr/>
          <a:lstStyle/>
          <a:p>
            <a:pPr marL="0" indent="0">
              <a:buNone/>
              <a:defRPr/>
            </a:pPr>
            <a:endParaRPr lang="en-GB"/>
          </a:p>
          <a:p>
            <a:pPr marL="0" indent="0">
              <a:buNone/>
              <a:defRPr/>
            </a:pPr>
            <a:endParaRPr lang="en-GB" b="1"/>
          </a:p>
        </p:txBody>
      </p:sp>
      <p:grpSp>
        <p:nvGrpSpPr>
          <p:cNvPr id="231233155" name="Group 7"/>
          <p:cNvGrpSpPr/>
          <p:nvPr/>
        </p:nvGrpSpPr>
        <p:grpSpPr bwMode="auto">
          <a:xfrm>
            <a:off x="1405886" y="2028708"/>
            <a:ext cx="10375297" cy="2347896"/>
            <a:chOff x="1405886" y="3015300"/>
            <a:chExt cx="10375297" cy="2347896"/>
          </a:xfrm>
        </p:grpSpPr>
        <p:pic>
          <p:nvPicPr>
            <p:cNvPr id="2052" name="Picture 4"/>
            <p:cNvPicPr>
              <a:picLocks noChangeAspect="1" noChangeArrowheads="1"/>
            </p:cNvPicPr>
            <p:nvPr/>
          </p:nvPicPr>
          <p:blipFill rotWithShape="1">
            <a:blip r:embed="rId3"/>
            <a:stretch/>
          </p:blipFill>
          <p:spPr bwMode="auto">
            <a:xfrm>
              <a:off x="1405886" y="3105219"/>
              <a:ext cx="3784679" cy="1998783"/>
            </a:xfrm>
            <a:prstGeom prst="rect">
              <a:avLst/>
            </a:prstGeom>
            <a:noFill/>
            <a:effectLst>
              <a:outerShdw blurRad="50800" dist="38100" dir="2700000" algn="tl" rotWithShape="0">
                <a:prstClr val="black">
                  <a:alpha val="40000"/>
                </a:prstClr>
              </a:outerShdw>
            </a:effectLst>
          </p:spPr>
        </p:pic>
        <p:grpSp>
          <p:nvGrpSpPr>
            <p:cNvPr id="3" name="Group 2"/>
            <p:cNvGrpSpPr/>
            <p:nvPr/>
          </p:nvGrpSpPr>
          <p:grpSpPr bwMode="auto">
            <a:xfrm>
              <a:off x="7368602" y="3015300"/>
              <a:ext cx="4412581" cy="2347896"/>
              <a:chOff x="7368602" y="3015300"/>
              <a:chExt cx="4412581" cy="2347896"/>
            </a:xfrm>
          </p:grpSpPr>
          <p:pic>
            <p:nvPicPr>
              <p:cNvPr id="2054" name="Picture 6"/>
              <p:cNvPicPr>
                <a:picLocks noChangeAspect="1" noChangeArrowheads="1"/>
              </p:cNvPicPr>
              <p:nvPr/>
            </p:nvPicPr>
            <p:blipFill rotWithShape="1">
              <a:blip r:embed="rId4"/>
              <a:stretch/>
            </p:blipFill>
            <p:spPr bwMode="auto">
              <a:xfrm>
                <a:off x="7448905" y="3015300"/>
                <a:ext cx="3269973" cy="2178619"/>
              </a:xfrm>
              <a:prstGeom prst="rect">
                <a:avLst/>
              </a:prstGeom>
              <a:noFill/>
              <a:effectLst>
                <a:outerShdw blurRad="50800" dist="38100" dir="2700000" algn="tl" rotWithShape="0">
                  <a:prstClr val="black">
                    <a:alpha val="40000"/>
                  </a:prstClr>
                </a:outerShdw>
              </a:effectLst>
            </p:spPr>
          </p:pic>
          <p:sp>
            <p:nvSpPr>
              <p:cNvPr id="11" name="TextBox 10"/>
              <p:cNvSpPr txBox="1"/>
              <p:nvPr/>
            </p:nvSpPr>
            <p:spPr bwMode="auto">
              <a:xfrm>
                <a:off x="7368602" y="5193919"/>
                <a:ext cx="4412581" cy="169277"/>
              </a:xfrm>
              <a:prstGeom prst="rect">
                <a:avLst/>
              </a:prstGeom>
              <a:noFill/>
            </p:spPr>
            <p:txBody>
              <a:bodyPr wrap="square">
                <a:spAutoFit/>
              </a:bodyPr>
              <a:lstStyle/>
              <a:p>
                <a:pPr>
                  <a:defRPr/>
                </a:pPr>
                <a:r>
                  <a:rPr lang="nl-NL" sz="500">
                    <a:solidFill>
                      <a:schemeClr val="tx1">
                        <a:lumMod val="65000"/>
                        <a:lumOff val="35000"/>
                      </a:schemeClr>
                    </a:solidFill>
                  </a:rPr>
                  <a:t>https://commons.wikimedia.org/wiki/File:Wikimedia_Foundation_Servers-8055_17.jpg</a:t>
                </a:r>
                <a:endParaRPr sz="500">
                  <a:solidFill>
                    <a:schemeClr val="tx1">
                      <a:lumMod val="65000"/>
                      <a:lumOff val="35000"/>
                    </a:schemeClr>
                  </a:solidFill>
                </a:endParaRPr>
              </a:p>
            </p:txBody>
          </p:sp>
        </p:grpSp>
        <p:grpSp>
          <p:nvGrpSpPr>
            <p:cNvPr id="4" name="Group 3"/>
            <p:cNvGrpSpPr/>
            <p:nvPr/>
          </p:nvGrpSpPr>
          <p:grpSpPr bwMode="auto">
            <a:xfrm>
              <a:off x="5532106" y="3609474"/>
              <a:ext cx="4520865" cy="1099583"/>
              <a:chOff x="5532106" y="3609474"/>
              <a:chExt cx="4520865" cy="1099583"/>
            </a:xfrm>
          </p:grpSpPr>
          <p:sp>
            <p:nvSpPr>
              <p:cNvPr id="2" name="Arrow: Right 1"/>
              <p:cNvSpPr/>
              <p:nvPr/>
            </p:nvSpPr>
            <p:spPr bwMode="auto">
              <a:xfrm>
                <a:off x="5735764" y="3783931"/>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9" name="Arrow: Right 8"/>
              <p:cNvSpPr/>
              <p:nvPr/>
            </p:nvSpPr>
            <p:spPr bwMode="auto">
              <a:xfrm rot="10800000">
                <a:off x="5532106" y="4051215"/>
                <a:ext cx="1371600" cy="264695"/>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a:p>
            </p:txBody>
          </p:sp>
          <p:sp>
            <p:nvSpPr>
              <p:cNvPr id="13" name="TextBox 12"/>
              <p:cNvSpPr txBox="1"/>
              <p:nvPr/>
            </p:nvSpPr>
            <p:spPr bwMode="auto">
              <a:xfrm>
                <a:off x="5640390" y="4281570"/>
                <a:ext cx="4412581" cy="169277"/>
              </a:xfrm>
              <a:prstGeom prst="rect">
                <a:avLst/>
              </a:prstGeom>
              <a:noFill/>
            </p:spPr>
            <p:txBody>
              <a:bodyPr wrap="square">
                <a:spAutoFit/>
              </a:bodyPr>
              <a:lstStyle/>
              <a:p>
                <a:pPr>
                  <a:defRPr/>
                </a:pPr>
                <a:r>
                  <a:rPr lang="nl-NL" sz="500">
                    <a:solidFill>
                      <a:schemeClr val="tx1">
                        <a:lumMod val="65000"/>
                        <a:lumOff val="35000"/>
                      </a:schemeClr>
                    </a:solidFill>
                  </a:rPr>
                  <a:t>http://www.mojimade.com/cloud-caf-stickers</a:t>
                </a:r>
                <a:endParaRPr sz="500">
                  <a:solidFill>
                    <a:schemeClr val="tx1">
                      <a:lumMod val="65000"/>
                      <a:lumOff val="35000"/>
                    </a:schemeClr>
                  </a:solidFill>
                </a:endParaRPr>
              </a:p>
            </p:txBody>
          </p:sp>
          <p:pic>
            <p:nvPicPr>
              <p:cNvPr id="5" name="Graphic 4"/>
              <p:cNvPicPr>
                <a:picLocks noChangeAspect="1"/>
              </p:cNvPicPr>
              <p:nvPr/>
            </p:nvPicPr>
            <p:blipFill rotWithShape="1">
              <a:blip r:embed="rId5"/>
              <a:stretch/>
            </p:blipFill>
            <p:spPr bwMode="auto">
              <a:xfrm>
                <a:off x="5770034" y="3609474"/>
                <a:ext cx="1099583" cy="1099583"/>
              </a:xfrm>
              <a:prstGeom prst="rect">
                <a:avLst/>
              </a:prstGeom>
            </p:spPr>
          </p:pic>
        </p:grpSp>
      </p:grpSp>
      <p:sp>
        <p:nvSpPr>
          <p:cNvPr id="1715939337" name="TextBox 11"/>
          <p:cNvSpPr txBox="1"/>
          <p:nvPr/>
        </p:nvSpPr>
        <p:spPr bwMode="auto">
          <a:xfrm>
            <a:off x="2282102" y="4529003"/>
            <a:ext cx="2451798" cy="584775"/>
          </a:xfrm>
          <a:prstGeom prst="rect">
            <a:avLst/>
          </a:prstGeom>
          <a:noFill/>
        </p:spPr>
        <p:txBody>
          <a:bodyPr wrap="square" rtlCol="0">
            <a:spAutoFit/>
          </a:bodyPr>
          <a:lstStyle/>
          <a:p>
            <a:pPr>
              <a:defRPr/>
            </a:pPr>
            <a:r>
              <a:rPr lang="en-GB" sz="3200">
                <a:solidFill>
                  <a:schemeClr val="bg1"/>
                </a:solidFill>
                <a:latin typeface="FuraCode Nerd Font"/>
                <a:ea typeface="FuraCode Nerd Font"/>
              </a:rPr>
              <a:t>ui</a:t>
            </a:r>
            <a:endParaRPr sz="3200">
              <a:solidFill>
                <a:schemeClr val="tx1">
                  <a:lumMod val="65000"/>
                  <a:lumOff val="35000"/>
                </a:schemeClr>
              </a:solidFill>
              <a:latin typeface="FuraCode Nerd Font"/>
              <a:ea typeface="FuraCode Nerd Font"/>
            </a:endParaRPr>
          </a:p>
        </p:txBody>
      </p:sp>
      <p:sp>
        <p:nvSpPr>
          <p:cNvPr id="136697045" name="TextBox 24"/>
          <p:cNvSpPr txBox="1"/>
          <p:nvPr/>
        </p:nvSpPr>
        <p:spPr bwMode="auto">
          <a:xfrm>
            <a:off x="7857992" y="4529003"/>
            <a:ext cx="2451798" cy="584775"/>
          </a:xfrm>
          <a:prstGeom prst="rect">
            <a:avLst/>
          </a:prstGeom>
          <a:noFill/>
        </p:spPr>
        <p:txBody>
          <a:bodyPr wrap="square" rtlCol="0">
            <a:spAutoFit/>
          </a:bodyPr>
          <a:lstStyle/>
          <a:p>
            <a:pPr>
              <a:defRPr/>
            </a:pPr>
            <a:r>
              <a:rPr lang="en-GB" sz="3200">
                <a:solidFill>
                  <a:schemeClr val="bg1"/>
                </a:solidFill>
                <a:latin typeface="FuraCode Nerd Font"/>
                <a:ea typeface="FuraCode Nerd Font"/>
              </a:rPr>
              <a:t>server()</a:t>
            </a:r>
            <a:endParaRPr sz="3200">
              <a:solidFill>
                <a:schemeClr val="tx1">
                  <a:lumMod val="65000"/>
                  <a:lumOff val="35000"/>
                </a:schemeClr>
              </a:solidFill>
              <a:latin typeface="FuraCode Nerd Font"/>
              <a:ea typeface="FuraCode Nerd Font"/>
            </a:endParaRPr>
          </a:p>
        </p:txBody>
      </p:sp>
      <p:sp>
        <p:nvSpPr>
          <p:cNvPr id="1203153535" name="TextBox 9"/>
          <p:cNvSpPr txBox="1"/>
          <p:nvPr/>
        </p:nvSpPr>
        <p:spPr bwMode="auto">
          <a:xfrm>
            <a:off x="5735764" y="5316309"/>
            <a:ext cx="2451798" cy="584775"/>
          </a:xfrm>
          <a:prstGeom prst="rect">
            <a:avLst/>
          </a:prstGeom>
          <a:noFill/>
        </p:spPr>
        <p:txBody>
          <a:bodyPr wrap="square" rtlCol="0">
            <a:spAutoFit/>
          </a:bodyPr>
          <a:lstStyle/>
          <a:p>
            <a:pPr>
              <a:defRPr/>
            </a:pPr>
            <a:r>
              <a:rPr lang="en-GB" sz="3200">
                <a:solidFill>
                  <a:schemeClr val="bg1"/>
                </a:solidFill>
                <a:latin typeface="FuraCode Nerd Font"/>
                <a:ea typeface="FuraCode Nerd Font"/>
              </a:rPr>
              <a:t>app.R</a:t>
            </a:r>
            <a:endParaRPr sz="3200">
              <a:solidFill>
                <a:schemeClr val="tx1">
                  <a:lumMod val="65000"/>
                  <a:lumOff val="35000"/>
                </a:schemeClr>
              </a:solidFill>
              <a:latin typeface="FuraCode Nerd Font"/>
              <a:ea typeface="FuraCode Nerd Font"/>
            </a:endParaRPr>
          </a:p>
        </p:txBody>
      </p:sp>
      <p:sp>
        <p:nvSpPr>
          <p:cNvPr id="953710849" name="Left Brace 13"/>
          <p:cNvSpPr/>
          <p:nvPr/>
        </p:nvSpPr>
        <p:spPr bwMode="auto">
          <a:xfrm rot="16199998">
            <a:off x="5427407" y="2184335"/>
            <a:ext cx="404787" cy="6126191"/>
          </a:xfrm>
          <a:prstGeom prst="leftBrace">
            <a:avLst>
              <a:gd name="adj1" fmla="val 8333"/>
              <a:gd name="adj2" fmla="val 60846"/>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defRPr/>
            </a:pPr>
            <a:endParaRPr/>
          </a:p>
        </p:txBody>
      </p:sp>
      <p:sp>
        <p:nvSpPr>
          <p:cNvPr id="1691145490" name="Footer Placeholder 2"/>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37954117" name="Title 1"/>
          <p:cNvSpPr>
            <a:spLocks noGrp="1"/>
          </p:cNvSpPr>
          <p:nvPr>
            <p:ph type="title"/>
          </p:nvPr>
        </p:nvSpPr>
        <p:spPr bwMode="auto"/>
        <p:txBody>
          <a:bodyPr/>
          <a:lstStyle/>
          <a:p>
            <a:pPr>
              <a:defRPr/>
            </a:pPr>
            <a:r>
              <a:rPr lang="en-GB" sz="2000"/>
              <a:t>What is Shiny?</a:t>
            </a:r>
            <a:br>
              <a:rPr lang="en-GB" sz="2000"/>
            </a:br>
            <a:r>
              <a:rPr lang="en-GB"/>
              <a:t>User Interface &amp; server</a:t>
            </a:r>
            <a:endParaRPr/>
          </a:p>
        </p:txBody>
      </p:sp>
      <p:sp>
        <p:nvSpPr>
          <p:cNvPr id="2048508729" name="Content Placeholder 2"/>
          <p:cNvSpPr>
            <a:spLocks noGrp="1"/>
          </p:cNvSpPr>
          <p:nvPr>
            <p:ph sz="half" idx="1"/>
          </p:nvPr>
        </p:nvSpPr>
        <p:spPr bwMode="auto"/>
        <p:txBody>
          <a:bodyPr/>
          <a:lstStyle/>
          <a:p>
            <a:pPr>
              <a:defRPr/>
            </a:pPr>
            <a:r>
              <a:rPr lang="en-GB">
                <a:latin typeface="FuraCode Nerd Font"/>
                <a:ea typeface="FuraCode Nerd Font"/>
              </a:rPr>
              <a:t>UI</a:t>
            </a:r>
            <a:r>
              <a:rPr lang="en-GB">
                <a:solidFill>
                  <a:schemeClr val="tx1">
                    <a:lumMod val="75000"/>
                    <a:lumOff val="25000"/>
                  </a:schemeClr>
                </a:solidFill>
                <a:latin typeface="FuraCode Nerd Font"/>
                <a:ea typeface="FuraCode Nerd Font"/>
              </a:rPr>
              <a:t>.R</a:t>
            </a:r>
            <a:endParaRPr/>
          </a:p>
          <a:p>
            <a:pPr lvl="1">
              <a:defRPr/>
            </a:pPr>
            <a:r>
              <a:rPr lang="en-GB">
                <a:ea typeface="FuraCode Nerd Font"/>
              </a:rPr>
              <a:t>Layout</a:t>
            </a:r>
            <a:endParaRPr/>
          </a:p>
          <a:p>
            <a:pPr lvl="1">
              <a:defRPr/>
            </a:pPr>
            <a:r>
              <a:rPr lang="en-US"/>
              <a:t>Collect </a:t>
            </a:r>
            <a:r>
              <a:rPr lang="en-US">
                <a:solidFill>
                  <a:schemeClr val="accent1"/>
                </a:solidFill>
              </a:rPr>
              <a:t>i</a:t>
            </a:r>
            <a:r>
              <a:rPr lang="en-GB">
                <a:solidFill>
                  <a:schemeClr val="accent1"/>
                </a:solidFill>
              </a:rPr>
              <a:t>nputs</a:t>
            </a:r>
            <a:endParaRPr/>
          </a:p>
          <a:p>
            <a:pPr lvl="2">
              <a:defRPr/>
            </a:pPr>
            <a:r>
              <a:rPr lang="en-GB"/>
              <a:t>Text fields, buttons, </a:t>
            </a:r>
            <a:r>
              <a:rPr lang="en-GB" sz="2000" b="0" i="0" u="none" strike="noStrike" cap="none" spc="0">
                <a:solidFill>
                  <a:schemeClr val="bg1"/>
                </a:solidFill>
                <a:latin typeface="+mn-lt"/>
                <a:ea typeface="+mn-ea"/>
                <a:cs typeface="+mn-cs"/>
              </a:rPr>
              <a:t>uploads</a:t>
            </a:r>
            <a:r>
              <a:rPr lang="en-US"/>
              <a:t>, </a:t>
            </a:r>
            <a:r>
              <a:rPr lang="en-GB"/>
              <a:t>etc.</a:t>
            </a:r>
            <a:endParaRPr/>
          </a:p>
          <a:p>
            <a:pPr lvl="2">
              <a:defRPr/>
            </a:pPr>
            <a:r>
              <a:rPr lang="en-GB"/>
              <a:t>Mouse clicks, drags, etc.</a:t>
            </a:r>
            <a:endParaRPr/>
          </a:p>
          <a:p>
            <a:pPr lvl="2">
              <a:defRPr/>
            </a:pPr>
            <a:endParaRPr lang="en-GB"/>
          </a:p>
          <a:p>
            <a:pPr lvl="1">
              <a:defRPr/>
            </a:pPr>
            <a:r>
              <a:rPr lang="en-US"/>
              <a:t>Present </a:t>
            </a:r>
            <a:r>
              <a:rPr lang="en-US">
                <a:solidFill>
                  <a:schemeClr val="accent1"/>
                </a:solidFill>
              </a:rPr>
              <a:t>o</a:t>
            </a:r>
            <a:r>
              <a:rPr lang="en-GB">
                <a:solidFill>
                  <a:schemeClr val="accent1"/>
                </a:solidFill>
              </a:rPr>
              <a:t>utputs</a:t>
            </a:r>
            <a:endParaRPr/>
          </a:p>
          <a:p>
            <a:pPr lvl="2">
              <a:defRPr/>
            </a:pPr>
            <a:r>
              <a:rPr lang="en-GB"/>
              <a:t>Text</a:t>
            </a:r>
            <a:r>
              <a:rPr lang="en-US"/>
              <a:t>, </a:t>
            </a:r>
            <a:r>
              <a:rPr lang="en-US"/>
              <a:t>t</a:t>
            </a:r>
            <a:r>
              <a:rPr lang="en-GB"/>
              <a:t>ables, figures, media, etc.</a:t>
            </a:r>
            <a:endParaRPr/>
          </a:p>
          <a:p>
            <a:pPr lvl="2">
              <a:defRPr/>
            </a:pPr>
            <a:r>
              <a:rPr lang="en-GB"/>
              <a:t>File downloads</a:t>
            </a:r>
            <a:endParaRPr lang="en-GB"/>
          </a:p>
          <a:p>
            <a:pPr lvl="2">
              <a:defRPr/>
            </a:pPr>
            <a:r>
              <a:rPr lang="en-US"/>
              <a:t>Dynamic UI/layout</a:t>
            </a:r>
            <a:endParaRPr/>
          </a:p>
        </p:txBody>
      </p:sp>
      <p:sp>
        <p:nvSpPr>
          <p:cNvPr id="818559347" name="Content Placeholder 3"/>
          <p:cNvSpPr>
            <a:spLocks noGrp="1"/>
          </p:cNvSpPr>
          <p:nvPr>
            <p:ph sz="half" idx="2"/>
          </p:nvPr>
        </p:nvSpPr>
        <p:spPr bwMode="auto"/>
        <p:txBody>
          <a:bodyPr vertOverflow="overflow" horzOverflow="overflow" vert="horz" wrap="square" lIns="91440" tIns="45720" rIns="91440" bIns="45720" numCol="1" spcCol="0" rtlCol="0" fromWordArt="0" anchor="t" anchorCtr="0" forceAA="0" upright="0" compatLnSpc="0"/>
          <a:lstStyle/>
          <a:p>
            <a:pPr>
              <a:defRPr/>
            </a:pPr>
            <a:r>
              <a:rPr lang="en-US" sz="2800" b="0" i="0" u="none" strike="noStrike" cap="none" spc="0">
                <a:solidFill>
                  <a:schemeClr val="bg1"/>
                </a:solidFill>
                <a:latin typeface="FuraCode Nerd Font"/>
                <a:ea typeface="FuraCode Nerd Font"/>
                <a:cs typeface="FuraCode Nerd Font"/>
              </a:rPr>
              <a:t>Server</a:t>
            </a:r>
            <a:r>
              <a:rPr lang="en-GB" sz="2800" b="0" i="0" u="none" strike="noStrike" cap="none" spc="0">
                <a:solidFill>
                  <a:srgbClr val="404040"/>
                </a:solidFill>
                <a:latin typeface="FuraCode Nerd Font"/>
                <a:ea typeface="FuraCode Nerd Font"/>
                <a:cs typeface="FuraCode Nerd Font"/>
              </a:rPr>
              <a:t>.R</a:t>
            </a:r>
            <a:endParaRPr/>
          </a:p>
          <a:p>
            <a:pPr lvl="1">
              <a:defRPr/>
            </a:pPr>
            <a:r>
              <a:rPr lang="en-GB"/>
              <a:t>Handle data, logic, and state</a:t>
            </a:r>
            <a:endParaRPr/>
          </a:p>
          <a:p>
            <a:pPr lvl="1">
              <a:defRPr/>
            </a:pPr>
            <a:r>
              <a:rPr lang="en-GB">
                <a:solidFill>
                  <a:schemeClr val="accent1"/>
                </a:solidFill>
              </a:rPr>
              <a:t>React</a:t>
            </a:r>
            <a:r>
              <a:rPr lang="en-GB" b="1"/>
              <a:t> </a:t>
            </a:r>
            <a:r>
              <a:rPr lang="en-GB"/>
              <a:t>to changes</a:t>
            </a:r>
            <a:endParaRPr/>
          </a:p>
          <a:p>
            <a:pPr lvl="2">
              <a:defRPr/>
            </a:pPr>
            <a:r>
              <a:rPr lang="en-GB" b="0"/>
              <a:t>Observe </a:t>
            </a:r>
            <a:r>
              <a:rPr lang="en-GB"/>
              <a:t>inputs</a:t>
            </a:r>
            <a:endParaRPr lang="en-GB" b="1"/>
          </a:p>
          <a:p>
            <a:pPr lvl="2">
              <a:defRPr/>
            </a:pPr>
            <a:r>
              <a:rPr lang="en-GB"/>
              <a:t>Update outputs</a:t>
            </a:r>
            <a:endParaRPr/>
          </a:p>
          <a:p>
            <a:pPr lvl="2">
              <a:defRPr/>
            </a:pPr>
            <a:r>
              <a:rPr lang="en-GB"/>
              <a:t>Trigger side effects</a:t>
            </a:r>
            <a:endParaRPr/>
          </a:p>
          <a:p>
            <a:pPr lvl="2">
              <a:defRPr/>
            </a:pPr>
            <a:endParaRPr lang="en-GB"/>
          </a:p>
          <a:p>
            <a:pPr lvl="1">
              <a:defRPr/>
            </a:pPr>
            <a:r>
              <a:rPr lang="en-GB"/>
              <a:t>Maintain </a:t>
            </a:r>
            <a:r>
              <a:rPr lang="en-GB">
                <a:solidFill>
                  <a:schemeClr val="accent1"/>
                </a:solidFill>
              </a:rPr>
              <a:t>state</a:t>
            </a:r>
            <a:endParaRPr/>
          </a:p>
          <a:p>
            <a:pPr lvl="2">
              <a:defRPr/>
            </a:pPr>
            <a:r>
              <a:rPr lang="en-GB"/>
              <a:t>Data, inputs, outputs</a:t>
            </a:r>
            <a:endParaRPr/>
          </a:p>
          <a:p>
            <a:pPr lvl="2">
              <a:defRPr/>
            </a:pPr>
            <a:r>
              <a:rPr lang="en-GB"/>
              <a:t>Dynamic/intermediate data</a:t>
            </a:r>
            <a:endParaRPr/>
          </a:p>
        </p:txBody>
      </p:sp>
      <p:sp>
        <p:nvSpPr>
          <p:cNvPr id="346073169" name="Footer Placeholder 5"/>
          <p:cNvSpPr>
            <a:spLocks noGrp="1"/>
          </p:cNvSpPr>
          <p:nvPr>
            <p:ph type="ftr" sz="quarter" idx="11"/>
          </p:nvPr>
        </p:nvSpPr>
        <p:spPr bwMode="auto"/>
        <p:txBody>
          <a:bodyPr/>
          <a:lstStyle/>
          <a:p>
            <a:pPr>
              <a:defRPr/>
            </a:pPr>
            <a:r>
              <a:rPr/>
              <a:t>2026-10-12, Karel Kroeze, BDSi. Shiny Workshop.</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12923243" name="Title 1"/>
          <p:cNvSpPr>
            <a:spLocks noGrp="1"/>
          </p:cNvSpPr>
          <p:nvPr>
            <p:ph type="title"/>
          </p:nvPr>
        </p:nvSpPr>
        <p:spPr bwMode="auto"/>
        <p:txBody>
          <a:bodyPr/>
          <a:lstStyle/>
          <a:p>
            <a:pPr>
              <a:defRPr/>
            </a:pPr>
            <a:r>
              <a:rPr lang="en-GB" sz="2000"/>
              <a:t>Hello, world!</a:t>
            </a:r>
            <a:br>
              <a:rPr lang="en-GB"/>
            </a:br>
            <a:r>
              <a:rPr lang="en-GB"/>
              <a:t>MY first shiny app</a:t>
            </a:r>
            <a:endParaRPr lang="nl-NL"/>
          </a:p>
        </p:txBody>
      </p:sp>
      <p:sp>
        <p:nvSpPr>
          <p:cNvPr id="577829161" name="Content Placeholder 2"/>
          <p:cNvSpPr>
            <a:spLocks noGrp="1"/>
          </p:cNvSpPr>
          <p:nvPr>
            <p:ph sz="half" idx="1"/>
          </p:nvPr>
        </p:nvSpPr>
        <p:spPr bwMode="auto">
          <a:xfrm>
            <a:off x="1265581" y="1825624"/>
            <a:ext cx="10515600" cy="4395881"/>
          </a:xfrm>
        </p:spPr>
        <p:txBody>
          <a:bodyPr/>
          <a:lstStyle/>
          <a:p>
            <a:pPr>
              <a:defRPr/>
            </a:pPr>
            <a:r>
              <a:rPr lang="en-GB"/>
              <a:t>Create a </a:t>
            </a:r>
            <a:r>
              <a:rPr lang="en-GB">
                <a:solidFill>
                  <a:schemeClr val="accent1"/>
                </a:solidFill>
              </a:rPr>
              <a:t>Shiny App</a:t>
            </a:r>
            <a:endParaRPr/>
          </a:p>
          <a:p>
            <a:pPr lvl="1">
              <a:defRPr/>
            </a:pPr>
            <a:r>
              <a:rPr lang="en-GB" sz="1600"/>
              <a:t>File -&gt; new file -&gt; Shiny Web App</a:t>
            </a:r>
            <a:endParaRPr lang="en-GB"/>
          </a:p>
          <a:p>
            <a:pPr lvl="1">
              <a:defRPr/>
            </a:pPr>
            <a:r>
              <a:rPr lang="en-GB" sz="1600"/>
              <a:t>Choose a </a:t>
            </a:r>
            <a:r>
              <a:rPr lang="en-GB" sz="1600">
                <a:solidFill>
                  <a:schemeClr val="accent1"/>
                </a:solidFill>
              </a:rPr>
              <a:t>Single File</a:t>
            </a:r>
            <a:r>
              <a:rPr lang="en-GB" sz="1600"/>
              <a:t> app</a:t>
            </a:r>
            <a:endParaRPr/>
          </a:p>
          <a:p>
            <a:pPr lvl="1">
              <a:defRPr/>
            </a:pPr>
            <a:r>
              <a:rPr lang="en-GB" sz="1600"/>
              <a:t>Open </a:t>
            </a:r>
            <a:r>
              <a:rPr lang="en-GB" sz="1600">
                <a:solidFill>
                  <a:schemeClr val="accent1"/>
                </a:solidFill>
              </a:rPr>
              <a:t>app.R</a:t>
            </a:r>
            <a:r>
              <a:rPr lang="en-GB" sz="1600">
                <a:solidFill>
                  <a:schemeClr val="accent1"/>
                </a:solidFill>
              </a:rPr>
              <a:t> </a:t>
            </a:r>
            <a:r>
              <a:rPr lang="en-GB" sz="1600">
                <a:solidFill>
                  <a:schemeClr val="tx1">
                    <a:lumMod val="75000"/>
                    <a:lumOff val="25000"/>
                  </a:schemeClr>
                </a:solidFill>
              </a:rPr>
              <a:t>(if it wasn’t already)</a:t>
            </a:r>
            <a:endParaRPr/>
          </a:p>
          <a:p>
            <a:pPr lvl="1">
              <a:defRPr/>
            </a:pPr>
            <a:endParaRPr lang="en-GB" sz="1600">
              <a:solidFill>
                <a:schemeClr val="accent1"/>
              </a:solidFill>
            </a:endParaRPr>
          </a:p>
          <a:p>
            <a:pPr marL="457200" lvl="1" indent="0">
              <a:buNone/>
              <a:defRPr/>
            </a:pPr>
            <a:endParaRPr lang="en-GB" sz="1600">
              <a:solidFill>
                <a:schemeClr val="accent1"/>
              </a:solidFill>
            </a:endParaRPr>
          </a:p>
        </p:txBody>
      </p:sp>
      <p:sp>
        <p:nvSpPr>
          <p:cNvPr id="480104970" name="Footer Placeholder 4"/>
          <p:cNvSpPr>
            <a:spLocks noGrp="1"/>
          </p:cNvSpPr>
          <p:nvPr>
            <p:ph type="ftr" sz="quarter" idx="11"/>
          </p:nvPr>
        </p:nvSpPr>
        <p:spPr bwMode="auto"/>
        <p:txBody>
          <a:bodyPr/>
          <a:lstStyle/>
          <a:p>
            <a:pPr>
              <a:defRPr/>
            </a:pPr>
            <a:r>
              <a:rPr/>
              <a:t>2026-10-12, Karel Kroeze, BDSi. Shiny Workshop.</a:t>
            </a:r>
            <a:endParaRPr/>
          </a:p>
        </p:txBody>
      </p:sp>
      <p:pic>
        <p:nvPicPr>
          <p:cNvPr id="939964451" name="Picture 6"/>
          <p:cNvPicPr>
            <a:picLocks noChangeAspect="1"/>
          </p:cNvPicPr>
          <p:nvPr/>
        </p:nvPicPr>
        <p:blipFill rotWithShape="1">
          <a:blip r:embed="rId3"/>
          <a:srcRect l="0" t="6714" r="0" b="35211"/>
          <a:stretch/>
        </p:blipFill>
        <p:spPr bwMode="auto">
          <a:xfrm>
            <a:off x="1333405" y="3182316"/>
            <a:ext cx="9593014" cy="140521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0858945" name="Title 1"/>
          <p:cNvSpPr>
            <a:spLocks noGrp="1"/>
          </p:cNvSpPr>
          <p:nvPr>
            <p:ph type="title"/>
          </p:nvPr>
        </p:nvSpPr>
        <p:spPr bwMode="auto"/>
        <p:txBody>
          <a:bodyPr/>
          <a:lstStyle/>
          <a:p>
            <a:pPr>
              <a:defRPr/>
            </a:pPr>
            <a:r>
              <a:rPr lang="en-GB" sz="2000"/>
              <a:t>Hello, world!</a:t>
            </a:r>
            <a:br>
              <a:rPr lang="en-GB"/>
            </a:br>
            <a:r>
              <a:rPr lang="en-GB"/>
              <a:t>MY first shiny app</a:t>
            </a:r>
            <a:endParaRPr lang="nl-NL"/>
          </a:p>
        </p:txBody>
      </p:sp>
      <p:sp>
        <p:nvSpPr>
          <p:cNvPr id="1325882329" name="Content Placeholder 2"/>
          <p:cNvSpPr>
            <a:spLocks noGrp="1"/>
          </p:cNvSpPr>
          <p:nvPr>
            <p:ph sz="half" idx="1"/>
          </p:nvPr>
        </p:nvSpPr>
        <p:spPr bwMode="auto">
          <a:xfrm>
            <a:off x="1265581" y="1825624"/>
            <a:ext cx="10515600" cy="4395881"/>
          </a:xfrm>
        </p:spPr>
        <p:txBody>
          <a:bodyPr/>
          <a:lstStyle/>
          <a:p>
            <a:pPr>
              <a:defRPr/>
            </a:pPr>
            <a:r>
              <a:rPr lang="en-GB"/>
              <a:t>Change the title</a:t>
            </a:r>
            <a:br>
              <a:rPr lang="en-GB"/>
            </a:br>
            <a:r>
              <a:rPr lang="en-US" sz="1600"/>
              <a:t>Tradition demands we change it to </a:t>
            </a:r>
            <a:r>
              <a:rPr lang="en-GB" sz="1600" i="1"/>
              <a:t>“Hello, World!”</a:t>
            </a:r>
            <a:endParaRPr/>
          </a:p>
          <a:p>
            <a:pPr lvl="1">
              <a:defRPr/>
            </a:pPr>
            <a:endParaRPr/>
          </a:p>
          <a:p>
            <a:pPr marL="457200" lvl="1" indent="0">
              <a:buNone/>
              <a:defRPr/>
            </a:pPr>
            <a:endParaRPr lang="en-GB"/>
          </a:p>
        </p:txBody>
      </p:sp>
      <p:sp>
        <p:nvSpPr>
          <p:cNvPr id="175696765" name="Footer Placeholder 4"/>
          <p:cNvSpPr>
            <a:spLocks noGrp="1"/>
          </p:cNvSpPr>
          <p:nvPr>
            <p:ph type="ftr" sz="quarter" idx="11"/>
          </p:nvPr>
        </p:nvSpPr>
        <p:spPr bwMode="auto"/>
        <p:txBody>
          <a:bodyPr/>
          <a:lstStyle/>
          <a:p>
            <a:pPr>
              <a:defRPr/>
            </a:pPr>
            <a:r>
              <a:rPr/>
              <a:t>2026-10-12, Karel Kroeze, BDSi. Shiny Workshop.</a:t>
            </a:r>
            <a:endParaRPr/>
          </a:p>
        </p:txBody>
      </p:sp>
      <p:pic>
        <p:nvPicPr>
          <p:cNvPr id="218050099" name="Picture 6"/>
          <p:cNvPicPr>
            <a:picLocks noChangeAspect="1"/>
          </p:cNvPicPr>
          <p:nvPr/>
        </p:nvPicPr>
        <p:blipFill rotWithShape="1">
          <a:blip r:embed="rId3"/>
          <a:srcRect l="0" t="0" r="30138" b="0"/>
          <a:stretch/>
        </p:blipFill>
        <p:spPr bwMode="auto">
          <a:xfrm>
            <a:off x="1265581" y="3067504"/>
            <a:ext cx="6848195" cy="168616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46313666" name="Title 1"/>
          <p:cNvSpPr>
            <a:spLocks noGrp="1"/>
          </p:cNvSpPr>
          <p:nvPr>
            <p:ph type="title"/>
          </p:nvPr>
        </p:nvSpPr>
        <p:spPr bwMode="auto"/>
        <p:txBody>
          <a:bodyPr/>
          <a:lstStyle/>
          <a:p>
            <a:pPr>
              <a:defRPr/>
            </a:pPr>
            <a:r>
              <a:rPr lang="en-GB" sz="2000"/>
              <a:t>Hello, world!</a:t>
            </a:r>
            <a:br>
              <a:rPr lang="en-GB"/>
            </a:br>
            <a:r>
              <a:rPr lang="en-GB"/>
              <a:t>MY first shiny app</a:t>
            </a:r>
            <a:endParaRPr lang="nl-NL"/>
          </a:p>
        </p:txBody>
      </p:sp>
      <p:sp>
        <p:nvSpPr>
          <p:cNvPr id="1235760264" name="Content Placeholder 2"/>
          <p:cNvSpPr>
            <a:spLocks noGrp="1"/>
          </p:cNvSpPr>
          <p:nvPr>
            <p:ph sz="half" idx="1"/>
          </p:nvPr>
        </p:nvSpPr>
        <p:spPr bwMode="auto">
          <a:xfrm>
            <a:off x="1265581" y="1825624"/>
            <a:ext cx="10515600" cy="4395881"/>
          </a:xfrm>
        </p:spPr>
        <p:txBody>
          <a:bodyPr/>
          <a:lstStyle/>
          <a:p>
            <a:pPr>
              <a:defRPr/>
            </a:pPr>
            <a:r>
              <a:rPr lang="en-GB"/>
              <a:t>Run your app</a:t>
            </a:r>
            <a:endParaRPr/>
          </a:p>
          <a:p>
            <a:pPr>
              <a:defRPr/>
            </a:pPr>
            <a:endParaRPr lang="en-GB"/>
          </a:p>
          <a:p>
            <a:pPr>
              <a:defRPr/>
            </a:pPr>
            <a:endParaRPr lang="en-GB"/>
          </a:p>
          <a:p>
            <a:pPr>
              <a:defRPr/>
            </a:pPr>
            <a:endParaRPr lang="en-GB"/>
          </a:p>
          <a:p>
            <a:pPr>
              <a:defRPr/>
            </a:pPr>
            <a:r>
              <a:rPr lang="en-GB"/>
              <a:t>Congratulations!</a:t>
            </a:r>
            <a:endParaRPr/>
          </a:p>
          <a:p>
            <a:pPr lvl="1">
              <a:defRPr/>
            </a:pPr>
            <a:r>
              <a:rPr lang="en-GB" sz="1600"/>
              <a:t>You’ve made your first shiny app.</a:t>
            </a:r>
            <a:endParaRPr/>
          </a:p>
          <a:p>
            <a:pPr lvl="1">
              <a:defRPr/>
            </a:pPr>
            <a:endParaRPr lang="en-GB"/>
          </a:p>
        </p:txBody>
      </p:sp>
      <p:sp>
        <p:nvSpPr>
          <p:cNvPr id="349756116" name="Footer Placeholder 4"/>
          <p:cNvSpPr>
            <a:spLocks noGrp="1"/>
          </p:cNvSpPr>
          <p:nvPr>
            <p:ph type="ftr" sz="quarter" idx="11"/>
          </p:nvPr>
        </p:nvSpPr>
        <p:spPr bwMode="auto"/>
        <p:txBody>
          <a:bodyPr/>
          <a:lstStyle/>
          <a:p>
            <a:pPr>
              <a:defRPr/>
            </a:pPr>
            <a:r>
              <a:rPr/>
              <a:t>2026-10-12, Karel Kroeze, BDSi. Shiny Workshop.</a:t>
            </a:r>
            <a:endParaRPr/>
          </a:p>
        </p:txBody>
      </p:sp>
      <p:pic>
        <p:nvPicPr>
          <p:cNvPr id="1092728126" name="Picture 6"/>
          <p:cNvPicPr>
            <a:picLocks noChangeAspect="1"/>
          </p:cNvPicPr>
          <p:nvPr/>
        </p:nvPicPr>
        <p:blipFill rotWithShape="1">
          <a:blip r:embed="rId3"/>
          <a:srcRect l="0" t="0" r="54715" b="0"/>
          <a:stretch/>
        </p:blipFill>
        <p:spPr bwMode="auto">
          <a:xfrm>
            <a:off x="1297027" y="2317345"/>
            <a:ext cx="4512462" cy="1247949"/>
          </a:xfrm>
          <a:prstGeom prst="rect">
            <a:avLst/>
          </a:prstGeom>
        </p:spPr>
      </p:pic>
      <p:pic>
        <p:nvPicPr>
          <p:cNvPr id="1034543253" name="Picture 11"/>
          <p:cNvPicPr>
            <a:picLocks noChangeAspect="1"/>
          </p:cNvPicPr>
          <p:nvPr/>
        </p:nvPicPr>
        <p:blipFill rotWithShape="1">
          <a:blip r:embed="rId3"/>
          <a:srcRect l="79365" t="0" r="0" b="0"/>
          <a:stretch/>
        </p:blipFill>
        <p:spPr bwMode="auto">
          <a:xfrm>
            <a:off x="5809489" y="2317345"/>
            <a:ext cx="2056190" cy="1247949"/>
          </a:xfrm>
          <a:prstGeom prst="rect">
            <a:avLst/>
          </a:prstGeom>
        </p:spPr>
      </p:pic>
      <p:pic>
        <p:nvPicPr>
          <p:cNvPr id="622963882" name="Ink 19"/>
          <p:cNvPicPr/>
          <p:nvPr/>
        </p:nvPicPr>
        <p:blipFill rotWithShape="1">
          <a:blip r:embed="rId4"/>
          <a:stretch/>
        </p:blipFill>
        <p:spPr bwMode="auto">
          <a:xfrm>
            <a:off x="5507136" y="3001560"/>
            <a:ext cx="451439" cy="281160"/>
          </a:xfrm>
          <a:prstGeom prst="rect">
            <a:avLst/>
          </a:prstGeom>
        </p:spPr>
      </p:pic>
      <p:grpSp>
        <p:nvGrpSpPr>
          <p:cNvPr id="1593273107" name="Group 23"/>
          <p:cNvGrpSpPr/>
          <p:nvPr/>
        </p:nvGrpSpPr>
        <p:grpSpPr bwMode="auto">
          <a:xfrm>
            <a:off x="5263776" y="2169960"/>
            <a:ext cx="2203920" cy="1280880"/>
            <a:chOff x="5263776" y="2169960"/>
            <a:chExt cx="2203920" cy="1280880"/>
          </a:xfrm>
        </p:grpSpPr>
        <p:pic>
          <p:nvPicPr>
            <p:cNvPr id="14" name="Ink 13"/>
            <p:cNvPicPr/>
            <p:nvPr/>
          </p:nvPicPr>
          <p:blipFill rotWithShape="1">
            <a:blip r:embed="rId5"/>
            <a:stretch/>
          </p:blipFill>
          <p:spPr bwMode="auto">
            <a:xfrm>
              <a:off x="5903856" y="2194440"/>
              <a:ext cx="240840" cy="363960"/>
            </a:xfrm>
            <a:prstGeom prst="rect">
              <a:avLst/>
            </a:prstGeom>
          </p:spPr>
        </p:pic>
        <p:pic>
          <p:nvPicPr>
            <p:cNvPr id="15" name="Ink 14"/>
            <p:cNvPicPr/>
            <p:nvPr/>
          </p:nvPicPr>
          <p:blipFill rotWithShape="1">
            <a:blip r:embed="rId6"/>
            <a:stretch/>
          </p:blipFill>
          <p:spPr bwMode="auto">
            <a:xfrm>
              <a:off x="6474096" y="2163840"/>
              <a:ext cx="229320" cy="501840"/>
            </a:xfrm>
            <a:prstGeom prst="rect">
              <a:avLst/>
            </a:prstGeom>
          </p:spPr>
        </p:pic>
        <p:pic>
          <p:nvPicPr>
            <p:cNvPr id="16" name="Ink 15"/>
            <p:cNvPicPr/>
            <p:nvPr/>
          </p:nvPicPr>
          <p:blipFill rotWithShape="1">
            <a:blip r:embed="rId7"/>
            <a:stretch/>
          </p:blipFill>
          <p:spPr bwMode="auto">
            <a:xfrm>
              <a:off x="6997176" y="2413680"/>
              <a:ext cx="476640" cy="441000"/>
            </a:xfrm>
            <a:prstGeom prst="rect">
              <a:avLst/>
            </a:prstGeom>
          </p:spPr>
        </p:pic>
        <p:pic>
          <p:nvPicPr>
            <p:cNvPr id="17" name="Ink 16"/>
            <p:cNvPicPr/>
            <p:nvPr/>
          </p:nvPicPr>
          <p:blipFill rotWithShape="1">
            <a:blip r:embed="rId8"/>
            <a:stretch/>
          </p:blipFill>
          <p:spPr bwMode="auto">
            <a:xfrm>
              <a:off x="6771456" y="3033600"/>
              <a:ext cx="342000" cy="287640"/>
            </a:xfrm>
            <a:prstGeom prst="rect">
              <a:avLst/>
            </a:prstGeom>
          </p:spPr>
        </p:pic>
        <p:pic>
          <p:nvPicPr>
            <p:cNvPr id="19" name="Ink 18"/>
            <p:cNvPicPr/>
            <p:nvPr/>
          </p:nvPicPr>
          <p:blipFill rotWithShape="1">
            <a:blip r:embed="rId9"/>
            <a:stretch/>
          </p:blipFill>
          <p:spPr bwMode="auto">
            <a:xfrm>
              <a:off x="6175296" y="3103800"/>
              <a:ext cx="211320" cy="353160"/>
            </a:xfrm>
            <a:prstGeom prst="rect">
              <a:avLst/>
            </a:prstGeom>
          </p:spPr>
        </p:pic>
        <p:pic>
          <p:nvPicPr>
            <p:cNvPr id="21" name="Ink 20"/>
            <p:cNvPicPr/>
            <p:nvPr/>
          </p:nvPicPr>
          <p:blipFill rotWithShape="1">
            <a:blip r:embed="rId10"/>
            <a:stretch/>
          </p:blipFill>
          <p:spPr bwMode="auto">
            <a:xfrm>
              <a:off x="5257656" y="2602680"/>
              <a:ext cx="601920" cy="280800"/>
            </a:xfrm>
            <a:prstGeom prst="rect">
              <a:avLst/>
            </a:prstGeom>
          </p:spPr>
        </p:pic>
        <p:pic>
          <p:nvPicPr>
            <p:cNvPr id="22" name="Ink 21"/>
            <p:cNvPicPr/>
            <p:nvPr/>
          </p:nvPicPr>
          <p:blipFill rotWithShape="1">
            <a:blip r:embed="rId11"/>
            <a:stretch/>
          </p:blipFill>
          <p:spPr bwMode="auto">
            <a:xfrm>
              <a:off x="5913216" y="2188320"/>
              <a:ext cx="238320" cy="402840"/>
            </a:xfrm>
            <a:prstGeom prst="rect">
              <a:avLst/>
            </a:prstGeom>
          </p:spPr>
        </p:pic>
      </p:grpSp>
      <p:pic>
        <p:nvPicPr>
          <p:cNvPr id="1365102152" name="Ink 24"/>
          <p:cNvPicPr/>
          <p:nvPr/>
        </p:nvPicPr>
        <p:blipFill rotWithShape="1">
          <a:blip r:embed="rId12"/>
          <a:stretch/>
        </p:blipFill>
        <p:spPr bwMode="auto">
          <a:xfrm>
            <a:off x="6493896" y="2163480"/>
            <a:ext cx="197280" cy="501120"/>
          </a:xfrm>
          <a:prstGeom prst="rect">
            <a:avLst/>
          </a:prstGeom>
        </p:spPr>
      </p:pic>
      <p:pic>
        <p:nvPicPr>
          <p:cNvPr id="1976405916" name="Ink 25"/>
          <p:cNvPicPr/>
          <p:nvPr/>
        </p:nvPicPr>
        <p:blipFill rotWithShape="1">
          <a:blip r:embed="rId13"/>
          <a:stretch/>
        </p:blipFill>
        <p:spPr bwMode="auto">
          <a:xfrm>
            <a:off x="6796296" y="3022800"/>
            <a:ext cx="152280" cy="14724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67883185" name="Title 1"/>
          <p:cNvSpPr>
            <a:spLocks noGrp="1"/>
          </p:cNvSpPr>
          <p:nvPr>
            <p:ph type="title"/>
          </p:nvPr>
        </p:nvSpPr>
        <p:spPr bwMode="auto"/>
        <p:txBody>
          <a:bodyPr/>
          <a:lstStyle/>
          <a:p>
            <a:pPr>
              <a:defRPr/>
            </a:pPr>
            <a:r>
              <a:rPr lang="en-GB" sz="2000"/>
              <a:t>Hello, world!</a:t>
            </a:r>
            <a:br>
              <a:rPr lang="en-GB"/>
            </a:br>
            <a:r>
              <a:rPr lang="en-GB"/>
              <a:t>MY first shiny app</a:t>
            </a:r>
            <a:endParaRPr lang="nl-NL"/>
          </a:p>
        </p:txBody>
      </p:sp>
      <p:sp>
        <p:nvSpPr>
          <p:cNvPr id="1740710389" name="Content Placeholder 2"/>
          <p:cNvSpPr>
            <a:spLocks noGrp="1"/>
          </p:cNvSpPr>
          <p:nvPr>
            <p:ph sz="half" idx="1"/>
          </p:nvPr>
        </p:nvSpPr>
        <p:spPr bwMode="auto">
          <a:xfrm>
            <a:off x="1265581" y="1825624"/>
            <a:ext cx="10515600" cy="4395881"/>
          </a:xfrm>
        </p:spPr>
        <p:txBody>
          <a:bodyPr/>
          <a:lstStyle/>
          <a:p>
            <a:pPr>
              <a:defRPr/>
            </a:pPr>
            <a:r>
              <a:rPr lang="en-GB"/>
              <a:t>Change lines 51-52 to:</a:t>
            </a:r>
            <a:endParaRPr/>
          </a:p>
          <a:p>
            <a:pPr>
              <a:defRPr/>
            </a:pPr>
            <a:endParaRPr lang="en-US"/>
          </a:p>
          <a:p>
            <a:pPr>
              <a:defRPr/>
            </a:pPr>
            <a:endParaRPr lang="en-US"/>
          </a:p>
          <a:p>
            <a:pPr>
              <a:defRPr/>
            </a:pPr>
            <a:endParaRPr lang="en-US"/>
          </a:p>
          <a:p>
            <a:pPr>
              <a:defRPr/>
            </a:pPr>
            <a:r>
              <a:rPr lang="en-US"/>
              <a:t>Restart the app</a:t>
            </a:r>
            <a:endParaRPr/>
          </a:p>
          <a:p>
            <a:pPr lvl="1">
              <a:defRPr/>
            </a:pPr>
            <a:r>
              <a:rPr lang="en-US"/>
              <a:t>Change the input, see the output update.</a:t>
            </a:r>
            <a:endParaRPr/>
          </a:p>
        </p:txBody>
      </p:sp>
      <p:sp>
        <p:nvSpPr>
          <p:cNvPr id="881380206" name="Footer Placeholder 4"/>
          <p:cNvSpPr>
            <a:spLocks noGrp="1"/>
          </p:cNvSpPr>
          <p:nvPr>
            <p:ph type="ftr" sz="quarter" idx="11"/>
          </p:nvPr>
        </p:nvSpPr>
        <p:spPr bwMode="auto"/>
        <p:txBody>
          <a:bodyPr/>
          <a:lstStyle/>
          <a:p>
            <a:pPr>
              <a:defRPr/>
            </a:pPr>
            <a:r>
              <a:rPr/>
              <a:t>2026-10-12, Karel Kroeze, BDSi. Shiny Workshop.</a:t>
            </a:r>
            <a:endParaRPr/>
          </a:p>
        </p:txBody>
      </p:sp>
      <p:pic>
        <p:nvPicPr>
          <p:cNvPr id="962209912" name="Picture 7"/>
          <p:cNvPicPr>
            <a:picLocks noChangeAspect="1"/>
          </p:cNvPicPr>
          <p:nvPr/>
        </p:nvPicPr>
        <p:blipFill rotWithShape="1">
          <a:blip r:embed="rId3"/>
          <a:stretch/>
        </p:blipFill>
        <p:spPr bwMode="auto">
          <a:xfrm>
            <a:off x="1265581" y="2656470"/>
            <a:ext cx="8463635" cy="887951"/>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4734278" name="Title 1"/>
          <p:cNvSpPr>
            <a:spLocks noGrp="1"/>
          </p:cNvSpPr>
          <p:nvPr>
            <p:ph type="title"/>
          </p:nvPr>
        </p:nvSpPr>
        <p:spPr bwMode="auto"/>
        <p:txBody>
          <a:bodyPr/>
          <a:lstStyle/>
          <a:p>
            <a:pPr>
              <a:defRPr/>
            </a:pPr>
            <a:r>
              <a:rPr lang="en-GB" sz="2000"/>
              <a:t>Hello, world!</a:t>
            </a:r>
            <a:br>
              <a:rPr lang="en-GB"/>
            </a:br>
            <a:r>
              <a:rPr lang="en-GB"/>
              <a:t>my first shiny app</a:t>
            </a:r>
            <a:endParaRPr lang="nl-NL"/>
          </a:p>
        </p:txBody>
      </p:sp>
      <p:sp>
        <p:nvSpPr>
          <p:cNvPr id="1428765720" name="Content Placeholder 2"/>
          <p:cNvSpPr>
            <a:spLocks noGrp="1"/>
          </p:cNvSpPr>
          <p:nvPr>
            <p:ph sz="half" idx="1"/>
          </p:nvPr>
        </p:nvSpPr>
        <p:spPr bwMode="auto">
          <a:xfrm>
            <a:off x="1265581" y="1825624"/>
            <a:ext cx="10515600" cy="4395881"/>
          </a:xfrm>
        </p:spPr>
        <p:txBody>
          <a:bodyPr/>
          <a:lstStyle/>
          <a:p>
            <a:pPr>
              <a:defRPr/>
            </a:pPr>
            <a:r>
              <a:rPr lang="en-US"/>
              <a:t>UI</a:t>
            </a:r>
            <a:endParaRPr/>
          </a:p>
          <a:p>
            <a:pPr marL="457200" lvl="1" indent="0">
              <a:buNone/>
              <a:defRPr/>
            </a:pPr>
            <a:r>
              <a:rPr lang="en-US" sz="2000">
                <a:solidFill>
                  <a:schemeClr val="accent6">
                    <a:lumMod val="75000"/>
                  </a:schemeClr>
                </a:solidFill>
                <a:latin typeface="FuraCode Nerd Font Mono"/>
                <a:ea typeface="FuraCode Nerd Font Mono"/>
              </a:rPr>
              <a:t>- </a:t>
            </a:r>
            <a:r>
              <a:rPr lang="en-US" sz="2000">
                <a:solidFill>
                  <a:schemeClr val="accent6">
                    <a:lumMod val="75000"/>
                  </a:schemeClr>
                </a:solidFill>
                <a:latin typeface="FuraCode Nerd Font Mono"/>
                <a:ea typeface="FuraCode Nerd Font Mono"/>
              </a:rPr>
              <a:t>sliderInput</a:t>
            </a:r>
            <a:r>
              <a:rPr lang="en-US" sz="2000">
                <a:solidFill>
                  <a:schemeClr val="accent6">
                    <a:lumMod val="75000"/>
                  </a:schemeClr>
                </a:solidFill>
                <a:latin typeface="FuraCode Nerd Font Mono"/>
                <a:ea typeface="FuraCode Nerd Font Mono"/>
              </a:rPr>
              <a:t>(“bins”, …)</a:t>
            </a:r>
            <a:endParaRPr/>
          </a:p>
          <a:p>
            <a:pPr marL="457200" lvl="1" indent="0">
              <a:buNone/>
              <a:defRPr/>
            </a:pPr>
            <a:r>
              <a:rPr lang="en-US" sz="2000">
                <a:solidFill>
                  <a:schemeClr val="accent4">
                    <a:lumMod val="75000"/>
                  </a:schemeClr>
                </a:solidFill>
                <a:latin typeface="FuraCode Nerd Font Mono"/>
                <a:ea typeface="FuraCode Nerd Font Mono"/>
              </a:rPr>
              <a:t>+ </a:t>
            </a:r>
            <a:r>
              <a:rPr lang="en-US" sz="2000">
                <a:solidFill>
                  <a:schemeClr val="accent4">
                    <a:lumMod val="75000"/>
                  </a:schemeClr>
                </a:solidFill>
                <a:latin typeface="FuraCode Nerd Font Mono"/>
                <a:ea typeface="FuraCode Nerd Font Mono"/>
              </a:rPr>
              <a:t>textInput</a:t>
            </a:r>
            <a:r>
              <a:rPr lang="en-US" sz="2000">
                <a:solidFill>
                  <a:schemeClr val="accent4">
                    <a:lumMod val="75000"/>
                  </a:schemeClr>
                </a:solidFill>
                <a:latin typeface="FuraCode Nerd Font Mono"/>
                <a:ea typeface="FuraCode Nerd Font Mono"/>
              </a:rPr>
              <a:t>(“name”, …)</a:t>
            </a:r>
            <a:endParaRPr/>
          </a:p>
          <a:p>
            <a:pPr marL="457200" lvl="1" indent="0">
              <a:buNone/>
              <a:defRPr/>
            </a:pPr>
            <a:endParaRPr lang="en-US" sz="2000">
              <a:solidFill>
                <a:schemeClr val="accent4">
                  <a:lumMod val="75000"/>
                </a:schemeClr>
              </a:solidFill>
              <a:latin typeface="FuraCode Nerd Font Mono"/>
              <a:ea typeface="FuraCode Nerd Font Mono"/>
            </a:endParaRPr>
          </a:p>
          <a:p>
            <a:pPr marL="457200" lvl="1" indent="0">
              <a:buNone/>
              <a:defRPr/>
            </a:pPr>
            <a:r>
              <a:rPr lang="en-US" sz="2000">
                <a:solidFill>
                  <a:schemeClr val="accent6">
                    <a:lumMod val="75000"/>
                  </a:schemeClr>
                </a:solidFill>
                <a:latin typeface="FuraCode Nerd Font Mono"/>
                <a:ea typeface="FuraCode Nerd Font Mono"/>
              </a:rPr>
              <a:t>- </a:t>
            </a:r>
            <a:r>
              <a:rPr lang="en-US" sz="2000">
                <a:solidFill>
                  <a:schemeClr val="accent6">
                    <a:lumMod val="75000"/>
                  </a:schemeClr>
                </a:solidFill>
                <a:latin typeface="FuraCode Nerd Font Mono"/>
                <a:ea typeface="FuraCode Nerd Font Mono"/>
              </a:rPr>
              <a:t>plotOutput</a:t>
            </a:r>
            <a:r>
              <a:rPr lang="en-US" sz="2000">
                <a:solidFill>
                  <a:schemeClr val="accent6">
                    <a:lumMod val="75000"/>
                  </a:schemeClr>
                </a:solidFill>
                <a:latin typeface="FuraCode Nerd Font Mono"/>
                <a:ea typeface="FuraCode Nerd Font Mono"/>
              </a:rPr>
              <a:t>(“</a:t>
            </a:r>
            <a:r>
              <a:rPr lang="en-US" sz="2000">
                <a:solidFill>
                  <a:schemeClr val="accent6">
                    <a:lumMod val="75000"/>
                  </a:schemeClr>
                </a:solidFill>
                <a:latin typeface="FuraCode Nerd Font Mono"/>
                <a:ea typeface="FuraCode Nerd Font Mono"/>
              </a:rPr>
              <a:t>distPlot</a:t>
            </a:r>
            <a:r>
              <a:rPr lang="en-US" sz="2000">
                <a:solidFill>
                  <a:schemeClr val="accent6">
                    <a:lumMod val="75000"/>
                  </a:schemeClr>
                </a:solidFill>
                <a:latin typeface="FuraCode Nerd Font Mono"/>
                <a:ea typeface="FuraCode Nerd Font Mono"/>
              </a:rPr>
              <a:t>”)</a:t>
            </a:r>
            <a:endParaRPr/>
          </a:p>
          <a:p>
            <a:pPr marL="457200" lvl="1" indent="0">
              <a:buNone/>
              <a:defRPr/>
            </a:pPr>
            <a:r>
              <a:rPr lang="en-US" sz="2000">
                <a:solidFill>
                  <a:schemeClr val="accent4">
                    <a:lumMod val="75000"/>
                  </a:schemeClr>
                </a:solidFill>
                <a:latin typeface="FuraCode Nerd Font Mono"/>
                <a:ea typeface="FuraCode Nerd Font Mono"/>
              </a:rPr>
              <a:t>+ </a:t>
            </a:r>
            <a:r>
              <a:rPr lang="en-US" sz="2000">
                <a:solidFill>
                  <a:schemeClr val="accent4">
                    <a:lumMod val="75000"/>
                  </a:schemeClr>
                </a:solidFill>
                <a:latin typeface="FuraCode Nerd Font Mono"/>
                <a:ea typeface="FuraCode Nerd Font Mono"/>
              </a:rPr>
              <a:t>textOutput</a:t>
            </a:r>
            <a:r>
              <a:rPr lang="en-US" sz="2000">
                <a:solidFill>
                  <a:schemeClr val="accent4">
                    <a:lumMod val="75000"/>
                  </a:schemeClr>
                </a:solidFill>
                <a:latin typeface="FuraCode Nerd Font Mono"/>
                <a:ea typeface="FuraCode Nerd Font Mono"/>
              </a:rPr>
              <a:t>(“welcome”)</a:t>
            </a:r>
            <a:endParaRPr/>
          </a:p>
          <a:p>
            <a:pPr marL="457200" lvl="1" indent="0">
              <a:buNone/>
              <a:defRPr/>
            </a:pPr>
            <a:endParaRPr lang="en-US" sz="2000">
              <a:solidFill>
                <a:schemeClr val="accent4">
                  <a:lumMod val="75000"/>
                </a:schemeClr>
              </a:solidFill>
              <a:latin typeface="FuraCode Nerd Font Mono"/>
              <a:ea typeface="FuraCode Nerd Font Mono"/>
            </a:endParaRPr>
          </a:p>
          <a:p>
            <a:pPr>
              <a:defRPr/>
            </a:pPr>
            <a:r>
              <a:rPr lang="en-US" sz="2400">
                <a:ea typeface="FuraCode Nerd Font Mono"/>
              </a:rPr>
              <a:t>Server</a:t>
            </a:r>
            <a:endParaRPr/>
          </a:p>
          <a:p>
            <a:pPr marL="457200" lvl="1" indent="0">
              <a:buNone/>
              <a:defRPr/>
            </a:pPr>
            <a:r>
              <a:rPr lang="en-US" sz="2000">
                <a:solidFill>
                  <a:schemeClr val="accent6">
                    <a:lumMod val="75000"/>
                  </a:schemeClr>
                </a:solidFill>
                <a:latin typeface="FuraCode Nerd Font Mono"/>
                <a:ea typeface="FuraCode Nerd Font Mono"/>
              </a:rPr>
              <a:t>- </a:t>
            </a:r>
            <a:r>
              <a:rPr lang="en-US" sz="2000">
                <a:solidFill>
                  <a:schemeClr val="accent6">
                    <a:lumMod val="75000"/>
                  </a:schemeClr>
                </a:solidFill>
                <a:latin typeface="FuraCode Nerd Font Mono"/>
                <a:ea typeface="FuraCode Nerd Font Mono"/>
              </a:rPr>
              <a:t>renderPlot</a:t>
            </a:r>
            <a:r>
              <a:rPr lang="en-US" sz="2000">
                <a:solidFill>
                  <a:schemeClr val="accent6">
                    <a:lumMod val="75000"/>
                  </a:schemeClr>
                </a:solidFill>
                <a:latin typeface="FuraCode Nerd Font Mono"/>
                <a:ea typeface="FuraCode Nerd Font Mono"/>
              </a:rPr>
              <a:t>(“</a:t>
            </a:r>
            <a:r>
              <a:rPr lang="en-US" sz="2000">
                <a:solidFill>
                  <a:schemeClr val="accent6">
                    <a:lumMod val="75000"/>
                  </a:schemeClr>
                </a:solidFill>
                <a:latin typeface="FuraCode Nerd Font Mono"/>
                <a:ea typeface="FuraCode Nerd Font Mono"/>
              </a:rPr>
              <a:t>distPlot</a:t>
            </a:r>
            <a:r>
              <a:rPr lang="en-US" sz="2000">
                <a:solidFill>
                  <a:schemeClr val="accent6">
                    <a:lumMod val="75000"/>
                  </a:schemeClr>
                </a:solidFill>
                <a:latin typeface="FuraCode Nerd Font Mono"/>
                <a:ea typeface="FuraCode Nerd Font Mono"/>
              </a:rPr>
              <a:t>”, …)</a:t>
            </a:r>
            <a:endParaRPr/>
          </a:p>
          <a:p>
            <a:pPr marL="457200" lvl="1" indent="0">
              <a:buNone/>
              <a:defRPr/>
            </a:pPr>
            <a:r>
              <a:rPr lang="en-US" sz="2000">
                <a:solidFill>
                  <a:schemeClr val="accent4">
                    <a:lumMod val="75000"/>
                  </a:schemeClr>
                </a:solidFill>
                <a:latin typeface="FuraCode Nerd Font Mono"/>
                <a:ea typeface="FuraCode Nerd Font Mono"/>
              </a:rPr>
              <a:t>+ </a:t>
            </a:r>
            <a:r>
              <a:rPr lang="en-US" sz="2000">
                <a:solidFill>
                  <a:schemeClr val="accent4">
                    <a:lumMod val="75000"/>
                  </a:schemeClr>
                </a:solidFill>
                <a:latin typeface="FuraCode Nerd Font Mono"/>
                <a:ea typeface="FuraCode Nerd Font Mono"/>
              </a:rPr>
              <a:t>renderText</a:t>
            </a:r>
            <a:r>
              <a:rPr lang="en-US" sz="2000">
                <a:solidFill>
                  <a:schemeClr val="accent4">
                    <a:lumMod val="75000"/>
                  </a:schemeClr>
                </a:solidFill>
                <a:latin typeface="FuraCode Nerd Font Mono"/>
                <a:ea typeface="FuraCode Nerd Font Mono"/>
              </a:rPr>
              <a:t>(“welcome”, …)</a:t>
            </a:r>
            <a:endParaRPr/>
          </a:p>
          <a:p>
            <a:pPr lvl="2">
              <a:defRPr/>
            </a:pPr>
            <a:endParaRPr lang="en-US"/>
          </a:p>
        </p:txBody>
      </p:sp>
      <p:sp>
        <p:nvSpPr>
          <p:cNvPr id="1971270658" name="Footer Placeholder 4"/>
          <p:cNvSpPr>
            <a:spLocks noGrp="1"/>
          </p:cNvSpPr>
          <p:nvPr>
            <p:ph type="ftr" sz="quarter" idx="11"/>
          </p:nvPr>
        </p:nvSpPr>
        <p:spPr bwMode="auto"/>
        <p:txBody>
          <a:bodyPr/>
          <a:lstStyle/>
          <a:p>
            <a:pPr>
              <a:defRPr/>
            </a:pPr>
            <a:r>
              <a:rPr/>
              <a:t>2026-10-12, Karel Kroeze, BDSi. Shiny Workshop.</a:t>
            </a:r>
            <a:endParaRPr/>
          </a:p>
        </p:txBody>
      </p:sp>
      <p:pic>
        <p:nvPicPr>
          <p:cNvPr id="1691799939" name="Picture 11"/>
          <p:cNvPicPr>
            <a:picLocks noChangeAspect="1"/>
          </p:cNvPicPr>
          <p:nvPr/>
        </p:nvPicPr>
        <p:blipFill rotWithShape="1">
          <a:blip r:embed="rId3"/>
          <a:srcRect l="1701" t="0" r="4992" b="0"/>
          <a:stretch/>
        </p:blipFill>
        <p:spPr bwMode="auto">
          <a:xfrm>
            <a:off x="5781675" y="2211603"/>
            <a:ext cx="6210300" cy="1999408"/>
          </a:xfrm>
          <a:prstGeom prst="rect">
            <a:avLst/>
          </a:prstGeom>
        </p:spPr>
      </p:pic>
      <p:pic>
        <p:nvPicPr>
          <p:cNvPr id="1072957488" name="Picture 13"/>
          <p:cNvPicPr>
            <a:picLocks noChangeAspect="1"/>
          </p:cNvPicPr>
          <p:nvPr/>
        </p:nvPicPr>
        <p:blipFill rotWithShape="1">
          <a:blip r:embed="rId4"/>
          <a:srcRect l="2064" t="0" r="14254" b="0"/>
          <a:stretch/>
        </p:blipFill>
        <p:spPr bwMode="auto">
          <a:xfrm>
            <a:off x="6591300" y="4426821"/>
            <a:ext cx="4591050" cy="15788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05098942" name="Title 1"/>
          <p:cNvSpPr>
            <a:spLocks noGrp="1"/>
          </p:cNvSpPr>
          <p:nvPr>
            <p:ph type="title"/>
          </p:nvPr>
        </p:nvSpPr>
        <p:spPr bwMode="auto"/>
        <p:txBody>
          <a:bodyPr/>
          <a:lstStyle/>
          <a:p>
            <a:pPr>
              <a:defRPr/>
            </a:pPr>
            <a:r>
              <a:rPr lang="en-GB" sz="2000"/>
              <a:t>apps are not scripts</a:t>
            </a:r>
            <a:br>
              <a:rPr lang="en-GB"/>
            </a:br>
            <a:r>
              <a:rPr lang="en-GB"/>
              <a:t>REACTIVITY</a:t>
            </a:r>
            <a:endParaRPr lang="nl-NL"/>
          </a:p>
        </p:txBody>
      </p:sp>
      <p:sp>
        <p:nvSpPr>
          <p:cNvPr id="1241058136" name="Content Placeholder 2"/>
          <p:cNvSpPr>
            <a:spLocks noGrp="1"/>
          </p:cNvSpPr>
          <p:nvPr>
            <p:ph sz="half" idx="1"/>
          </p:nvPr>
        </p:nvSpPr>
        <p:spPr bwMode="auto">
          <a:xfrm>
            <a:off x="1265583" y="1825625"/>
            <a:ext cx="5691802" cy="4105156"/>
          </a:xfrm>
        </p:spPr>
        <p:txBody>
          <a:bodyPr/>
          <a:lstStyle/>
          <a:p>
            <a:pPr>
              <a:defRPr/>
            </a:pPr>
            <a:r>
              <a:rPr lang="nl-NL">
                <a:solidFill>
                  <a:schemeClr val="accent1"/>
                </a:solidFill>
              </a:rPr>
              <a:t>Linear</a:t>
            </a:r>
            <a:r>
              <a:rPr lang="nl-NL"/>
              <a:t> script vs. </a:t>
            </a:r>
            <a:r>
              <a:rPr lang="nl-NL">
                <a:solidFill>
                  <a:schemeClr val="accent1"/>
                </a:solidFill>
              </a:rPr>
              <a:t>interactive</a:t>
            </a:r>
            <a:r>
              <a:rPr lang="nl-NL"/>
              <a:t> flow</a:t>
            </a:r>
            <a:endParaRPr/>
          </a:p>
          <a:p>
            <a:pPr>
              <a:defRPr/>
            </a:pPr>
            <a:r>
              <a:rPr lang="nl-NL"/>
              <a:t>Cause and effect</a:t>
            </a:r>
            <a:endParaRPr/>
          </a:p>
          <a:p>
            <a:pPr lvl="1">
              <a:defRPr/>
            </a:pPr>
            <a:r>
              <a:rPr lang="nl-NL"/>
              <a:t>if name changes, update greeting</a:t>
            </a:r>
            <a:endParaRPr/>
          </a:p>
          <a:p>
            <a:pPr lvl="1">
              <a:defRPr/>
            </a:pPr>
            <a:r>
              <a:rPr lang="nl-NL">
                <a:solidFill>
                  <a:schemeClr val="accent3"/>
                </a:solidFill>
              </a:rPr>
              <a:t>explicit</a:t>
            </a:r>
            <a:r>
              <a:rPr lang="nl-NL"/>
              <a:t> vs. </a:t>
            </a:r>
            <a:r>
              <a:rPr lang="nl-NL">
                <a:solidFill>
                  <a:schemeClr val="accent2"/>
                </a:solidFill>
              </a:rPr>
              <a:t>implicit</a:t>
            </a:r>
            <a:r>
              <a:rPr lang="nl-NL"/>
              <a:t> dependencies</a:t>
            </a:r>
            <a:endParaRPr/>
          </a:p>
          <a:p>
            <a:pPr marL="0" indent="0">
              <a:buNone/>
              <a:defRPr/>
            </a:pPr>
            <a:endParaRPr lang="nl-NL"/>
          </a:p>
          <a:p>
            <a:pPr lvl="1">
              <a:defRPr/>
            </a:pPr>
            <a:endParaRPr lang="nl-NL"/>
          </a:p>
          <a:p>
            <a:pPr lvl="1">
              <a:defRPr/>
            </a:pPr>
            <a:endParaRPr lang="nl-NL"/>
          </a:p>
          <a:p>
            <a:pPr marL="0" indent="0">
              <a:buNone/>
              <a:defRPr/>
            </a:pPr>
            <a:endParaRPr lang="nl-NL"/>
          </a:p>
        </p:txBody>
      </p:sp>
      <p:sp>
        <p:nvSpPr>
          <p:cNvPr id="1647553138" name="Footer Placeholder 4"/>
          <p:cNvSpPr>
            <a:spLocks noGrp="1"/>
          </p:cNvSpPr>
          <p:nvPr>
            <p:ph type="ftr" sz="quarter" idx="11"/>
          </p:nvPr>
        </p:nvSpPr>
        <p:spPr bwMode="auto"/>
        <p:txBody>
          <a:bodyPr/>
          <a:lstStyle/>
          <a:p>
            <a:pPr>
              <a:defRPr/>
            </a:pPr>
            <a:r>
              <a:rPr/>
              <a:t>2026-10-12, Karel Kroeze, BDSi. Shiny Workshop.</a:t>
            </a:r>
            <a:endParaRPr/>
          </a:p>
        </p:txBody>
      </p:sp>
      <p:grpSp>
        <p:nvGrpSpPr>
          <p:cNvPr id="768921305" name="Group 5"/>
          <p:cNvGrpSpPr/>
          <p:nvPr/>
        </p:nvGrpSpPr>
        <p:grpSpPr bwMode="auto">
          <a:xfrm>
            <a:off x="7053072" y="1825625"/>
            <a:ext cx="4703727" cy="4105156"/>
            <a:chOff x="7053072" y="1825625"/>
            <a:chExt cx="4703727" cy="4105156"/>
          </a:xfrm>
        </p:grpSpPr>
        <p:sp>
          <p:nvSpPr>
            <p:cNvPr id="7" name="Content Placeholder 2"/>
            <p:cNvSpPr txBox="1"/>
            <p:nvPr/>
          </p:nvSpPr>
          <p:spPr bwMode="auto">
            <a:xfrm>
              <a:off x="7053072" y="1825625"/>
              <a:ext cx="4703727" cy="4105156"/>
            </a:xfrm>
            <a:prstGeom prst="rect">
              <a:avLst/>
            </a:prstGeom>
            <a:solidFill>
              <a:schemeClr val="tx1">
                <a:lumMod val="85000"/>
                <a:lumOff val="15000"/>
                <a:alpha val="68000"/>
              </a:schemeClr>
            </a:solidFill>
          </p:spPr>
          <p:txBody>
            <a:bodyPr/>
            <a:lstStyle>
              <a:lvl1pPr marL="228600" indent="-228600" algn="l" defTabSz="914400" rtl="0">
                <a:lnSpc>
                  <a:spcPct val="90000"/>
                </a:lnSpc>
                <a:spcBef>
                  <a:spcPts val="1000"/>
                </a:spcBef>
                <a:buFont typeface="Arial"/>
                <a:buChar char="•"/>
                <a:defRPr sz="2800">
                  <a:solidFill>
                    <a:schemeClr val="bg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bg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bg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bg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bg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buFont typeface="Arial"/>
                <a:buNone/>
                <a:defRPr/>
              </a:pPr>
              <a:endParaRPr lang="nl-NL"/>
            </a:p>
          </p:txBody>
        </p:sp>
        <p:pic>
          <p:nvPicPr>
            <p:cNvPr id="8" name="Picture 2"/>
            <p:cNvPicPr>
              <a:picLocks noChangeAspect="1" noChangeArrowheads="1"/>
            </p:cNvPicPr>
            <p:nvPr/>
          </p:nvPicPr>
          <p:blipFill rotWithShape="1">
            <a:blip r:embed="rId3"/>
            <a:stretch/>
          </p:blipFill>
          <p:spPr bwMode="auto">
            <a:xfrm rot="16199998">
              <a:off x="8617504" y="2762737"/>
              <a:ext cx="3882167" cy="2183717"/>
            </a:xfrm>
            <a:prstGeom prst="rect">
              <a:avLst/>
            </a:prstGeom>
            <a:noFill/>
          </p:spPr>
        </p:pic>
      </p:grpSp>
      <p:pic>
        <p:nvPicPr>
          <p:cNvPr id="1968070554" name="Picture 6" descr="Railroad Tracks - Charcoal Drawing by Michael Vigliotti - Pixels"/>
          <p:cNvPicPr>
            <a:picLocks noChangeAspect="1" noChangeArrowheads="1"/>
          </p:cNvPicPr>
          <p:nvPr/>
        </p:nvPicPr>
        <p:blipFill rotWithShape="1">
          <a:blip r:embed="rId4"/>
          <a:stretch/>
        </p:blipFill>
        <p:spPr bwMode="auto">
          <a:xfrm>
            <a:off x="7095467" y="1913512"/>
            <a:ext cx="2264908" cy="3882167"/>
          </a:xfrm>
          <a:prstGeom prst="rect">
            <a:avLst/>
          </a:prstGeom>
          <a:noFill/>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80191783" name="Title 1"/>
          <p:cNvSpPr>
            <a:spLocks noGrp="1"/>
          </p:cNvSpPr>
          <p:nvPr>
            <p:ph type="title"/>
          </p:nvPr>
        </p:nvSpPr>
        <p:spPr bwMode="auto"/>
        <p:txBody>
          <a:bodyPr/>
          <a:lstStyle/>
          <a:p>
            <a:pPr>
              <a:defRPr/>
            </a:pPr>
            <a:r>
              <a:rPr lang="en-GB" sz="2000"/>
              <a:t>Hello, world!</a:t>
            </a:r>
            <a:br>
              <a:rPr lang="en-GB"/>
            </a:br>
            <a:r>
              <a:rPr lang="en-GB"/>
              <a:t>Make it yours</a:t>
            </a:r>
            <a:endParaRPr lang="nl-NL"/>
          </a:p>
        </p:txBody>
      </p:sp>
      <p:sp>
        <p:nvSpPr>
          <p:cNvPr id="281203520" name="Content Placeholder 2"/>
          <p:cNvSpPr>
            <a:spLocks noGrp="1"/>
          </p:cNvSpPr>
          <p:nvPr>
            <p:ph sz="half" idx="1"/>
          </p:nvPr>
        </p:nvSpPr>
        <p:spPr bwMode="auto">
          <a:xfrm>
            <a:off x="1265581" y="1825624"/>
            <a:ext cx="10515600" cy="4395881"/>
          </a:xfrm>
        </p:spPr>
        <p:txBody>
          <a:bodyPr/>
          <a:lstStyle/>
          <a:p>
            <a:pPr>
              <a:defRPr/>
            </a:pPr>
            <a:r>
              <a:rPr lang="en-GB"/>
              <a:t>Keep it simple</a:t>
            </a:r>
            <a:endParaRPr/>
          </a:p>
          <a:p>
            <a:pPr lvl="1">
              <a:defRPr/>
            </a:pPr>
            <a:r>
              <a:rPr lang="en-GB" sz="2000"/>
              <a:t>Stick to a basic use case – you can add complexity later</a:t>
            </a:r>
            <a:endParaRPr/>
          </a:p>
          <a:p>
            <a:pPr lvl="1">
              <a:defRPr/>
            </a:pPr>
            <a:endParaRPr lang="en-GB"/>
          </a:p>
          <a:p>
            <a:pPr>
              <a:defRPr/>
            </a:pPr>
            <a:r>
              <a:rPr lang="en-GB"/>
              <a:t>Load any data you need</a:t>
            </a:r>
            <a:endParaRPr/>
          </a:p>
          <a:p>
            <a:pPr>
              <a:defRPr/>
            </a:pPr>
            <a:r>
              <a:rPr lang="en-GB"/>
              <a:t>UI</a:t>
            </a:r>
            <a:endParaRPr/>
          </a:p>
          <a:p>
            <a:pPr lvl="1">
              <a:defRPr/>
            </a:pPr>
            <a:r>
              <a:rPr lang="en-GB"/>
              <a:t>Add/change inputs &amp; outputs</a:t>
            </a:r>
            <a:endParaRPr/>
          </a:p>
          <a:p>
            <a:pPr lvl="1">
              <a:defRPr/>
            </a:pPr>
            <a:r>
              <a:rPr lang="en-GB"/>
              <a:t>Change layout, labels, texts</a:t>
            </a:r>
            <a:endParaRPr/>
          </a:p>
          <a:p>
            <a:pPr>
              <a:defRPr/>
            </a:pPr>
            <a:r>
              <a:rPr lang="en-GB"/>
              <a:t>Server</a:t>
            </a:r>
            <a:endParaRPr/>
          </a:p>
          <a:p>
            <a:pPr lvl="1">
              <a:defRPr/>
            </a:pPr>
            <a:r>
              <a:rPr lang="en-GB"/>
              <a:t>Create output(s) for your analysis/visualization</a:t>
            </a:r>
            <a:endParaRPr lang="en-GB">
              <a:latin typeface="FuraCode Nerd Font"/>
              <a:ea typeface="FuraCode Nerd Font"/>
            </a:endParaRPr>
          </a:p>
          <a:p>
            <a:pPr lvl="1">
              <a:defRPr/>
            </a:pPr>
            <a:endParaRPr lang="en-GB"/>
          </a:p>
          <a:p>
            <a:pPr>
              <a:defRPr/>
            </a:pPr>
            <a:endParaRPr lang="en-GB"/>
          </a:p>
        </p:txBody>
      </p:sp>
      <p:sp>
        <p:nvSpPr>
          <p:cNvPr id="905764944" name="Footer Placeholder 4"/>
          <p:cNvSpPr>
            <a:spLocks noGrp="1"/>
          </p:cNvSpPr>
          <p:nvPr>
            <p:ph type="ftr" sz="quarter" idx="11"/>
          </p:nvPr>
        </p:nvSpPr>
        <p:spPr bwMode="auto"/>
        <p:txBody>
          <a:bodyPr/>
          <a:lstStyle/>
          <a:p>
            <a:pPr>
              <a:defRPr/>
            </a:pPr>
            <a:r>
              <a:rPr/>
              <a:t>2026-10-12, Karel Kroeze, BDSi. Shiny Workshop.</a:t>
            </a:r>
            <a:endParaRPr/>
          </a:p>
        </p:txBody>
      </p:sp>
      <p:sp>
        <p:nvSpPr>
          <p:cNvPr id="707850069" name="TextBox 11"/>
          <p:cNvSpPr txBox="1"/>
          <p:nvPr/>
        </p:nvSpPr>
        <p:spPr bwMode="auto">
          <a:xfrm>
            <a:off x="5074397" y="196909"/>
            <a:ext cx="7051701" cy="830997"/>
          </a:xfrm>
          <a:prstGeom prst="rect">
            <a:avLst/>
          </a:prstGeom>
          <a:noFill/>
        </p:spPr>
        <p:txBody>
          <a:bodyPr wrap="square" rtlCol="0">
            <a:spAutoFit/>
          </a:bodyPr>
          <a:lstStyle/>
          <a:p>
            <a:pPr algn="ctr">
              <a:defRPr/>
            </a:pPr>
            <a:r>
              <a:rPr lang="en-GB" sz="2400" b="1">
                <a:solidFill>
                  <a:schemeClr val="bg1"/>
                </a:solidFill>
                <a:latin typeface="Ink Free"/>
              </a:rPr>
              <a:t>Cheat sheets are your </a:t>
            </a:r>
            <a:r>
              <a:rPr lang="en-GB" sz="2400" b="1" u="sng">
                <a:solidFill>
                  <a:schemeClr val="bg1"/>
                </a:solidFill>
                <a:latin typeface="Ink Free"/>
              </a:rPr>
              <a:t>friend</a:t>
            </a:r>
            <a:br>
              <a:rPr lang="en-GB" sz="2400" b="1">
                <a:solidFill>
                  <a:schemeClr val="bg1"/>
                </a:solidFill>
                <a:latin typeface="Ink Free"/>
              </a:rPr>
            </a:br>
            <a:r>
              <a:rPr lang="en-GB" sz="2400" b="1">
                <a:solidFill>
                  <a:schemeClr val="accent1"/>
                </a:solidFill>
                <a:latin typeface="Ink Free"/>
              </a:rPr>
              <a:t>Help </a:t>
            </a:r>
            <a:r>
              <a:rPr lang="en-GB" sz="2400" b="1">
                <a:solidFill>
                  <a:schemeClr val="bg1"/>
                </a:solidFill>
                <a:latin typeface="Ink Free"/>
              </a:rPr>
              <a:t>&gt;</a:t>
            </a:r>
            <a:r>
              <a:rPr lang="en-GB" sz="2400" b="1">
                <a:solidFill>
                  <a:schemeClr val="accent1"/>
                </a:solidFill>
                <a:latin typeface="Ink Free"/>
              </a:rPr>
              <a:t> Cheat Sheets </a:t>
            </a:r>
            <a:r>
              <a:rPr lang="en-GB" sz="2400" b="1">
                <a:solidFill>
                  <a:schemeClr val="bg1"/>
                </a:solidFill>
                <a:latin typeface="Ink Free"/>
              </a:rPr>
              <a:t>&gt;</a:t>
            </a:r>
            <a:r>
              <a:rPr lang="en-GB" sz="2400" b="1">
                <a:solidFill>
                  <a:schemeClr val="accent1"/>
                </a:solidFill>
                <a:latin typeface="Ink Free"/>
              </a:rPr>
              <a:t> Web applications with Shiny</a:t>
            </a:r>
            <a:endParaRPr lang="nl-NL" sz="2400" b="1">
              <a:solidFill>
                <a:schemeClr val="accent1"/>
              </a:solidFill>
              <a:latin typeface="Ink Free"/>
            </a:endParaRPr>
          </a:p>
        </p:txBody>
      </p:sp>
      <p:pic>
        <p:nvPicPr>
          <p:cNvPr id="1883380893" name="Ink 6"/>
          <p:cNvPicPr/>
          <p:nvPr/>
        </p:nvPicPr>
        <p:blipFill rotWithShape="1">
          <a:blip r:embed="rId3"/>
          <a:stretch/>
        </p:blipFill>
        <p:spPr bwMode="auto">
          <a:xfrm>
            <a:off x="5267572" y="939346"/>
            <a:ext cx="6584400" cy="177120"/>
          </a:xfrm>
          <a:prstGeom prst="rect">
            <a:avLst/>
          </a:prstGeom>
        </p:spPr>
      </p:pic>
      <p:grpSp>
        <p:nvGrpSpPr>
          <p:cNvPr id="1398247418" name="Group 13"/>
          <p:cNvGrpSpPr/>
          <p:nvPr/>
        </p:nvGrpSpPr>
        <p:grpSpPr bwMode="auto">
          <a:xfrm>
            <a:off x="9716616" y="537000"/>
            <a:ext cx="780480" cy="109440"/>
            <a:chOff x="9716616" y="537000"/>
            <a:chExt cx="780480" cy="109440"/>
          </a:xfrm>
        </p:grpSpPr>
        <p:pic>
          <p:nvPicPr>
            <p:cNvPr id="8" name="Ink 7"/>
            <p:cNvPicPr/>
            <p:nvPr/>
          </p:nvPicPr>
          <p:blipFill rotWithShape="1">
            <a:blip r:embed="rId4"/>
            <a:stretch/>
          </p:blipFill>
          <p:spPr bwMode="auto">
            <a:xfrm>
              <a:off x="9710496" y="530880"/>
              <a:ext cx="771120" cy="121680"/>
            </a:xfrm>
            <a:prstGeom prst="rect">
              <a:avLst/>
            </a:prstGeom>
          </p:spPr>
        </p:pic>
        <p:pic>
          <p:nvPicPr>
            <p:cNvPr id="9" name="Ink 8"/>
            <p:cNvPicPr/>
            <p:nvPr/>
          </p:nvPicPr>
          <p:blipFill rotWithShape="1">
            <a:blip r:embed="rId5"/>
            <a:stretch/>
          </p:blipFill>
          <p:spPr bwMode="auto">
            <a:xfrm>
              <a:off x="9741096" y="548160"/>
              <a:ext cx="762120" cy="61920"/>
            </a:xfrm>
            <a:prstGeom prst="rect">
              <a:avLst/>
            </a:prstGeom>
          </p:spPr>
        </p:pic>
      </p:grpSp>
      <p:pic>
        <p:nvPicPr>
          <p:cNvPr id="281801672" name="Ink 17"/>
          <p:cNvPicPr/>
          <p:nvPr/>
        </p:nvPicPr>
        <p:blipFill rotWithShape="1">
          <a:blip r:embed="rId6"/>
          <a:stretch/>
        </p:blipFill>
        <p:spPr bwMode="auto">
          <a:xfrm>
            <a:off x="9972230" y="236113"/>
            <a:ext cx="111324" cy="9930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120352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1203520">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81203520">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81203520">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1203520">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1203520">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81203520">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8120352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07850069"/>
                                        </p:tgtEl>
                                        <p:attrNameLst>
                                          <p:attrName>style.visibility</p:attrName>
                                        </p:attrNameLst>
                                      </p:cBhvr>
                                      <p:to>
                                        <p:strVal val="visible"/>
                                      </p:to>
                                    </p:set>
                                  </p:childTnLst>
                                </p:cTn>
                              </p:par>
                            </p:childTnLst>
                          </p:cTn>
                        </p:par>
                        <p:par>
                          <p:cTn id="31" fill="hold">
                            <p:stCondLst>
                              <p:cond delay="0"/>
                            </p:stCondLst>
                            <p:childTnLst>
                              <p:par>
                                <p:cTn id="32" presetID="63" presetClass="entr" presetSubtype="0" fill="hold" nodeType="afterEffect">
                                  <p:stCondLst>
                                    <p:cond delay="500"/>
                                  </p:stCondLst>
                                  <p:childTnLst>
                                    <p:set>
                                      <p:cBhvr>
                                        <p:cTn id="33" dur="1" fill="hold">
                                          <p:stCondLst>
                                            <p:cond delay="0"/>
                                          </p:stCondLst>
                                        </p:cTn>
                                        <p:tgtEl>
                                          <p:spTgt spid="1883380893"/>
                                        </p:tgtEl>
                                        <p:attrNameLst>
                                          <p:attrName>style.visibility</p:attrName>
                                        </p:attrNameLst>
                                      </p:cBhvr>
                                      <p:to>
                                        <p:strVal val="visible"/>
                                      </p:to>
                                    </p:set>
                                    <p:anim calcmode="lin" valueType="num">
                                      <p:cBhvr>
                                        <p:cTn id="34" dur="500" fill="hold"/>
                                        <p:tgtEl>
                                          <p:spTgt spid="1883380893"/>
                                        </p:tgtEl>
                                        <p:attrNameLst>
                                          <p:attrName>drawProgress</p:attrName>
                                        </p:attrNameLst>
                                      </p:cBhvr>
                                      <p:tavLst>
                                        <p:tav tm="0">
                                          <p:val>
                                            <p:fltVal val="0"/>
                                          </p:val>
                                        </p:tav>
                                        <p:tav tm="100000">
                                          <p:val>
                                            <p:fltVal val="1"/>
                                          </p:val>
                                        </p:tav>
                                      </p:tavLst>
                                    </p:anim>
                                  </p:childTnLst>
                                </p:cTn>
                              </p:par>
                            </p:childTnLst>
                          </p:cTn>
                        </p:par>
                        <p:par>
                          <p:cTn id="35" fill="hold">
                            <p:stCondLst>
                              <p:cond delay="1000"/>
                            </p:stCondLst>
                            <p:childTnLst>
                              <p:par>
                                <p:cTn id="36" presetID="63" presetClass="entr" presetSubtype="0" fill="hold" nodeType="afterEffect">
                                  <p:stCondLst>
                                    <p:cond delay="500"/>
                                  </p:stCondLst>
                                  <p:childTnLst>
                                    <p:set>
                                      <p:cBhvr>
                                        <p:cTn id="37" dur="1" fill="hold">
                                          <p:stCondLst>
                                            <p:cond delay="0"/>
                                          </p:stCondLst>
                                        </p:cTn>
                                        <p:tgtEl>
                                          <p:spTgt spid="1398247418"/>
                                        </p:tgtEl>
                                        <p:attrNameLst>
                                          <p:attrName>style.visibility</p:attrName>
                                        </p:attrNameLst>
                                      </p:cBhvr>
                                      <p:to>
                                        <p:strVal val="visible"/>
                                      </p:to>
                                    </p:set>
                                    <p:anim calcmode="lin" valueType="num">
                                      <p:cBhvr>
                                        <p:cTn id="38" dur="500" fill="hold"/>
                                        <p:tgtEl>
                                          <p:spTgt spid="1398247418"/>
                                        </p:tgtEl>
                                        <p:attrNameLst>
                                          <p:attrName>drawProgress</p:attrName>
                                        </p:attrNameLst>
                                      </p:cBhvr>
                                      <p:tavLst>
                                        <p:tav tm="0">
                                          <p:val>
                                            <p:fltVal val="0"/>
                                          </p:val>
                                        </p:tav>
                                        <p:tav tm="100000">
                                          <p:val>
                                            <p:fltVal val="1"/>
                                          </p:val>
                                        </p:tav>
                                      </p:tavLst>
                                    </p:anim>
                                  </p:childTnLst>
                                </p:cTn>
                              </p:par>
                            </p:childTnLst>
                          </p:cTn>
                        </p:par>
                        <p:par>
                          <p:cTn id="39" fill="hold">
                            <p:stCondLst>
                              <p:cond delay="2000"/>
                            </p:stCondLst>
                            <p:childTnLst>
                              <p:par>
                                <p:cTn id="40" presetID="63" presetClass="entr" presetSubtype="0" fill="hold" nodeType="afterEffect">
                                  <p:stCondLst>
                                    <p:cond delay="0"/>
                                  </p:stCondLst>
                                  <p:childTnLst>
                                    <p:set>
                                      <p:cBhvr>
                                        <p:cTn id="41" dur="1" fill="hold">
                                          <p:stCondLst>
                                            <p:cond delay="0"/>
                                          </p:stCondLst>
                                        </p:cTn>
                                        <p:tgtEl>
                                          <p:spTgt spid="281801672"/>
                                        </p:tgtEl>
                                        <p:attrNameLst>
                                          <p:attrName>style.visibility</p:attrName>
                                        </p:attrNameLst>
                                      </p:cBhvr>
                                      <p:to>
                                        <p:strVal val="visible"/>
                                      </p:to>
                                    </p:set>
                                    <p:anim calcmode="lin" valueType="num">
                                      <p:cBhvr>
                                        <p:cTn id="42" dur="250" fill="hold"/>
                                        <p:tgtEl>
                                          <p:spTgt spid="281801672"/>
                                        </p:tgtEl>
                                        <p:attrNameLst>
                                          <p:attrName>drawProgress</p:attrName>
                                        </p:attrNameLst>
                                      </p:cBhvr>
                                      <p:tavLst>
                                        <p:tav tm="0">
                                          <p:val>
                                            <p:fltVal val="0"/>
                                          </p:val>
                                        </p:tav>
                                        <p:tav tm="100000">
                                          <p:val>
                                            <p:fltVal val="1"/>
                                          </p:val>
                                        </p:tav>
                                      </p:tavLst>
                                    </p:anim>
                                  </p:childTnLst>
                                </p:cTn>
                              </p:par>
                            </p:childTnLst>
                          </p:cTn>
                        </p:par>
                        <p:par>
                          <p:cTn id="43" fill="hold">
                            <p:stCondLst>
                              <p:cond delay="2250"/>
                            </p:stCondLst>
                            <p:childTnLst>
                              <p:par>
                                <p:cTn id="44" presetID="6" presetClass="emph" presetSubtype="0" repeatCount="indefinite" autoRev="1" fill="hold" nodeType="afterEffect">
                                  <p:stCondLst>
                                    <p:cond delay="1000"/>
                                  </p:stCondLst>
                                  <p:childTnLst>
                                    <p:animScale>
                                      <p:cBhvr>
                                        <p:cTn id="45" dur="500" fill="hold"/>
                                        <p:tgtEl>
                                          <p:spTgt spid="281801672"/>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850069" grpId="0"/>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69208599" name="Title 1"/>
          <p:cNvSpPr>
            <a:spLocks noGrp="1"/>
          </p:cNvSpPr>
          <p:nvPr>
            <p:ph type="title"/>
          </p:nvPr>
        </p:nvSpPr>
        <p:spPr bwMode="auto"/>
        <p:txBody>
          <a:bodyPr/>
          <a:lstStyle/>
          <a:p>
            <a:pPr>
              <a:defRPr/>
            </a:pPr>
            <a:r>
              <a:rPr lang="en-GB" sz="2000"/>
              <a:t>apps are not scripts</a:t>
            </a:r>
            <a:br>
              <a:rPr lang="en-GB"/>
            </a:br>
            <a:r>
              <a:rPr lang="en-GB"/>
              <a:t>meta-PROGRAMMING</a:t>
            </a:r>
            <a:endParaRPr lang="nl-NL"/>
          </a:p>
        </p:txBody>
      </p:sp>
      <p:sp>
        <p:nvSpPr>
          <p:cNvPr id="811298449" name="Content Placeholder 2"/>
          <p:cNvSpPr>
            <a:spLocks noGrp="1"/>
          </p:cNvSpPr>
          <p:nvPr>
            <p:ph sz="half" idx="1"/>
          </p:nvPr>
        </p:nvSpPr>
        <p:spPr bwMode="auto">
          <a:xfrm>
            <a:off x="1265583" y="1825625"/>
            <a:ext cx="5691802" cy="4105156"/>
          </a:xfrm>
        </p:spPr>
        <p:txBody>
          <a:bodyPr/>
          <a:lstStyle/>
          <a:p>
            <a:pPr>
              <a:defRPr/>
            </a:pPr>
            <a:r>
              <a:rPr lang="nl-NL" sz="2400"/>
              <a:t>Known </a:t>
            </a:r>
            <a:r>
              <a:rPr lang="nl-NL" sz="2400">
                <a:solidFill>
                  <a:schemeClr val="accent1"/>
                </a:solidFill>
              </a:rPr>
              <a:t>static</a:t>
            </a:r>
            <a:r>
              <a:rPr lang="nl-NL" sz="2400"/>
              <a:t> variables vs. unknown </a:t>
            </a:r>
            <a:r>
              <a:rPr lang="nl-NL" sz="2400">
                <a:solidFill>
                  <a:schemeClr val="accent1"/>
                </a:solidFill>
              </a:rPr>
              <a:t>dynamic</a:t>
            </a:r>
            <a:r>
              <a:rPr lang="nl-NL" sz="2400"/>
              <a:t> variables</a:t>
            </a:r>
            <a:endParaRPr/>
          </a:p>
          <a:p>
            <a:pPr lvl="1">
              <a:defRPr/>
            </a:pPr>
            <a:r>
              <a:rPr lang="nl-NL"/>
              <a:t>Inputs are </a:t>
            </a:r>
            <a:r>
              <a:rPr lang="nl-NL">
                <a:solidFill>
                  <a:schemeClr val="accent1"/>
                </a:solidFill>
              </a:rPr>
              <a:t>variables</a:t>
            </a:r>
            <a:r>
              <a:rPr lang="nl-NL"/>
              <a:t> where the </a:t>
            </a:r>
            <a:r>
              <a:rPr lang="nl-NL">
                <a:solidFill>
                  <a:schemeClr val="accent2"/>
                </a:solidFill>
              </a:rPr>
              <a:t>value</a:t>
            </a:r>
            <a:r>
              <a:rPr lang="nl-NL"/>
              <a:t> is the target </a:t>
            </a:r>
            <a:r>
              <a:rPr lang="nl-NL">
                <a:solidFill>
                  <a:schemeClr val="accent3"/>
                </a:solidFill>
              </a:rPr>
              <a:t>variable name</a:t>
            </a:r>
            <a:endParaRPr/>
          </a:p>
          <a:p>
            <a:pPr lvl="1">
              <a:defRPr/>
            </a:pPr>
            <a:r>
              <a:rPr lang="nl-NL"/>
              <a:t>“non-standard evaluation”</a:t>
            </a:r>
            <a:endParaRPr/>
          </a:p>
          <a:p>
            <a:pPr lvl="1">
              <a:defRPr/>
            </a:pPr>
            <a:endParaRPr lang="nl-NL"/>
          </a:p>
          <a:p>
            <a:pPr lvl="1">
              <a:defRPr/>
            </a:pPr>
            <a:endParaRPr lang="nl-NL"/>
          </a:p>
          <a:p>
            <a:pPr marL="0" indent="0">
              <a:buNone/>
              <a:defRPr/>
            </a:pPr>
            <a:endParaRPr lang="nl-NL"/>
          </a:p>
        </p:txBody>
      </p:sp>
      <p:sp>
        <p:nvSpPr>
          <p:cNvPr id="492852592" name="Footer Placeholder 4"/>
          <p:cNvSpPr>
            <a:spLocks noGrp="1"/>
          </p:cNvSpPr>
          <p:nvPr>
            <p:ph type="ftr" sz="quarter" idx="11"/>
          </p:nvPr>
        </p:nvSpPr>
        <p:spPr bwMode="auto"/>
        <p:txBody>
          <a:bodyPr/>
          <a:lstStyle/>
          <a:p>
            <a:pPr>
              <a:defRPr/>
            </a:pPr>
            <a:r>
              <a:rPr/>
              <a:t>2026-10-12, Karel Kroeze, BDSi. Shiny Workshop.</a:t>
            </a:r>
            <a:endParaRPr/>
          </a:p>
        </p:txBody>
      </p:sp>
      <p:sp>
        <p:nvSpPr>
          <p:cNvPr id="758087175" name="Content Placeholder 2"/>
          <p:cNvSpPr txBox="1"/>
          <p:nvPr/>
        </p:nvSpPr>
        <p:spPr bwMode="auto">
          <a:xfrm>
            <a:off x="7053072" y="1825625"/>
            <a:ext cx="4703727" cy="4105156"/>
          </a:xfrm>
          <a:prstGeom prst="rect">
            <a:avLst/>
          </a:prstGeom>
          <a:solidFill>
            <a:schemeClr val="tx1">
              <a:lumMod val="85000"/>
              <a:lumOff val="15000"/>
              <a:alpha val="68000"/>
            </a:schemeClr>
          </a:solidFill>
        </p:spPr>
        <p:txBody>
          <a:bodyPr/>
          <a:lstStyle>
            <a:lvl1pPr marL="228600" indent="-228600" algn="l" defTabSz="914400" rtl="0">
              <a:lnSpc>
                <a:spcPct val="90000"/>
              </a:lnSpc>
              <a:spcBef>
                <a:spcPts val="1000"/>
              </a:spcBef>
              <a:buFont typeface="Arial"/>
              <a:buChar char="•"/>
              <a:defRPr sz="2800">
                <a:solidFill>
                  <a:schemeClr val="bg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bg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bg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bg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bg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marL="0" indent="0">
              <a:buFont typeface="Arial"/>
              <a:buNone/>
              <a:defRPr/>
            </a:pPr>
            <a:endParaRPr lang="nl-NL"/>
          </a:p>
        </p:txBody>
      </p:sp>
      <p:sp>
        <p:nvSpPr>
          <p:cNvPr id="483543938" name="TextBox 9"/>
          <p:cNvSpPr txBox="1"/>
          <p:nvPr/>
        </p:nvSpPr>
        <p:spPr bwMode="auto">
          <a:xfrm>
            <a:off x="7120127" y="1914143"/>
            <a:ext cx="4582559" cy="1310999"/>
          </a:xfrm>
          <a:prstGeom prst="rect">
            <a:avLst/>
          </a:prstGeom>
          <a:noFill/>
        </p:spPr>
        <p:txBody>
          <a:bodyPr wrap="square" rtlCol="0">
            <a:spAutoFit/>
          </a:bodyPr>
          <a:lstStyle/>
          <a:p>
            <a:pPr>
              <a:defRPr/>
            </a:pPr>
            <a:r>
              <a:rPr lang="en-US" sz="1600">
                <a:solidFill>
                  <a:schemeClr val="bg1"/>
                </a:solidFill>
                <a:latin typeface="FiraCode Nerd Font Mono"/>
                <a:ea typeface="FiraCode Nerd Font Mono"/>
              </a:rPr>
              <a:t>selectInput(</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    “x_axis”, </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    “Choose x-axis”, </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    choices = names(data)</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a:t>
            </a:r>
            <a:endParaRPr/>
          </a:p>
        </p:txBody>
      </p:sp>
      <p:sp>
        <p:nvSpPr>
          <p:cNvPr id="233574599" name="TextBox 10"/>
          <p:cNvSpPr txBox="1"/>
          <p:nvPr/>
        </p:nvSpPr>
        <p:spPr bwMode="auto">
          <a:xfrm>
            <a:off x="7120127" y="3428999"/>
            <a:ext cx="4554119" cy="2286360"/>
          </a:xfrm>
          <a:prstGeom prst="rect">
            <a:avLst/>
          </a:prstGeom>
          <a:noFill/>
        </p:spPr>
        <p:txBody>
          <a:bodyPr wrap="square" rtlCol="0">
            <a:spAutoFit/>
          </a:bodyPr>
          <a:lstStyle/>
          <a:p>
            <a:pPr>
              <a:defRPr/>
            </a:pPr>
            <a:r>
              <a:rPr lang="en-GB" sz="1600">
                <a:solidFill>
                  <a:schemeClr val="accent6">
                    <a:lumMod val="60000"/>
                    <a:lumOff val="40000"/>
                  </a:schemeClr>
                </a:solidFill>
                <a:latin typeface="FiraCode Nerd Font Mono"/>
                <a:ea typeface="FiraCode Nerd Font Mono"/>
              </a:rPr>
              <a:t>ggplot</a:t>
            </a:r>
            <a:r>
              <a:rPr lang="en-GB" sz="1600">
                <a:solidFill>
                  <a:schemeClr val="accent6">
                    <a:lumMod val="60000"/>
                    <a:lumOff val="40000"/>
                  </a:schemeClr>
                </a:solidFill>
                <a:latin typeface="FiraCode Nerd Font Mono"/>
                <a:ea typeface="FiraCode Nerd Font Mono"/>
              </a:rPr>
              <a:t>(</a:t>
            </a:r>
            <a:r>
              <a:rPr lang="en-GB" sz="1600">
                <a:solidFill>
                  <a:schemeClr val="accent6">
                    <a:lumMod val="60000"/>
                    <a:lumOff val="40000"/>
                  </a:schemeClr>
                </a:solidFill>
                <a:latin typeface="FiraCode Nerd Font Mono"/>
                <a:ea typeface="FiraCode Nerd Font Mono"/>
              </a:rPr>
              <a:t>aes</a:t>
            </a:r>
            <a:r>
              <a:rPr lang="en-GB" sz="1600">
                <a:solidFill>
                  <a:schemeClr val="accent6">
                    <a:lumMod val="60000"/>
                    <a:lumOff val="40000"/>
                  </a:schemeClr>
                </a:solidFill>
                <a:latin typeface="FiraCode Nerd Font Mono"/>
                <a:ea typeface="FiraCode Nerd Font Mono"/>
              </a:rPr>
              <a:t>(</a:t>
            </a:r>
            <a:endParaRPr/>
          </a:p>
          <a:p>
            <a:pPr>
              <a:defRPr/>
            </a:pPr>
            <a:r>
              <a:rPr lang="en-GB" sz="1600">
                <a:solidFill>
                  <a:schemeClr val="accent6">
                    <a:lumMod val="60000"/>
                    <a:lumOff val="40000"/>
                  </a:schemeClr>
                </a:solidFill>
                <a:latin typeface="FiraCode Nerd Font Mono"/>
                <a:ea typeface="FiraCode Nerd Font Mono"/>
              </a:rPr>
              <a:t>    x = </a:t>
            </a:r>
            <a:r>
              <a:rPr lang="en-GB" sz="1600" b="1">
                <a:solidFill>
                  <a:schemeClr val="accent6">
                    <a:lumMod val="60000"/>
                    <a:lumOff val="40000"/>
                  </a:schemeClr>
                </a:solidFill>
                <a:latin typeface="FiraCode Nerd Font Mono"/>
                <a:ea typeface="FiraCode Nerd Font Mono"/>
              </a:rPr>
              <a:t>input$</a:t>
            </a:r>
            <a:r>
              <a:rPr lang="en-US" sz="1600" b="1">
                <a:solidFill>
                  <a:schemeClr val="accent6">
                    <a:lumMod val="60000"/>
                    <a:lumOff val="40000"/>
                  </a:schemeClr>
                </a:solidFill>
                <a:latin typeface="FiraCode Nerd Font Mono"/>
                <a:ea typeface="FiraCode Nerd Font Mono"/>
              </a:rPr>
              <a:t>x_axis</a:t>
            </a:r>
            <a:r>
              <a:rPr lang="en-GB" sz="1600">
                <a:solidFill>
                  <a:schemeClr val="accent6">
                    <a:lumMod val="60000"/>
                    <a:lumOff val="40000"/>
                  </a:schemeClr>
                </a:solidFill>
                <a:latin typeface="FiraCode Nerd Font Mono"/>
                <a:ea typeface="FiraCode Nerd Font Mono"/>
              </a:rPr>
              <a:t>, </a:t>
            </a:r>
            <a:endParaRPr/>
          </a:p>
          <a:p>
            <a:pPr>
              <a:defRPr/>
            </a:pPr>
            <a:r>
              <a:rPr lang="en-GB" sz="1600">
                <a:solidFill>
                  <a:schemeClr val="accent6">
                    <a:lumMod val="60000"/>
                    <a:lumOff val="40000"/>
                  </a:schemeClr>
                </a:solidFill>
                <a:latin typeface="FiraCode Nerd Font Mono"/>
                <a:ea typeface="FiraCode Nerd Font Mono"/>
              </a:rPr>
              <a:t>    y = </a:t>
            </a:r>
            <a:r>
              <a:rPr lang="en-US" sz="1600">
                <a:solidFill>
                  <a:schemeClr val="accent6">
                    <a:lumMod val="60000"/>
                    <a:lumOff val="40000"/>
                  </a:schemeClr>
                </a:solidFill>
                <a:latin typeface="FiraCode Nerd Font Mono"/>
                <a:ea typeface="FiraCode Nerd Font Mono"/>
              </a:rPr>
              <a:t>outcome</a:t>
            </a:r>
            <a:endParaRPr lang="en-GB" sz="1600">
              <a:solidFill>
                <a:schemeClr val="accent6">
                  <a:lumMod val="60000"/>
                  <a:lumOff val="40000"/>
                </a:schemeClr>
              </a:solidFill>
              <a:latin typeface="FiraCode Nerd Font Mono"/>
              <a:ea typeface="FiraCode Nerd Font Mono"/>
            </a:endParaRPr>
          </a:p>
          <a:p>
            <a:pPr>
              <a:defRPr/>
            </a:pPr>
            <a:r>
              <a:rPr lang="en-GB" sz="1600">
                <a:solidFill>
                  <a:schemeClr val="accent6">
                    <a:lumMod val="60000"/>
                    <a:lumOff val="40000"/>
                  </a:schemeClr>
                </a:solidFill>
                <a:latin typeface="FiraCode Nerd Font Mono"/>
                <a:ea typeface="FiraCode Nerd Font Mono"/>
              </a:rPr>
              <a:t>)) + …</a:t>
            </a:r>
            <a:endParaRPr/>
          </a:p>
          <a:p>
            <a:pPr>
              <a:defRPr/>
            </a:pPr>
            <a:endParaRPr lang="en-GB" sz="1600">
              <a:solidFill>
                <a:schemeClr val="accent6">
                  <a:lumMod val="60000"/>
                  <a:lumOff val="40000"/>
                </a:schemeClr>
              </a:solidFill>
              <a:latin typeface="FiraCode Nerd Font Mono"/>
              <a:ea typeface="FiraCode Nerd Font Mono"/>
            </a:endParaRPr>
          </a:p>
          <a:p>
            <a:pPr>
              <a:defRPr/>
            </a:pPr>
            <a:r>
              <a:rPr lang="en-GB" sz="1600">
                <a:solidFill>
                  <a:schemeClr val="accent4">
                    <a:lumMod val="60000"/>
                    <a:lumOff val="40000"/>
                  </a:schemeClr>
                </a:solidFill>
                <a:latin typeface="FiraCode Nerd Font Mono"/>
                <a:ea typeface="FiraCode Nerd Font Mono"/>
              </a:rPr>
              <a:t>ggplot</a:t>
            </a:r>
            <a:r>
              <a:rPr lang="en-GB" sz="1600">
                <a:solidFill>
                  <a:schemeClr val="accent4">
                    <a:lumMod val="60000"/>
                    <a:lumOff val="40000"/>
                  </a:schemeClr>
                </a:solidFill>
                <a:latin typeface="FiraCode Nerd Font Mono"/>
                <a:ea typeface="FiraCode Nerd Font Mono"/>
              </a:rPr>
              <a:t>(</a:t>
            </a:r>
            <a:r>
              <a:rPr lang="en-GB" sz="1600">
                <a:solidFill>
                  <a:schemeClr val="accent4">
                    <a:lumMod val="60000"/>
                    <a:lumOff val="40000"/>
                  </a:schemeClr>
                </a:solidFill>
                <a:latin typeface="FiraCode Nerd Font Mono"/>
                <a:ea typeface="FiraCode Nerd Font Mono"/>
              </a:rPr>
              <a:t>aes</a:t>
            </a:r>
            <a:r>
              <a:rPr lang="en-GB" sz="1600">
                <a:solidFill>
                  <a:schemeClr val="accent4">
                    <a:lumMod val="60000"/>
                    <a:lumOff val="40000"/>
                  </a:schemeClr>
                </a:solidFill>
                <a:latin typeface="FiraCode Nerd Font Mono"/>
                <a:ea typeface="FiraCode Nerd Font Mono"/>
              </a:rPr>
              <a:t>(</a:t>
            </a:r>
            <a:endParaRPr/>
          </a:p>
          <a:p>
            <a:pPr>
              <a:defRPr/>
            </a:pPr>
            <a:r>
              <a:rPr lang="en-GB" sz="1600">
                <a:solidFill>
                  <a:schemeClr val="accent4">
                    <a:lumMod val="60000"/>
                    <a:lumOff val="40000"/>
                  </a:schemeClr>
                </a:solidFill>
                <a:latin typeface="FiraCode Nerd Font Mono"/>
                <a:ea typeface="FiraCode Nerd Font Mono"/>
              </a:rPr>
              <a:t>    x = </a:t>
            </a:r>
            <a:r>
              <a:rPr lang="en-GB" sz="1600" b="1">
                <a:solidFill>
                  <a:schemeClr val="accent4">
                    <a:lumMod val="60000"/>
                    <a:lumOff val="40000"/>
                  </a:schemeClr>
                </a:solidFill>
                <a:latin typeface="FiraCode Nerd Font Mono"/>
                <a:ea typeface="FiraCode Nerd Font Mono"/>
              </a:rPr>
              <a:t>.data[[</a:t>
            </a:r>
            <a:r>
              <a:rPr lang="en-GB" sz="1600" b="1">
                <a:solidFill>
                  <a:schemeClr val="accent4">
                    <a:lumMod val="60000"/>
                    <a:lumOff val="40000"/>
                  </a:schemeClr>
                </a:solidFill>
                <a:latin typeface="FiraCode Nerd Font Mono"/>
                <a:ea typeface="FiraCode Nerd Font Mono"/>
              </a:rPr>
              <a:t>input$</a:t>
            </a:r>
            <a:r>
              <a:rPr lang="en-US" sz="1600" b="1">
                <a:solidFill>
                  <a:schemeClr val="accent4">
                    <a:lumMod val="60000"/>
                    <a:lumOff val="40000"/>
                  </a:schemeClr>
                </a:solidFill>
                <a:latin typeface="FiraCode Nerd Font Mono"/>
                <a:ea typeface="FiraCode Nerd Font Mono"/>
              </a:rPr>
              <a:t>x_axis</a:t>
            </a:r>
            <a:r>
              <a:rPr lang="en-GB" sz="1600" b="1">
                <a:solidFill>
                  <a:schemeClr val="accent4">
                    <a:lumMod val="60000"/>
                    <a:lumOff val="40000"/>
                  </a:schemeClr>
                </a:solidFill>
                <a:latin typeface="FiraCode Nerd Font Mono"/>
                <a:ea typeface="FiraCode Nerd Font Mono"/>
              </a:rPr>
              <a:t>]]</a:t>
            </a:r>
            <a:r>
              <a:rPr lang="en-GB" sz="1600">
                <a:solidFill>
                  <a:schemeClr val="accent4">
                    <a:lumMod val="60000"/>
                    <a:lumOff val="40000"/>
                  </a:schemeClr>
                </a:solidFill>
                <a:latin typeface="FiraCode Nerd Font Mono"/>
                <a:ea typeface="FiraCode Nerd Font Mono"/>
              </a:rPr>
              <a:t>, </a:t>
            </a:r>
            <a:endParaRPr/>
          </a:p>
          <a:p>
            <a:pPr>
              <a:defRPr/>
            </a:pPr>
            <a:r>
              <a:rPr lang="en-GB" sz="1600">
                <a:solidFill>
                  <a:schemeClr val="accent4">
                    <a:lumMod val="60000"/>
                    <a:lumOff val="40000"/>
                  </a:schemeClr>
                </a:solidFill>
                <a:latin typeface="FiraCode Nerd Font Mono"/>
                <a:ea typeface="FiraCode Nerd Font Mono"/>
              </a:rPr>
              <a:t>    y = </a:t>
            </a:r>
            <a:r>
              <a:rPr lang="en-US" sz="1600">
                <a:solidFill>
                  <a:schemeClr val="accent4">
                    <a:lumMod val="60000"/>
                    <a:lumOff val="40000"/>
                  </a:schemeClr>
                </a:solidFill>
                <a:latin typeface="FiraCode Nerd Font Mono"/>
                <a:ea typeface="FiraCode Nerd Font Mono"/>
              </a:rPr>
              <a:t>outcome</a:t>
            </a:r>
            <a:endParaRPr lang="en-GB" sz="1600">
              <a:solidFill>
                <a:schemeClr val="accent4">
                  <a:lumMod val="60000"/>
                  <a:lumOff val="40000"/>
                </a:schemeClr>
              </a:solidFill>
              <a:latin typeface="FiraCode Nerd Font Mono"/>
              <a:ea typeface="FiraCode Nerd Font Mono"/>
            </a:endParaRPr>
          </a:p>
          <a:p>
            <a:pPr>
              <a:defRPr/>
            </a:pPr>
            <a:r>
              <a:rPr lang="en-GB" sz="1600">
                <a:solidFill>
                  <a:schemeClr val="accent4">
                    <a:lumMod val="60000"/>
                    <a:lumOff val="40000"/>
                  </a:schemeClr>
                </a:solidFill>
                <a:latin typeface="FiraCode Nerd Font Mono"/>
                <a:ea typeface="FiraCode Nerd Font Mono"/>
              </a:rPr>
              <a:t>)) +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48717250" name="Title 1"/>
          <p:cNvSpPr>
            <a:spLocks noGrp="1"/>
          </p:cNvSpPr>
          <p:nvPr>
            <p:ph type="title"/>
          </p:nvPr>
        </p:nvSpPr>
        <p:spPr bwMode="auto"/>
        <p:txBody>
          <a:bodyPr/>
          <a:lstStyle/>
          <a:p>
            <a:pPr>
              <a:defRPr/>
            </a:pPr>
            <a:r>
              <a:rPr lang="en-GB" sz="2000"/>
              <a:t>apps are not scripts</a:t>
            </a:r>
            <a:br>
              <a:rPr lang="en-GB"/>
            </a:br>
            <a:r>
              <a:rPr lang="en-GB"/>
              <a:t>meta-PROGRAMMING</a:t>
            </a:r>
            <a:endParaRPr lang="nl-NL"/>
          </a:p>
        </p:txBody>
      </p:sp>
      <p:sp>
        <p:nvSpPr>
          <p:cNvPr id="45496433" name="Content Placeholder 2"/>
          <p:cNvSpPr>
            <a:spLocks noGrp="1"/>
          </p:cNvSpPr>
          <p:nvPr>
            <p:ph sz="half" idx="1"/>
          </p:nvPr>
        </p:nvSpPr>
        <p:spPr bwMode="auto">
          <a:xfrm>
            <a:off x="1265582" y="1825624"/>
            <a:ext cx="5691801" cy="4105155"/>
          </a:xfrm>
        </p:spPr>
        <p:txBody>
          <a:bodyPr/>
          <a:lstStyle/>
          <a:p>
            <a:pPr lvl="1">
              <a:defRPr/>
            </a:pPr>
            <a:r>
              <a:rPr/>
              <a:t>Modern approach</a:t>
            </a:r>
            <a:endParaRPr/>
          </a:p>
          <a:p>
            <a:pPr lvl="2">
              <a:defRPr/>
            </a:pPr>
            <a:r>
              <a:rPr/>
              <a:t>Inputs are </a:t>
            </a:r>
            <a:r>
              <a:rPr>
                <a:solidFill>
                  <a:schemeClr val="accent1"/>
                </a:solidFill>
              </a:rPr>
              <a:t>symbols</a:t>
            </a:r>
            <a:r>
              <a:rPr/>
              <a:t>, not </a:t>
            </a:r>
            <a:r>
              <a:rPr>
                <a:solidFill>
                  <a:schemeClr val="accent1"/>
                </a:solidFill>
              </a:rPr>
              <a:t>characters</a:t>
            </a:r>
            <a:endParaRPr/>
          </a:p>
          <a:p>
            <a:pPr lvl="2">
              <a:defRPr/>
            </a:pPr>
            <a:r>
              <a:rPr/>
              <a:t>Still meta, just different</a:t>
            </a:r>
            <a:br>
              <a:rPr/>
            </a:br>
            <a:r>
              <a:rPr sz="1200"/>
              <a:t>And better, for technical reasons we won’t go into here.</a:t>
            </a:r>
            <a:endParaRPr/>
          </a:p>
          <a:p>
            <a:pPr lvl="1">
              <a:defRPr/>
            </a:pPr>
            <a:endParaRPr lang="nl-NL"/>
          </a:p>
          <a:p>
            <a:pPr lvl="1">
              <a:defRPr/>
            </a:pPr>
            <a:endParaRPr lang="nl-NL"/>
          </a:p>
          <a:p>
            <a:pPr marL="0" indent="0">
              <a:buNone/>
              <a:defRPr/>
            </a:pPr>
            <a:endParaRPr lang="nl-NL"/>
          </a:p>
        </p:txBody>
      </p:sp>
      <p:sp>
        <p:nvSpPr>
          <p:cNvPr id="1146435041" name="Footer Placeholder 4"/>
          <p:cNvSpPr>
            <a:spLocks noGrp="1"/>
          </p:cNvSpPr>
          <p:nvPr>
            <p:ph type="ftr" sz="quarter" idx="11"/>
          </p:nvPr>
        </p:nvSpPr>
        <p:spPr bwMode="auto"/>
        <p:txBody>
          <a:bodyPr/>
          <a:lstStyle/>
          <a:p>
            <a:pPr>
              <a:defRPr/>
            </a:pPr>
            <a:r>
              <a:rPr/>
              <a:t>2026-10-12, Karel Kroeze, BDSi. Shiny Workshop.</a:t>
            </a:r>
            <a:endParaRPr/>
          </a:p>
        </p:txBody>
      </p:sp>
      <p:sp>
        <p:nvSpPr>
          <p:cNvPr id="871262137" name="Content Placeholder 2"/>
          <p:cNvSpPr txBox="1"/>
          <p:nvPr/>
        </p:nvSpPr>
        <p:spPr bwMode="auto">
          <a:xfrm>
            <a:off x="7053072" y="1825624"/>
            <a:ext cx="4703726" cy="4105155"/>
          </a:xfrm>
          <a:prstGeom prst="rect">
            <a:avLst/>
          </a:prstGeom>
          <a:solidFill>
            <a:schemeClr val="tx1">
              <a:lumMod val="85000"/>
              <a:lumOff val="15000"/>
              <a:alpha val="68000"/>
            </a:schemeClr>
          </a:solidFill>
        </p:spPr>
        <p:txBody>
          <a:bodyPr/>
          <a:lstStyle>
            <a:lvl1pPr marL="228600" indent="-228600" algn="l" defTabSz="914400" rtl="0">
              <a:lnSpc>
                <a:spcPct val="90000"/>
              </a:lnSpc>
              <a:spcBef>
                <a:spcPts val="999"/>
              </a:spcBef>
              <a:buFont typeface="Arial"/>
              <a:buChar char="•"/>
              <a:defRPr sz="2800">
                <a:solidFill>
                  <a:schemeClr val="bg1"/>
                </a:solidFill>
                <a:latin typeface="+mn-lt"/>
                <a:ea typeface="+mn-ea"/>
                <a:cs typeface="+mn-cs"/>
              </a:defRPr>
            </a:lvl1pPr>
            <a:lvl2pPr marL="685800" indent="-228600" algn="l" defTabSz="914400" rtl="0">
              <a:lnSpc>
                <a:spcPct val="90000"/>
              </a:lnSpc>
              <a:spcBef>
                <a:spcPts val="499"/>
              </a:spcBef>
              <a:buFont typeface="Arial"/>
              <a:buChar char="•"/>
              <a:defRPr sz="2400">
                <a:solidFill>
                  <a:schemeClr val="bg1"/>
                </a:solidFill>
                <a:latin typeface="+mn-lt"/>
                <a:ea typeface="+mn-ea"/>
                <a:cs typeface="+mn-cs"/>
              </a:defRPr>
            </a:lvl2pPr>
            <a:lvl3pPr marL="1143000" indent="-228600" algn="l" defTabSz="914400" rtl="0">
              <a:lnSpc>
                <a:spcPct val="90000"/>
              </a:lnSpc>
              <a:spcBef>
                <a:spcPts val="499"/>
              </a:spcBef>
              <a:buFont typeface="Arial"/>
              <a:buChar char="•"/>
              <a:defRPr sz="2000">
                <a:solidFill>
                  <a:schemeClr val="bg1"/>
                </a:solidFill>
                <a:latin typeface="+mn-lt"/>
                <a:ea typeface="+mn-ea"/>
                <a:cs typeface="+mn-cs"/>
              </a:defRPr>
            </a:lvl3pPr>
            <a:lvl4pPr marL="1600200" indent="-228600" algn="l" defTabSz="914400" rtl="0">
              <a:lnSpc>
                <a:spcPct val="90000"/>
              </a:lnSpc>
              <a:spcBef>
                <a:spcPts val="499"/>
              </a:spcBef>
              <a:buFont typeface="Arial"/>
              <a:buChar char="•"/>
              <a:defRPr sz="1800">
                <a:solidFill>
                  <a:schemeClr val="bg1"/>
                </a:solidFill>
                <a:latin typeface="+mn-lt"/>
                <a:ea typeface="+mn-ea"/>
                <a:cs typeface="+mn-cs"/>
              </a:defRPr>
            </a:lvl4pPr>
            <a:lvl5pPr marL="2057400" indent="-228600" algn="l" defTabSz="914400" rtl="0">
              <a:lnSpc>
                <a:spcPct val="90000"/>
              </a:lnSpc>
              <a:spcBef>
                <a:spcPts val="499"/>
              </a:spcBef>
              <a:buFont typeface="Arial"/>
              <a:buChar char="•"/>
              <a:defRPr sz="1800">
                <a:solidFill>
                  <a:schemeClr val="bg1"/>
                </a:solidFill>
                <a:latin typeface="+mn-lt"/>
                <a:ea typeface="+mn-ea"/>
                <a:cs typeface="+mn-cs"/>
              </a:defRPr>
            </a:lvl5pPr>
            <a:lvl6pPr marL="2514599" indent="-228600" algn="l" defTabSz="914400" rtl="0">
              <a:lnSpc>
                <a:spcPct val="90000"/>
              </a:lnSpc>
              <a:spcBef>
                <a:spcPts val="499"/>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499"/>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499"/>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499"/>
              </a:spcBef>
              <a:buFont typeface="Arial"/>
              <a:buChar char="•"/>
              <a:defRPr sz="1800">
                <a:solidFill>
                  <a:schemeClr val="tx1"/>
                </a:solidFill>
                <a:latin typeface="+mn-lt"/>
                <a:ea typeface="+mn-ea"/>
                <a:cs typeface="+mn-cs"/>
              </a:defRPr>
            </a:lvl9pPr>
          </a:lstStyle>
          <a:p>
            <a:pPr marL="0" indent="0">
              <a:buFont typeface="Arial"/>
              <a:buNone/>
              <a:defRPr/>
            </a:pPr>
            <a:endParaRPr lang="nl-NL"/>
          </a:p>
        </p:txBody>
      </p:sp>
      <p:sp>
        <p:nvSpPr>
          <p:cNvPr id="1651923931" name="TextBox 9"/>
          <p:cNvSpPr txBox="1"/>
          <p:nvPr/>
        </p:nvSpPr>
        <p:spPr bwMode="auto">
          <a:xfrm>
            <a:off x="7120127" y="1914143"/>
            <a:ext cx="4587239" cy="1310999"/>
          </a:xfrm>
          <a:prstGeom prst="rect">
            <a:avLst/>
          </a:prstGeom>
          <a:noFill/>
        </p:spPr>
        <p:txBody>
          <a:bodyPr wrap="square" rtlCol="0">
            <a:spAutoFit/>
          </a:bodyPr>
          <a:lstStyle/>
          <a:p>
            <a:pPr>
              <a:defRPr/>
            </a:pPr>
            <a:r>
              <a:rPr lang="en-US" sz="1600">
                <a:solidFill>
                  <a:schemeClr val="bg1"/>
                </a:solidFill>
                <a:latin typeface="FiraCode Nerd Font Mono"/>
                <a:ea typeface="FiraCode Nerd Font Mono"/>
              </a:rPr>
              <a:t>varSelectInput(</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    “x_axis”, </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    “Choose x-axis”, </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    data</a:t>
            </a:r>
            <a:endParaRPr lang="en-US" sz="1600">
              <a:solidFill>
                <a:schemeClr val="bg1"/>
              </a:solidFill>
              <a:latin typeface="FiraCode Nerd Font Mono"/>
              <a:ea typeface="FiraCode Nerd Font Mono"/>
            </a:endParaRPr>
          </a:p>
          <a:p>
            <a:pPr>
              <a:defRPr/>
            </a:pPr>
            <a:r>
              <a:rPr lang="en-US" sz="1600">
                <a:solidFill>
                  <a:schemeClr val="bg1"/>
                </a:solidFill>
                <a:latin typeface="FiraCode Nerd Font Mono"/>
                <a:ea typeface="FiraCode Nerd Font Mono"/>
              </a:rPr>
              <a:t>)</a:t>
            </a:r>
            <a:endParaRPr/>
          </a:p>
        </p:txBody>
      </p:sp>
      <p:sp>
        <p:nvSpPr>
          <p:cNvPr id="2034001661" name="TextBox 10"/>
          <p:cNvSpPr txBox="1"/>
          <p:nvPr/>
        </p:nvSpPr>
        <p:spPr bwMode="auto">
          <a:xfrm>
            <a:off x="7120127" y="3428998"/>
            <a:ext cx="4558439" cy="2286360"/>
          </a:xfrm>
          <a:prstGeom prst="rect">
            <a:avLst/>
          </a:prstGeom>
          <a:noFill/>
        </p:spPr>
        <p:txBody>
          <a:bodyPr wrap="square" rtlCol="0">
            <a:spAutoFit/>
          </a:bodyPr>
          <a:lstStyle/>
          <a:p>
            <a:pPr>
              <a:defRPr/>
            </a:pPr>
            <a:r>
              <a:rPr lang="en-GB" sz="1600">
                <a:solidFill>
                  <a:schemeClr val="accent6">
                    <a:lumMod val="60000"/>
                    <a:lumOff val="40000"/>
                  </a:schemeClr>
                </a:solidFill>
                <a:latin typeface="FiraCode Nerd Font Mono"/>
                <a:ea typeface="FiraCode Nerd Font Mono"/>
              </a:rPr>
              <a:t>ggplot</a:t>
            </a:r>
            <a:r>
              <a:rPr lang="en-GB" sz="1600">
                <a:solidFill>
                  <a:schemeClr val="accent6">
                    <a:lumMod val="60000"/>
                    <a:lumOff val="40000"/>
                  </a:schemeClr>
                </a:solidFill>
                <a:latin typeface="FiraCode Nerd Font Mono"/>
                <a:ea typeface="FiraCode Nerd Font Mono"/>
              </a:rPr>
              <a:t>(</a:t>
            </a:r>
            <a:r>
              <a:rPr lang="en-GB" sz="1600">
                <a:solidFill>
                  <a:schemeClr val="accent6">
                    <a:lumMod val="60000"/>
                    <a:lumOff val="40000"/>
                  </a:schemeClr>
                </a:solidFill>
                <a:latin typeface="FiraCode Nerd Font Mono"/>
                <a:ea typeface="FiraCode Nerd Font Mono"/>
              </a:rPr>
              <a:t>aes</a:t>
            </a:r>
            <a:r>
              <a:rPr lang="en-GB" sz="1600">
                <a:solidFill>
                  <a:schemeClr val="accent6">
                    <a:lumMod val="60000"/>
                    <a:lumOff val="40000"/>
                  </a:schemeClr>
                </a:solidFill>
                <a:latin typeface="FiraCode Nerd Font Mono"/>
                <a:ea typeface="FiraCode Nerd Font Mono"/>
              </a:rPr>
              <a:t>(</a:t>
            </a:r>
            <a:endParaRPr/>
          </a:p>
          <a:p>
            <a:pPr>
              <a:defRPr/>
            </a:pPr>
            <a:r>
              <a:rPr lang="en-GB" sz="1600">
                <a:solidFill>
                  <a:schemeClr val="accent6">
                    <a:lumMod val="60000"/>
                    <a:lumOff val="40000"/>
                  </a:schemeClr>
                </a:solidFill>
                <a:latin typeface="FiraCode Nerd Font Mono"/>
                <a:ea typeface="FiraCode Nerd Font Mono"/>
              </a:rPr>
              <a:t>    x = </a:t>
            </a:r>
            <a:r>
              <a:rPr lang="en-GB" sz="1600" b="1">
                <a:solidFill>
                  <a:schemeClr val="accent6">
                    <a:lumMod val="60000"/>
                    <a:lumOff val="40000"/>
                  </a:schemeClr>
                </a:solidFill>
                <a:latin typeface="FiraCode Nerd Font Mono"/>
                <a:ea typeface="FiraCode Nerd Font Mono"/>
              </a:rPr>
              <a:t>input$</a:t>
            </a:r>
            <a:r>
              <a:rPr lang="en-US" sz="1600" b="1">
                <a:solidFill>
                  <a:schemeClr val="accent6">
                    <a:lumMod val="60000"/>
                    <a:lumOff val="40000"/>
                  </a:schemeClr>
                </a:solidFill>
                <a:latin typeface="FiraCode Nerd Font Mono"/>
                <a:ea typeface="FiraCode Nerd Font Mono"/>
              </a:rPr>
              <a:t>x_axis</a:t>
            </a:r>
            <a:r>
              <a:rPr lang="en-GB" sz="1600">
                <a:solidFill>
                  <a:schemeClr val="accent6">
                    <a:lumMod val="60000"/>
                    <a:lumOff val="40000"/>
                  </a:schemeClr>
                </a:solidFill>
                <a:latin typeface="FiraCode Nerd Font Mono"/>
                <a:ea typeface="FiraCode Nerd Font Mono"/>
              </a:rPr>
              <a:t>, </a:t>
            </a:r>
            <a:endParaRPr/>
          </a:p>
          <a:p>
            <a:pPr>
              <a:defRPr/>
            </a:pPr>
            <a:r>
              <a:rPr lang="en-GB" sz="1600">
                <a:solidFill>
                  <a:schemeClr val="accent6">
                    <a:lumMod val="60000"/>
                    <a:lumOff val="40000"/>
                  </a:schemeClr>
                </a:solidFill>
                <a:latin typeface="FiraCode Nerd Font Mono"/>
                <a:ea typeface="FiraCode Nerd Font Mono"/>
              </a:rPr>
              <a:t>    y = </a:t>
            </a:r>
            <a:r>
              <a:rPr lang="en-US" sz="1600">
                <a:solidFill>
                  <a:schemeClr val="accent6">
                    <a:lumMod val="60000"/>
                    <a:lumOff val="40000"/>
                  </a:schemeClr>
                </a:solidFill>
                <a:latin typeface="FiraCode Nerd Font Mono"/>
                <a:ea typeface="FiraCode Nerd Font Mono"/>
              </a:rPr>
              <a:t>outcome</a:t>
            </a:r>
            <a:endParaRPr lang="en-GB" sz="1600">
              <a:solidFill>
                <a:schemeClr val="accent6">
                  <a:lumMod val="60000"/>
                  <a:lumOff val="40000"/>
                </a:schemeClr>
              </a:solidFill>
              <a:latin typeface="FiraCode Nerd Font Mono"/>
              <a:ea typeface="FiraCode Nerd Font Mono"/>
            </a:endParaRPr>
          </a:p>
          <a:p>
            <a:pPr>
              <a:defRPr/>
            </a:pPr>
            <a:r>
              <a:rPr lang="en-GB" sz="1600">
                <a:solidFill>
                  <a:schemeClr val="accent6">
                    <a:lumMod val="60000"/>
                    <a:lumOff val="40000"/>
                  </a:schemeClr>
                </a:solidFill>
                <a:latin typeface="FiraCode Nerd Font Mono"/>
                <a:ea typeface="FiraCode Nerd Font Mono"/>
              </a:rPr>
              <a:t>)) + …</a:t>
            </a:r>
            <a:endParaRPr/>
          </a:p>
          <a:p>
            <a:pPr>
              <a:defRPr/>
            </a:pPr>
            <a:endParaRPr lang="en-GB" sz="1600">
              <a:solidFill>
                <a:schemeClr val="accent6">
                  <a:lumMod val="60000"/>
                  <a:lumOff val="40000"/>
                </a:schemeClr>
              </a:solidFill>
              <a:latin typeface="FiraCode Nerd Font Mono"/>
              <a:ea typeface="FiraCode Nerd Font Mono"/>
            </a:endParaRPr>
          </a:p>
          <a:p>
            <a:pPr>
              <a:defRPr/>
            </a:pPr>
            <a:r>
              <a:rPr lang="en-GB" sz="1600">
                <a:solidFill>
                  <a:schemeClr val="accent4">
                    <a:lumMod val="60000"/>
                    <a:lumOff val="40000"/>
                  </a:schemeClr>
                </a:solidFill>
                <a:latin typeface="FiraCode Nerd Font Mono"/>
                <a:ea typeface="FiraCode Nerd Font Mono"/>
              </a:rPr>
              <a:t>ggplot</a:t>
            </a:r>
            <a:r>
              <a:rPr lang="en-GB" sz="1600">
                <a:solidFill>
                  <a:schemeClr val="accent4">
                    <a:lumMod val="60000"/>
                    <a:lumOff val="40000"/>
                  </a:schemeClr>
                </a:solidFill>
                <a:latin typeface="FiraCode Nerd Font Mono"/>
                <a:ea typeface="FiraCode Nerd Font Mono"/>
              </a:rPr>
              <a:t>(</a:t>
            </a:r>
            <a:r>
              <a:rPr lang="en-GB" sz="1600">
                <a:solidFill>
                  <a:schemeClr val="accent4">
                    <a:lumMod val="60000"/>
                    <a:lumOff val="40000"/>
                  </a:schemeClr>
                </a:solidFill>
                <a:latin typeface="FiraCode Nerd Font Mono"/>
                <a:ea typeface="FiraCode Nerd Font Mono"/>
              </a:rPr>
              <a:t>aes</a:t>
            </a:r>
            <a:r>
              <a:rPr lang="en-GB" sz="1600">
                <a:solidFill>
                  <a:schemeClr val="accent4">
                    <a:lumMod val="60000"/>
                    <a:lumOff val="40000"/>
                  </a:schemeClr>
                </a:solidFill>
                <a:latin typeface="FiraCode Nerd Font Mono"/>
                <a:ea typeface="FiraCode Nerd Font Mono"/>
              </a:rPr>
              <a:t>(</a:t>
            </a:r>
            <a:endParaRPr/>
          </a:p>
          <a:p>
            <a:pPr>
              <a:defRPr/>
            </a:pPr>
            <a:r>
              <a:rPr lang="en-GB" sz="1600">
                <a:solidFill>
                  <a:schemeClr val="accent4">
                    <a:lumMod val="60000"/>
                    <a:lumOff val="40000"/>
                  </a:schemeClr>
                </a:solidFill>
                <a:latin typeface="FiraCode Nerd Font Mono"/>
                <a:ea typeface="FiraCode Nerd Font Mono"/>
              </a:rPr>
              <a:t>    x = </a:t>
            </a:r>
            <a:r>
              <a:rPr lang="en-US" sz="1600">
                <a:solidFill>
                  <a:schemeClr val="accent4">
                    <a:lumMod val="60000"/>
                    <a:lumOff val="40000"/>
                  </a:schemeClr>
                </a:solidFill>
                <a:latin typeface="FiraCode Nerd Font Mono"/>
                <a:ea typeface="FiraCode Nerd Font Mono"/>
              </a:rPr>
              <a:t>!!</a:t>
            </a:r>
            <a:r>
              <a:rPr lang="en-GB" sz="1600" b="1">
                <a:solidFill>
                  <a:schemeClr val="accent4">
                    <a:lumMod val="60000"/>
                    <a:lumOff val="40000"/>
                  </a:schemeClr>
                </a:solidFill>
                <a:latin typeface="FiraCode Nerd Font Mono"/>
                <a:ea typeface="FiraCode Nerd Font Mono"/>
              </a:rPr>
              <a:t>input$</a:t>
            </a:r>
            <a:r>
              <a:rPr lang="en-US" sz="1600" b="1">
                <a:solidFill>
                  <a:schemeClr val="accent4">
                    <a:lumMod val="60000"/>
                    <a:lumOff val="40000"/>
                  </a:schemeClr>
                </a:solidFill>
                <a:latin typeface="FiraCode Nerd Font Mono"/>
                <a:ea typeface="FiraCode Nerd Font Mono"/>
              </a:rPr>
              <a:t>x_axis</a:t>
            </a:r>
            <a:r>
              <a:rPr lang="en-GB" sz="1600">
                <a:solidFill>
                  <a:schemeClr val="accent4">
                    <a:lumMod val="60000"/>
                    <a:lumOff val="40000"/>
                  </a:schemeClr>
                </a:solidFill>
                <a:latin typeface="FiraCode Nerd Font Mono"/>
                <a:ea typeface="FiraCode Nerd Font Mono"/>
              </a:rPr>
              <a:t>, </a:t>
            </a:r>
            <a:endParaRPr/>
          </a:p>
          <a:p>
            <a:pPr>
              <a:defRPr/>
            </a:pPr>
            <a:r>
              <a:rPr lang="en-GB" sz="1600">
                <a:solidFill>
                  <a:schemeClr val="accent4">
                    <a:lumMod val="60000"/>
                    <a:lumOff val="40000"/>
                  </a:schemeClr>
                </a:solidFill>
                <a:latin typeface="FiraCode Nerd Font Mono"/>
                <a:ea typeface="FiraCode Nerd Font Mono"/>
              </a:rPr>
              <a:t>    y = </a:t>
            </a:r>
            <a:r>
              <a:rPr lang="en-US" sz="1600">
                <a:solidFill>
                  <a:schemeClr val="accent4">
                    <a:lumMod val="60000"/>
                    <a:lumOff val="40000"/>
                  </a:schemeClr>
                </a:solidFill>
                <a:latin typeface="FiraCode Nerd Font Mono"/>
                <a:ea typeface="FiraCode Nerd Font Mono"/>
              </a:rPr>
              <a:t>outcome</a:t>
            </a:r>
            <a:endParaRPr lang="en-GB" sz="1600">
              <a:solidFill>
                <a:schemeClr val="accent4">
                  <a:lumMod val="60000"/>
                  <a:lumOff val="40000"/>
                </a:schemeClr>
              </a:solidFill>
              <a:latin typeface="FiraCode Nerd Font Mono"/>
              <a:ea typeface="FiraCode Nerd Font Mono"/>
            </a:endParaRPr>
          </a:p>
          <a:p>
            <a:pPr>
              <a:defRPr/>
            </a:pPr>
            <a:r>
              <a:rPr lang="en-GB" sz="1600">
                <a:solidFill>
                  <a:schemeClr val="accent4">
                    <a:lumMod val="60000"/>
                    <a:lumOff val="40000"/>
                  </a:schemeClr>
                </a:solidFill>
                <a:latin typeface="FiraCode Nerd Font Mono"/>
                <a:ea typeface="FiraCode Nerd Font Mono"/>
              </a:rPr>
              <a:t>)) + …</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_rels/theme3.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UTwente - BDSi">
      <a:dk1>
        <a:srgbClr val="000000"/>
      </a:dk1>
      <a:lt1>
        <a:sysClr val="window" lastClr="FFFFFF"/>
      </a:lt1>
      <a:dk2>
        <a:srgbClr val="262626"/>
      </a:dk2>
      <a:lt2>
        <a:srgbClr val="F2F2F2"/>
      </a:lt2>
      <a:accent1>
        <a:srgbClr val="009CC3"/>
      </a:accent1>
      <a:accent2>
        <a:srgbClr val="ED007E"/>
      </a:accent2>
      <a:accent3>
        <a:srgbClr val="F1791A"/>
      </a:accent3>
      <a:accent4>
        <a:srgbClr val="00A73D"/>
      </a:accent4>
      <a:accent5>
        <a:srgbClr val="FFE50D"/>
      </a:accent5>
      <a:accent6>
        <a:srgbClr val="E9002F"/>
      </a:accent6>
      <a:hlink>
        <a:srgbClr val="009CC3"/>
      </a:hlink>
      <a:folHlink>
        <a:srgbClr val="009CC3"/>
      </a:folHlink>
    </a:clrScheme>
    <a:fontScheme name="Custom 1">
      <a:majorFont>
        <a:latin typeface="Arial Narrow"/>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1_Office Theme">
  <a:themeElements>
    <a:clrScheme name="UTwente - BDSi">
      <a:dk1>
        <a:srgbClr val="000000"/>
      </a:dk1>
      <a:lt1>
        <a:sysClr val="window" lastClr="FFFFFF"/>
      </a:lt1>
      <a:dk2>
        <a:srgbClr val="262626"/>
      </a:dk2>
      <a:lt2>
        <a:srgbClr val="F2F2F2"/>
      </a:lt2>
      <a:accent1>
        <a:srgbClr val="009CC3"/>
      </a:accent1>
      <a:accent2>
        <a:srgbClr val="ED007E"/>
      </a:accent2>
      <a:accent3>
        <a:srgbClr val="F1791A"/>
      </a:accent3>
      <a:accent4>
        <a:srgbClr val="00A73D"/>
      </a:accent4>
      <a:accent5>
        <a:srgbClr val="FFE50D"/>
      </a:accent5>
      <a:accent6>
        <a:srgbClr val="E9002F"/>
      </a:accent6>
      <a:hlink>
        <a:srgbClr val="009CC3"/>
      </a:hlink>
      <a:folHlink>
        <a:srgbClr val="009CC3"/>
      </a:folHlink>
    </a:clrScheme>
    <a:fontScheme name="Custom 1">
      <a:majorFont>
        <a:latin typeface="Arial Narrow"/>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3.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customXml/_rels/item1.xml.rels><?xml version="1.0" encoding="UTF-8" standalone="yes"?><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6CAEDC347B3154C9924F629E21BEB80" ma:contentTypeVersion="10" ma:contentTypeDescription="Create a new document." ma:contentTypeScope="" ma:versionID="9747ca1e1dad1116bfb6c4900c6f1e50">
  <xsd:schema xmlns:xsd="http://www.w3.org/2001/XMLSchema" xmlns:xs="http://www.w3.org/2001/XMLSchema" xmlns:p="http://schemas.microsoft.com/office/2006/metadata/properties" xmlns:ns2="2624be63-ebf9-4739-94ef-32159122bcb8" xmlns:ns3="b06909d7-6895-4fb7-bf6a-f9b4b7585c62" targetNamespace="http://schemas.microsoft.com/office/2006/metadata/properties" ma:root="true" ma:fieldsID="a476e8526bb1765c594a6798734553de" ns2:_="" ns3:_="">
    <xsd:import namespace="2624be63-ebf9-4739-94ef-32159122bcb8"/>
    <xsd:import namespace="b06909d7-6895-4fb7-bf6a-f9b4b7585c6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24be63-ebf9-4739-94ef-32159122bc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6909d7-6895-4fb7-bf6a-f9b4b7585c62"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This value indicates the number of saves or revisions. The application is responsible for updating this value after each revision.</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B6845E-C4E0-4387-B9A2-29465BA01C1A">
  <ds:schemaRefs>
    <ds:schemaRef ds:uri="http://purl.org/dc/terms/"/>
    <ds:schemaRef ds:uri="http://www.w3.org/XML/1998/namespace"/>
    <ds:schemaRef ds:uri="http://purl.org/dc/dcmitype/"/>
    <ds:schemaRef ds:uri="http://schemas.microsoft.com/office/infopath/2007/PartnerControls"/>
    <ds:schemaRef ds:uri="http://schemas.microsoft.com/office/2006/metadata/properties"/>
    <ds:schemaRef ds:uri="2624be63-ebf9-4739-94ef-32159122bcb8"/>
    <ds:schemaRef ds:uri="http://purl.org/dc/elements/1.1/"/>
    <ds:schemaRef ds:uri="http://schemas.openxmlformats.org/package/2006/metadata/core-properties"/>
    <ds:schemaRef ds:uri="http://schemas.microsoft.com/office/2006/documentManagement/types"/>
    <ds:schemaRef ds:uri="b06909d7-6895-4fb7-bf6a-f9b4b7585c62"/>
    <ds:schemaRef ds:uri="http://www.w3.org/2001/XMLSchema-instance"/>
  </ds:schemaRefs>
</ds:datastoreItem>
</file>

<file path=customXml/itemProps2.xml><?xml version="1.0" encoding="utf-8"?>
<ds:datastoreItem xmlns:ds="http://schemas.openxmlformats.org/officeDocument/2006/customXml" ds:itemID="B7433C36-043F-46C5-A8F7-2BAFAB8690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24be63-ebf9-4739-94ef-32159122bcb8"/>
    <ds:schemaRef ds:uri="b06909d7-6895-4fb7-bf6a-f9b4b7585c6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 ds:uri="http://www.w3.org/2001/XMLSchema-instance"/>
  </ds:schemaRefs>
</ds:datastoreItem>
</file>

<file path=customXml/itemProps3.xml><?xml version="1.0" encoding="utf-8"?>
<ds:datastoreItem xmlns:ds="http://schemas.openxmlformats.org/officeDocument/2006/customXml" ds:itemID="08B165A8-AC64-4E2D-94ED-9DAA48721EF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0</Words>
  <Application>ONLYOFFICE/9.4.0.129</Application>
  <PresentationFormat>On-screen Show (4:3)</PresentationFormat>
  <Paragraphs>0</Paragraphs>
  <Slides>24</Slides>
  <Notes>24</Notes>
  <HiddenSlides>0</HiddenSlides>
  <MMClips>2</MMClips>
  <ScaleCrop>0</ScaleCrop>
  <HeadingPairs>
    <vt:vector size="4" baseType="variant">
      <vt:variant>
        <vt:lpstr>Theme</vt:lpstr>
      </vt:variant>
      <vt:variant>
        <vt:i4>2</vt:i4>
      </vt:variant>
      <vt:variant>
        <vt:lpstr>Slide Titles</vt:lpstr>
      </vt:variant>
      <vt:variant>
        <vt:i4>24</vt:i4>
      </vt:variant>
    </vt:vector>
  </HeadingPairs>
  <TitlesOfParts>
    <vt:vector size="26" baseType="lpstr">
      <vt:lpstr>Theme 1</vt:lpstr>
      <vt:lpstr>Theme 2</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Kroeze, K.A. (BMS)</dc:creator>
  <cp:lastModifiedBy/>
  <cp:revision>23</cp:revision>
  <dcterms:created xsi:type="dcterms:W3CDTF">2021-09-17T15:18:40Z</dcterms:created>
  <dcterms:modified xsi:type="dcterms:W3CDTF">2026-10-13T08:23:12Z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0x010100C6CAEDC347B3154C9924F629E21BEB80</vt:lpwstr>
  </property>
</Properties>
</file>